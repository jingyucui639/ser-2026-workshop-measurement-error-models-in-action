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7"/>
  </p:notesMasterIdLst>
  <p:sldIdLst>
    <p:sldId id="652" r:id="rId3"/>
    <p:sldId id="653" r:id="rId4"/>
    <p:sldId id="655" r:id="rId5"/>
    <p:sldId id="648" r:id="rId6"/>
    <p:sldId id="418" r:id="rId7"/>
    <p:sldId id="256" r:id="rId8"/>
    <p:sldId id="346" r:id="rId9"/>
    <p:sldId id="649" r:id="rId10"/>
    <p:sldId id="651" r:id="rId11"/>
    <p:sldId id="645" r:id="rId12"/>
    <p:sldId id="423" r:id="rId13"/>
    <p:sldId id="637" r:id="rId14"/>
    <p:sldId id="638" r:id="rId15"/>
    <p:sldId id="650" r:id="rId16"/>
    <p:sldId id="257" r:id="rId17"/>
    <p:sldId id="258" r:id="rId18"/>
    <p:sldId id="640" r:id="rId19"/>
    <p:sldId id="641" r:id="rId20"/>
    <p:sldId id="639" r:id="rId21"/>
    <p:sldId id="644" r:id="rId22"/>
    <p:sldId id="602" r:id="rId23"/>
    <p:sldId id="324" r:id="rId24"/>
    <p:sldId id="646" r:id="rId25"/>
    <p:sldId id="64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8F6193-681F-F1F6-03A8-65DBBA4C0AEE}" name="Spiegelman, Donna" initials="DS" userId="S::donna.spiegelman@yale.edu::fb7e3339-209c-474a-bdc4-68157e32c0c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0" d="100"/>
          <a:sy n="60" d="100"/>
        </p:scale>
        <p:origin x="250"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7:30.248"/>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0.170"/>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3.5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21:23:09.642"/>
    </inkml:context>
    <inkml:brush xml:id="br0">
      <inkml:brushProperty name="width" value="0.035" units="cm"/>
      <inkml:brushProperty name="height" value="0.035" units="cm"/>
      <inkml:brushProperty name="color" value="#E71224"/>
    </inkml:brush>
  </inkml:definitions>
  <inkml:trace contextRef="#ctx0" brushRef="#br0">3459 854 24575,'-182'12'0,"17"-1"0,52-10 0,-148 6 0,-128 8 0,-1-18 0,-12-24 0,262-3 0,53 9 0,5 3 0,-102-35 0,72 9 0,-18-6 0,92 37 0,-58-11 0,32 13 0,-1 4 0,-102 0 0,121 7 0,-63 3 0,101-2 0,-1 1 0,0 0 0,1 1 0,-1 0 0,1 0 0,0 1 0,0 0 0,0 0 0,1 1 0,-1 0 0,1 0 0,-8 9 0,3-3 0,1 1 0,1 0 0,0 0 0,0 1 0,-13 26 0,15-23 0,1 1 0,0 0 0,1 1 0,1 0 0,1 0 0,-4 36 0,5-3 0,4 65 0,1-92 0,1 0 0,1 0 0,0 0 0,2 0 0,1-1 0,2 0 0,0 0 0,1-1 0,23 39 0,-3-14 0,56 67 0,49 31 0,-105-117 0,58 39 0,-61-47 0,13 8 0,0-1 0,51 24 0,-72-41 0,1-2 0,0 0 0,1-2 0,0 0 0,0-1 0,0-1 0,33 1 0,232-7 0,-109-2 0,-108 4-9,233-5 29,-4-19-139,-168 3-350,170-17 395,-154 34 21,45-3-861,-46-2 642,424-16 964,-564 25-692,265 8 0,-152 6-124,174 10 1446,-289-24-1322,408 19-903,-187 10 707,151 11 211,-92-16-561,0 18-409,-154-22 1122,381 50-1216,-149-22 428,-178-16 934,-95-14 61,153 10 1,126-28 75,-26 0-51,-76 21 75,38 1 362,333-23-39,-242 0-1951,1266 1-3329,-792 0 5098,-818-2 807,0-2 0,61-14 0,-37 5-1395,83-10-272,-35 6-474,337-58 214,-290 33 505,-35 6-89,-128 35 78,21-6-60,-1-2 1,0 0-1,31-16 1,-51 21 61,1 0 1,-1 0-1,0 0 0,0-1 0,0 0 1,0 0-1,-1-1 0,0 1 0,0-1 1,-1 0-1,1 0 0,-1-1 0,-1 1 0,1-1 1,-1 0-1,3-10 0,-2 1 195,-1 1-1,-1-1 1,0 1 0,-1-32-1,-10-66 1281,4 64-1160,-3-100-204,5 54-105,3 91 3,0-1 0,-1 1 0,1-1 0,-1 0 0,0 1 0,0 0 0,0-1 0,-1 1 0,0 0 0,0 0 0,0-1 0,0 1 0,0 1 0,-1-1 0,0 0 0,0 1 0,-6-7 0,-6-1 0,0 0 0,-1 1 0,0 1 0,0 0 0,-21-7 0,-92-25 0,30 10 0,-155-75-121,141 57-394,-229-105-448,-243-98-591,421 195 1554,60 21 0,-36-10 1059,-151-28 0,30 5-718,-3-1-693,-52 16-439,-8 17 175,162 20 518,-7-7 98,-24-12-147,29 4 27,120 27 761,1 1 0,-1 3 0,-65 5 0,44 3-541,1 3 0,-64 19 0,-120 46-317,136-39-241,-94 14 321,-1-16 148,170-26 16,1 1-1,0 1 1,-54 24 0,12-4 495,-317 85-396,316-98-126,-53 14 0,-54 25 0,134-44 0,-88 9 0,40-14 0,-27 1 0,-371 25-109,402-32-70,-191 7-187,219-3 366,-515 23 0,9-26 0,461-3 0,-81-8 304,96 2-63,51 2-201,1-2 0,-52-15-1,55 11-42,-1 2 0,-76-6-1,99 15 4,1 0 0,-1 2 0,1 0 0,-25 6 0,34-5 0,0 0 0,1 0 0,-1 2 0,1-1 0,0 1 0,0 1 0,0 0 0,1 0 0,-12 10 0,-19 27 0,27-28 0,-16 15 0,-65 48 0,-36 33 0,18 5-1365,63-63-5461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21:23:28.05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8:34.637"/>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F1462-AF41-4EA6-B1BE-ABC9A24BDEA4}"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462DD-17F8-4376-B0D8-32B218ABA592}" type="slidenum">
              <a:rPr lang="en-US" smtClean="0"/>
              <a:t>‹#›</a:t>
            </a:fld>
            <a:endParaRPr lang="en-US"/>
          </a:p>
        </p:txBody>
      </p:sp>
    </p:spTree>
    <p:extLst>
      <p:ext uri="{BB962C8B-B14F-4D97-AF65-F5344CB8AC3E}">
        <p14:creationId xmlns:p14="http://schemas.microsoft.com/office/powerpoint/2010/main" val="110511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5</a:t>
            </a:fld>
            <a:endParaRPr lang="en-US"/>
          </a:p>
        </p:txBody>
      </p:sp>
    </p:spTree>
    <p:extLst>
      <p:ext uri="{BB962C8B-B14F-4D97-AF65-F5344CB8AC3E}">
        <p14:creationId xmlns:p14="http://schemas.microsoft.com/office/powerpoint/2010/main" val="241488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7</a:t>
            </a:fld>
            <a:endParaRPr lang="en-US"/>
          </a:p>
        </p:txBody>
      </p:sp>
    </p:spTree>
    <p:extLst>
      <p:ext uri="{BB962C8B-B14F-4D97-AF65-F5344CB8AC3E}">
        <p14:creationId xmlns:p14="http://schemas.microsoft.com/office/powerpoint/2010/main" val="4253052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EAB95-C7D8-C7AF-7899-D81F6EB2B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0B995-049D-60F7-3149-B31F1B677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60D78-75A8-321C-78E9-B67451D25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769464-2B52-E9F1-3463-96CA1D6DD149}"/>
              </a:ext>
            </a:extLst>
          </p:cNvPr>
          <p:cNvSpPr>
            <a:spLocks noGrp="1"/>
          </p:cNvSpPr>
          <p:nvPr>
            <p:ph type="sldNum" sz="quarter" idx="10"/>
          </p:nvPr>
        </p:nvSpPr>
        <p:spPr/>
        <p:txBody>
          <a:bodyPr/>
          <a:lstStyle/>
          <a:p>
            <a:fld id="{9DA979E6-713B-4271-BC29-AFAD243A2AFB}" type="slidenum">
              <a:rPr lang="en-US" smtClean="0"/>
              <a:t>10</a:t>
            </a:fld>
            <a:endParaRPr lang="en-US"/>
          </a:p>
        </p:txBody>
      </p:sp>
    </p:spTree>
    <p:extLst>
      <p:ext uri="{BB962C8B-B14F-4D97-AF65-F5344CB8AC3E}">
        <p14:creationId xmlns:p14="http://schemas.microsoft.com/office/powerpoint/2010/main" val="846223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11</a:t>
            </a:fld>
            <a:endParaRPr lang="en-US"/>
          </a:p>
        </p:txBody>
      </p:sp>
    </p:spTree>
    <p:extLst>
      <p:ext uri="{BB962C8B-B14F-4D97-AF65-F5344CB8AC3E}">
        <p14:creationId xmlns:p14="http://schemas.microsoft.com/office/powerpoint/2010/main" val="2933392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a:t>
            </a:fld>
            <a:endParaRPr lang="en-US"/>
          </a:p>
        </p:txBody>
      </p:sp>
    </p:spTree>
    <p:extLst>
      <p:ext uri="{BB962C8B-B14F-4D97-AF65-F5344CB8AC3E}">
        <p14:creationId xmlns:p14="http://schemas.microsoft.com/office/powerpoint/2010/main" val="1286742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a:t>
            </a:fld>
            <a:endParaRPr lang="en-US"/>
          </a:p>
        </p:txBody>
      </p:sp>
    </p:spTree>
    <p:extLst>
      <p:ext uri="{BB962C8B-B14F-4D97-AF65-F5344CB8AC3E}">
        <p14:creationId xmlns:p14="http://schemas.microsoft.com/office/powerpoint/2010/main" val="1551506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3244382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18</a:t>
            </a:fld>
            <a:endParaRPr lang="en-US"/>
          </a:p>
        </p:txBody>
      </p:sp>
    </p:spTree>
    <p:extLst>
      <p:ext uri="{BB962C8B-B14F-4D97-AF65-F5344CB8AC3E}">
        <p14:creationId xmlns:p14="http://schemas.microsoft.com/office/powerpoint/2010/main" val="4172834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19</a:t>
            </a:fld>
            <a:endParaRPr lang="en-US"/>
          </a:p>
        </p:txBody>
      </p:sp>
    </p:spTree>
    <p:extLst>
      <p:ext uri="{BB962C8B-B14F-4D97-AF65-F5344CB8AC3E}">
        <p14:creationId xmlns:p14="http://schemas.microsoft.com/office/powerpoint/2010/main" val="1866626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20</a:t>
            </a:fld>
            <a:endParaRPr lang="en-US"/>
          </a:p>
        </p:txBody>
      </p:sp>
    </p:spTree>
    <p:extLst>
      <p:ext uri="{BB962C8B-B14F-4D97-AF65-F5344CB8AC3E}">
        <p14:creationId xmlns:p14="http://schemas.microsoft.com/office/powerpoint/2010/main" val="1644112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21</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22</a:t>
            </a:fld>
            <a:endParaRPr lang="en-US"/>
          </a:p>
        </p:txBody>
      </p:sp>
    </p:spTree>
    <p:extLst>
      <p:ext uri="{BB962C8B-B14F-4D97-AF65-F5344CB8AC3E}">
        <p14:creationId xmlns:p14="http://schemas.microsoft.com/office/powerpoint/2010/main" val="316921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6413-0C47-1503-C4AE-BE0313588A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396D6-B115-6D1A-2929-B1CCF9EAB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08C2E-E2DE-BBEC-68CF-A2EB107C1293}"/>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5" name="Footer Placeholder 4">
            <a:extLst>
              <a:ext uri="{FF2B5EF4-FFF2-40B4-BE49-F238E27FC236}">
                <a16:creationId xmlns:a16="http://schemas.microsoft.com/office/drawing/2014/main" id="{09D4E551-4E3E-3941-0CA0-6FB5D6A47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1C16E-CFB6-8B09-A455-7257CD9D8FBB}"/>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90737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7EE2-E0ED-1B85-255E-757BB7D8F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53383-0AD9-2E02-75B6-70EA50041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1CD70-B949-3576-1D80-6BDB767B93A8}"/>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5" name="Footer Placeholder 4">
            <a:extLst>
              <a:ext uri="{FF2B5EF4-FFF2-40B4-BE49-F238E27FC236}">
                <a16:creationId xmlns:a16="http://schemas.microsoft.com/office/drawing/2014/main" id="{F6EC6330-255D-3F1A-2D8C-386AF18FF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1521A-5B26-FFB5-4568-7C1B8EB6E966}"/>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20031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4910-465A-10A8-47B9-DD51AD747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F9C5E-7577-B7E3-F7E5-9E21609B6F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172E6-A2E8-BB62-A780-244F3B739E2F}"/>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5" name="Footer Placeholder 4">
            <a:extLst>
              <a:ext uri="{FF2B5EF4-FFF2-40B4-BE49-F238E27FC236}">
                <a16:creationId xmlns:a16="http://schemas.microsoft.com/office/drawing/2014/main" id="{5C13D343-BC84-4391-0CAF-11C6BC708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D630F-24DA-273E-01B1-46B5B1EFF0B3}"/>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6422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7D9C-87D7-DFAB-8065-B417CDCED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2B88E-C3FC-ECC3-C24A-0C57BE05A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5F70CF-6EF7-55B1-C1E7-622385910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8671CD-7454-C87F-2A45-5BABA4C0CFAB}"/>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6" name="Footer Placeholder 5">
            <a:extLst>
              <a:ext uri="{FF2B5EF4-FFF2-40B4-BE49-F238E27FC236}">
                <a16:creationId xmlns:a16="http://schemas.microsoft.com/office/drawing/2014/main" id="{F068E635-EBB3-0B49-8547-779D829C6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48D8F-42E8-594C-86C0-CB661724673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034946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57FB-854B-86A7-5EE4-97A289F753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D02820-86A4-3877-8015-EAABA9EF04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F7D7FD-57B9-22B6-085D-DE2316E0DB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EE9D6B-E9AD-E076-EC07-1A449A2D13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2A1A54-D64B-4F56-3010-E3446D22B2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56F34-47C6-41CD-C8F4-9DA2015BD74B}"/>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8" name="Footer Placeholder 7">
            <a:extLst>
              <a:ext uri="{FF2B5EF4-FFF2-40B4-BE49-F238E27FC236}">
                <a16:creationId xmlns:a16="http://schemas.microsoft.com/office/drawing/2014/main" id="{52F64D3A-E1B6-1BA0-7AAE-AADABB321A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78CF46-915F-270E-3143-1961DA4EDA67}"/>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542624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F0FA-8F51-8C5A-1A56-C0256D18CA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22EF63-E0D9-55E1-C060-8EE6C13BF28E}"/>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4" name="Footer Placeholder 3">
            <a:extLst>
              <a:ext uri="{FF2B5EF4-FFF2-40B4-BE49-F238E27FC236}">
                <a16:creationId xmlns:a16="http://schemas.microsoft.com/office/drawing/2014/main" id="{2FCAF38F-5BF3-2443-ECF5-15D97872B0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9C899A-B01A-F4C9-BF5D-68C40315A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45230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4D2E9-D3B8-774D-A371-860744DCB093}"/>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3" name="Footer Placeholder 2">
            <a:extLst>
              <a:ext uri="{FF2B5EF4-FFF2-40B4-BE49-F238E27FC236}">
                <a16:creationId xmlns:a16="http://schemas.microsoft.com/office/drawing/2014/main" id="{14C8A87B-085A-C3A7-6379-64DD704303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BF810-C63B-9811-1372-2AE1463D795A}"/>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9129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CC4-EDE4-FFD8-9A43-F1EC94A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75D8EA-B9E8-0586-1068-B4EEB51AD2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10866F-B43B-EB0B-B398-B37C36FBD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D1F54-5AD4-B3CC-2D7E-F82294BB2295}"/>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6" name="Footer Placeholder 5">
            <a:extLst>
              <a:ext uri="{FF2B5EF4-FFF2-40B4-BE49-F238E27FC236}">
                <a16:creationId xmlns:a16="http://schemas.microsoft.com/office/drawing/2014/main" id="{DE632BCA-D6B5-5018-D1B3-DA12B5B32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08C34-7145-3059-74FB-F705F333411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95028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AA8D9-49F0-2048-5092-CAF4DE3EDD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5DD17-F885-6CD7-76CE-03C76B76B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9AA667-717C-F307-FE72-1F0CEA082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12CC3-F98B-CECB-AF27-592580AE88BC}"/>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6" name="Footer Placeholder 5">
            <a:extLst>
              <a:ext uri="{FF2B5EF4-FFF2-40B4-BE49-F238E27FC236}">
                <a16:creationId xmlns:a16="http://schemas.microsoft.com/office/drawing/2014/main" id="{56A2845E-61AC-E8C2-8378-B25A0419F7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6D6FBB-770F-6F3E-72D2-673D6DCD9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338881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863E-FCC8-8DC4-61FA-610C89D9BF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A07F1F-0FC6-333C-1281-C12E1B5D7F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A0481-1B43-C051-4E95-D26E5D8C9549}"/>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5" name="Footer Placeholder 4">
            <a:extLst>
              <a:ext uri="{FF2B5EF4-FFF2-40B4-BE49-F238E27FC236}">
                <a16:creationId xmlns:a16="http://schemas.microsoft.com/office/drawing/2014/main" id="{5B7E7FF9-6557-B462-0491-A112068AA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98E88-E8E0-E7B1-4860-13EC4B4DDAB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7088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F787E-E737-D0B0-CC3B-E11AA0D93E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F08519-521C-148A-E2B4-98C5A42A3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23C0A-39B6-2823-3066-96552E994A35}"/>
              </a:ext>
            </a:extLst>
          </p:cNvPr>
          <p:cNvSpPr>
            <a:spLocks noGrp="1"/>
          </p:cNvSpPr>
          <p:nvPr>
            <p:ph type="dt" sz="half" idx="10"/>
          </p:nvPr>
        </p:nvSpPr>
        <p:spPr/>
        <p:txBody>
          <a:bodyPr/>
          <a:lstStyle/>
          <a:p>
            <a:fld id="{4135E4B0-EC3C-4629-A031-8E995D00366F}" type="datetimeFigureOut">
              <a:rPr lang="en-US" smtClean="0"/>
              <a:t>6/23/2026</a:t>
            </a:fld>
            <a:endParaRPr lang="en-US"/>
          </a:p>
        </p:txBody>
      </p:sp>
      <p:sp>
        <p:nvSpPr>
          <p:cNvPr id="5" name="Footer Placeholder 4">
            <a:extLst>
              <a:ext uri="{FF2B5EF4-FFF2-40B4-BE49-F238E27FC236}">
                <a16:creationId xmlns:a16="http://schemas.microsoft.com/office/drawing/2014/main" id="{7FDAAA3C-11A4-59BD-6522-6CD48F0B8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56630-4266-A1E5-4FA2-96A8A1FF1F9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27292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031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19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6109F7-A6D7-D551-A1EE-40AE81AC7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E02A83-46D5-6B19-7110-D6FCBC4EA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96437-29D7-A313-4BB9-FEF1C7A8A5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E4B0-EC3C-4629-A031-8E995D00366F}" type="datetimeFigureOut">
              <a:rPr lang="en-US" smtClean="0"/>
              <a:t>6/23/2026</a:t>
            </a:fld>
            <a:endParaRPr lang="en-US"/>
          </a:p>
        </p:txBody>
      </p:sp>
      <p:sp>
        <p:nvSpPr>
          <p:cNvPr id="5" name="Footer Placeholder 4">
            <a:extLst>
              <a:ext uri="{FF2B5EF4-FFF2-40B4-BE49-F238E27FC236}">
                <a16:creationId xmlns:a16="http://schemas.microsoft.com/office/drawing/2014/main" id="{C28E804F-DC5E-1E21-7BB4-DED4A67687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860836-1F33-800C-8204-DB4B52666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9A644-045D-4594-AEE4-ECCA02A8CEDB}" type="slidenum">
              <a:rPr lang="en-US" smtClean="0"/>
              <a:t>‹#›</a:t>
            </a:fld>
            <a:endParaRPr lang="en-US"/>
          </a:p>
        </p:txBody>
      </p:sp>
    </p:spTree>
    <p:extLst>
      <p:ext uri="{BB962C8B-B14F-4D97-AF65-F5344CB8AC3E}">
        <p14:creationId xmlns:p14="http://schemas.microsoft.com/office/powerpoint/2010/main" val="3672070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126636"/>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46.png"/><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40.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customXml" Target="../ink/ink3.xml"/><Relationship Id="rId10" Type="http://schemas.openxmlformats.org/officeDocument/2006/relationships/image" Target="../media/image170.png"/><Relationship Id="rId4" Type="http://schemas.openxmlformats.org/officeDocument/2006/relationships/customXml" Target="../ink/ink2.xml"/><Relationship Id="rId9" Type="http://schemas.openxmlformats.org/officeDocument/2006/relationships/customXml" Target="../ink/ink5.xml"/></Relationships>
</file>

<file path=ppt/slides/_rels/slide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ustomXml" Target="../ink/ink6.xml"/><Relationship Id="rId1" Type="http://schemas.openxmlformats.org/officeDocument/2006/relationships/slideLayout" Target="../slideLayouts/slideLayout7.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5" name="Text 3"/>
          <p:cNvSpPr/>
          <p:nvPr/>
        </p:nvSpPr>
        <p:spPr>
          <a:xfrm>
            <a:off x="424279" y="1089728"/>
            <a:ext cx="9147658" cy="101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Measurement Error Models in Action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24279" y="1943871"/>
            <a:ext cx="8686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The Latest Methods and Their Applications in Nutrition and Environmental Health</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32840" y="2931813"/>
            <a:ext cx="6697066" cy="914400"/>
          </a:xfrm>
          <a:prstGeom prst="roundRect">
            <a:avLst>
              <a:gd name="adj" fmla="val 8000"/>
            </a:avLst>
          </a:prstGeom>
          <a:solidFill>
            <a:srgbClr val="FFFFFF">
              <a:alpha val="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33602" y="3160413"/>
            <a:ext cx="457200" cy="457200"/>
          </a:xfrm>
          <a:prstGeom prst="rect">
            <a:avLst/>
          </a:prstGeom>
        </p:spPr>
      </p:pic>
      <p:sp>
        <p:nvSpPr>
          <p:cNvPr id="9" name="Text 6"/>
          <p:cNvSpPr/>
          <p:nvPr/>
        </p:nvSpPr>
        <p:spPr>
          <a:xfrm>
            <a:off x="1653232" y="2954394"/>
            <a:ext cx="5533949"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Presenters:  </a:t>
            </a: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Donna Spiegelman   •   Molin Wang   •   Jingyu Cui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EE050CA-626C-860E-93CA-A54BC65A971C}"/>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8793726" y="6430844"/>
            <a:ext cx="3208020" cy="201958"/>
          </a:xfrm>
          <a:prstGeom prst="rect">
            <a:avLst/>
          </a:prstGeom>
        </p:spPr>
      </p:pic>
      <p:pic>
        <p:nvPicPr>
          <p:cNvPr id="17" name="Picture 16">
            <a:extLst>
              <a:ext uri="{FF2B5EF4-FFF2-40B4-BE49-F238E27FC236}">
                <a16:creationId xmlns:a16="http://schemas.microsoft.com/office/drawing/2014/main" id="{BBADD98E-B481-7933-94AA-CCB3D1F1172A}"/>
              </a:ext>
            </a:extLst>
          </p:cNvPr>
          <p:cNvPicPr>
            <a:picLocks noChangeAspect="1"/>
          </p:cNvPicPr>
          <p:nvPr/>
        </p:nvPicPr>
        <p:blipFill>
          <a:blip r:embed="rId5"/>
          <a:stretch>
            <a:fillRect/>
          </a:stretch>
        </p:blipFill>
        <p:spPr>
          <a:xfrm>
            <a:off x="424279" y="4279632"/>
            <a:ext cx="5828955" cy="2353170"/>
          </a:xfrm>
          <a:prstGeom prst="rect">
            <a:avLst/>
          </a:prstGeom>
        </p:spPr>
      </p:pic>
      <p:pic>
        <p:nvPicPr>
          <p:cNvPr id="21" name="Picture 20">
            <a:extLst>
              <a:ext uri="{FF2B5EF4-FFF2-40B4-BE49-F238E27FC236}">
                <a16:creationId xmlns:a16="http://schemas.microsoft.com/office/drawing/2014/main" id="{2A14F934-D9CE-6D77-7641-55413798ECC7}"/>
              </a:ext>
            </a:extLst>
          </p:cNvPr>
          <p:cNvPicPr>
            <a:picLocks noChangeAspect="1"/>
          </p:cNvPicPr>
          <p:nvPr/>
        </p:nvPicPr>
        <p:blipFill>
          <a:blip r:embed="rId6"/>
          <a:stretch>
            <a:fillRect/>
          </a:stretch>
        </p:blipFill>
        <p:spPr>
          <a:xfrm>
            <a:off x="424279" y="447256"/>
            <a:ext cx="10529591" cy="568930"/>
          </a:xfrm>
          <a:prstGeom prst="rect">
            <a:avLst/>
          </a:prstGeom>
        </p:spPr>
      </p:pic>
      <p:pic>
        <p:nvPicPr>
          <p:cNvPr id="25" name="Picture 24">
            <a:extLst>
              <a:ext uri="{FF2B5EF4-FFF2-40B4-BE49-F238E27FC236}">
                <a16:creationId xmlns:a16="http://schemas.microsoft.com/office/drawing/2014/main" id="{24945DDD-2181-64F2-364A-B567E10C193A}"/>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4700"/>
                    </a14:imgEffect>
                  </a14:imgLayer>
                </a14:imgProps>
              </a:ext>
            </a:extLst>
          </a:blip>
          <a:stretch>
            <a:fillRect/>
          </a:stretch>
        </p:blipFill>
        <p:spPr>
          <a:xfrm>
            <a:off x="7776859" y="3617613"/>
            <a:ext cx="3909697" cy="166579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Workshop Overview</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143000"/>
            <a:ext cx="6400800" cy="146304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A3A3A"/>
                </a:solidFill>
                <a:effectLst/>
                <a:uLnTx/>
                <a:uFillTx/>
                <a:latin typeface="Calibri" pitchFamily="34" charset="0"/>
                <a:ea typeface="Calibri" pitchFamily="34" charset="-122"/>
                <a:cs typeface="Calibri" pitchFamily="34" charset="-120"/>
              </a:rPr>
              <a:t>Exposure measurement error is a pervasive challenge in epidemiologic and public health research. Ignoring it biases exposure–outcome associations — usually attenuating effects toward the null and increasing the risk of false negatives.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360920" y="1143000"/>
            <a:ext cx="4160520" cy="2331720"/>
          </a:xfrm>
          <a:prstGeom prst="roundRect">
            <a:avLst>
              <a:gd name="adj" fmla="val 3137"/>
            </a:avLst>
          </a:prstGeom>
          <a:solidFill>
            <a:srgbClr val="F0F7FA"/>
          </a:solidFill>
          <a:ln/>
          <a:effectLst>
            <a:outerShdw blurRad="76200" dist="254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7680960" y="1417320"/>
            <a:ext cx="502920" cy="502920"/>
          </a:xfrm>
          <a:prstGeom prst="rect">
            <a:avLst/>
          </a:prstGeom>
        </p:spPr>
      </p:pic>
      <p:sp>
        <p:nvSpPr>
          <p:cNvPr id="6" name="Text 3"/>
          <p:cNvSpPr/>
          <p:nvPr/>
        </p:nvSpPr>
        <p:spPr>
          <a:xfrm>
            <a:off x="8321040" y="1371600"/>
            <a:ext cx="30632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Effect of Uncorrected Measurement Error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680960" y="2148840"/>
            <a:ext cx="3657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Bias toward the null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680960" y="2606040"/>
            <a:ext cx="3566160" cy="77724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Inflated false-negative rates and underestimated associations between exposures and health outcomes</a:t>
            </a: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640080" y="370332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What You'll Learn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40080"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868680"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978408" y="4544568"/>
            <a:ext cx="283464" cy="283464"/>
          </a:xfrm>
          <a:prstGeom prst="rect">
            <a:avLst/>
          </a:prstGeom>
        </p:spPr>
      </p:pic>
      <p:sp>
        <p:nvSpPr>
          <p:cNvPr id="13" name="Text 9"/>
          <p:cNvSpPr/>
          <p:nvPr/>
        </p:nvSpPr>
        <p:spPr>
          <a:xfrm>
            <a:off x="868680"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Conceptual Foundations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68680" y="551602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How exposure measurement error distorts estimation and inference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4462272"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4690872"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4800600" y="4544568"/>
            <a:ext cx="283464" cy="283464"/>
          </a:xfrm>
          <a:prstGeom prst="rect">
            <a:avLst/>
          </a:prstGeom>
        </p:spPr>
      </p:pic>
      <p:sp>
        <p:nvSpPr>
          <p:cNvPr id="18" name="Text 13"/>
          <p:cNvSpPr/>
          <p:nvPr/>
        </p:nvSpPr>
        <p:spPr>
          <a:xfrm>
            <a:off x="4690872"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Bias-Correction Methods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4690872" y="534924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Regression calibration and its extensions to survival analysis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5"/>
          <p:cNvSpPr/>
          <p:nvPr/>
        </p:nvSpPr>
        <p:spPr>
          <a:xfrm>
            <a:off x="8284464"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8513064"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3" descr="preencoded.png"/>
          <p:cNvPicPr>
            <a:picLocks noChangeAspect="1"/>
          </p:cNvPicPr>
          <p:nvPr/>
        </p:nvPicPr>
        <p:blipFill>
          <a:blip r:embed="rId6"/>
          <a:stretch>
            <a:fillRect/>
          </a:stretch>
        </p:blipFill>
        <p:spPr>
          <a:xfrm>
            <a:off x="8622792" y="4544568"/>
            <a:ext cx="283464" cy="283464"/>
          </a:xfrm>
          <a:prstGeom prst="rect">
            <a:avLst/>
          </a:prstGeom>
        </p:spPr>
      </p:pic>
      <p:sp>
        <p:nvSpPr>
          <p:cNvPr id="23" name="Text 17"/>
          <p:cNvSpPr/>
          <p:nvPr/>
        </p:nvSpPr>
        <p:spPr>
          <a:xfrm>
            <a:off x="8513064"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Hands-On R Practice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p:nvPr/>
        </p:nvSpPr>
        <p:spPr>
          <a:xfrm>
            <a:off x="8415528" y="5550798"/>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Apply methods to published nutrition and air pollution examples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Picture 24">
            <a:extLst>
              <a:ext uri="{FF2B5EF4-FFF2-40B4-BE49-F238E27FC236}">
                <a16:creationId xmlns:a16="http://schemas.microsoft.com/office/drawing/2014/main" id="{C59A0146-C15A-825D-3D80-0B1840322B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5486400" cy="90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Agenda</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265760"/>
            <a:ext cx="5486400" cy="52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June 23rd, 2026  •  1:00 PM – 5:00 PM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885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77240" y="1949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859536" y="2032064"/>
            <a:ext cx="201168" cy="201168"/>
          </a:xfrm>
          <a:prstGeom prst="rect">
            <a:avLst/>
          </a:prstGeom>
        </p:spPr>
      </p:pic>
      <p:sp>
        <p:nvSpPr>
          <p:cNvPr id="7" name="Text 4"/>
          <p:cNvSpPr/>
          <p:nvPr/>
        </p:nvSpPr>
        <p:spPr>
          <a:xfrm>
            <a:off x="1325880" y="1885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1:00–1:30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2834640" y="1885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Impact of Measurement Error &amp; Overview of Correction Methods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9326880" y="1885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40080" y="2618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777240" y="2682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859536" y="2765064"/>
            <a:ext cx="201168" cy="201168"/>
          </a:xfrm>
          <a:prstGeom prst="rect">
            <a:avLst/>
          </a:prstGeom>
        </p:spPr>
      </p:pic>
      <p:sp>
        <p:nvSpPr>
          <p:cNvPr id="13" name="Text 9"/>
          <p:cNvSpPr/>
          <p:nvPr/>
        </p:nvSpPr>
        <p:spPr>
          <a:xfrm>
            <a:off x="1325880" y="2618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1:30–2:00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2834640" y="2618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Main Study/Validation &amp; Main Study/Reliability Study Designs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9326880" y="2618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40080" y="3351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77240" y="3415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59536" y="3498064"/>
            <a:ext cx="201168" cy="201168"/>
          </a:xfrm>
          <a:prstGeom prst="rect">
            <a:avLst/>
          </a:prstGeom>
        </p:spPr>
      </p:pic>
      <p:sp>
        <p:nvSpPr>
          <p:cNvPr id="19" name="Text 14"/>
          <p:cNvSpPr/>
          <p:nvPr/>
        </p:nvSpPr>
        <p:spPr>
          <a:xfrm>
            <a:off x="1325880" y="3351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2:00–3:00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2834640" y="3351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Regression Calibration Methods for Adjusting Measurement Error Bias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9326880" y="3351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Molin Wang</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640080" y="4084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777240" y="4148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3" descr="preencoded.png"/>
          <p:cNvPicPr>
            <a:picLocks noChangeAspect="1"/>
          </p:cNvPicPr>
          <p:nvPr/>
        </p:nvPicPr>
        <p:blipFill>
          <a:blip r:embed="rId6"/>
          <a:stretch>
            <a:fillRect/>
          </a:stretch>
        </p:blipFill>
        <p:spPr>
          <a:xfrm>
            <a:off x="859536" y="4231064"/>
            <a:ext cx="201168" cy="201168"/>
          </a:xfrm>
          <a:prstGeom prst="rect">
            <a:avLst/>
          </a:prstGeom>
        </p:spPr>
      </p:pic>
      <p:sp>
        <p:nvSpPr>
          <p:cNvPr id="25" name="Text 19"/>
          <p:cNvSpPr/>
          <p:nvPr/>
        </p:nvSpPr>
        <p:spPr>
          <a:xfrm>
            <a:off x="1325880" y="4084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3:1</a:t>
            </a:r>
            <a:r>
              <a:rPr lang="en-US" sz="1900" b="1" dirty="0">
                <a:solidFill>
                  <a:srgbClr val="1C7293"/>
                </a:solidFill>
                <a:latin typeface="Calibri" pitchFamily="34" charset="0"/>
                <a:ea typeface="Calibri" pitchFamily="34" charset="-122"/>
                <a:cs typeface="Calibri" pitchFamily="34" charset="-120"/>
              </a:rPr>
              <a:t>0</a:t>
            </a: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0"/>
          <p:cNvSpPr/>
          <p:nvPr/>
        </p:nvSpPr>
        <p:spPr>
          <a:xfrm>
            <a:off x="2834640" y="4084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Hands-On Lab: R Examples in Epidemiology</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9326880" y="4084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Jingyu Cui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2"/>
          <p:cNvSpPr/>
          <p:nvPr/>
        </p:nvSpPr>
        <p:spPr>
          <a:xfrm>
            <a:off x="762000" y="4799472"/>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3"/>
          <p:cNvSpPr/>
          <p:nvPr/>
        </p:nvSpPr>
        <p:spPr>
          <a:xfrm>
            <a:off x="777240" y="4881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4" descr="preencoded.png"/>
          <p:cNvPicPr>
            <a:picLocks noChangeAspect="1"/>
          </p:cNvPicPr>
          <p:nvPr/>
        </p:nvPicPr>
        <p:blipFill>
          <a:blip r:embed="rId7"/>
          <a:stretch>
            <a:fillRect/>
          </a:stretch>
        </p:blipFill>
        <p:spPr>
          <a:xfrm>
            <a:off x="859536" y="4964064"/>
            <a:ext cx="201168" cy="201168"/>
          </a:xfrm>
          <a:prstGeom prst="rect">
            <a:avLst/>
          </a:prstGeom>
        </p:spPr>
      </p:pic>
      <p:sp>
        <p:nvSpPr>
          <p:cNvPr id="31" name="Text 24"/>
          <p:cNvSpPr/>
          <p:nvPr/>
        </p:nvSpPr>
        <p:spPr>
          <a:xfrm>
            <a:off x="1325880" y="4817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4:00–4:30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5"/>
          <p:cNvSpPr/>
          <p:nvPr/>
        </p:nvSpPr>
        <p:spPr>
          <a:xfrm>
            <a:off x="2834640" y="4817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 Causal Variable Selection in Measurement Error Models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9326880" y="4817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Molin Wang</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640080" y="5550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28"/>
          <p:cNvSpPr/>
          <p:nvPr/>
        </p:nvSpPr>
        <p:spPr>
          <a:xfrm>
            <a:off x="777240" y="5614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Image 5" descr="preencoded.png"/>
          <p:cNvPicPr>
            <a:picLocks noChangeAspect="1"/>
          </p:cNvPicPr>
          <p:nvPr/>
        </p:nvPicPr>
        <p:blipFill>
          <a:blip r:embed="rId8"/>
          <a:stretch>
            <a:fillRect/>
          </a:stretch>
        </p:blipFill>
        <p:spPr>
          <a:xfrm>
            <a:off x="859536" y="5697064"/>
            <a:ext cx="201168" cy="201168"/>
          </a:xfrm>
          <a:prstGeom prst="rect">
            <a:avLst/>
          </a:prstGeom>
        </p:spPr>
      </p:pic>
      <p:sp>
        <p:nvSpPr>
          <p:cNvPr id="37" name="Text 29"/>
          <p:cNvSpPr/>
          <p:nvPr/>
        </p:nvSpPr>
        <p:spPr>
          <a:xfrm>
            <a:off x="1325880" y="5550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4:30–5:00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0"/>
          <p:cNvSpPr/>
          <p:nvPr/>
        </p:nvSpPr>
        <p:spPr>
          <a:xfrm>
            <a:off x="2834640" y="5550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Case Study</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1"/>
          <p:cNvSpPr/>
          <p:nvPr/>
        </p:nvSpPr>
        <p:spPr>
          <a:xfrm>
            <a:off x="9326880" y="5550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 name="Picture 39">
            <a:extLst>
              <a:ext uri="{FF2B5EF4-FFF2-40B4-BE49-F238E27FC236}">
                <a16:creationId xmlns:a16="http://schemas.microsoft.com/office/drawing/2014/main" id="{B222F2D5-002C-03B4-3422-B806BDE563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0779" y="6492240"/>
            <a:ext cx="3208020" cy="2019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1D58F-B854-B39C-45A5-1018116EDE21}"/>
              </a:ext>
            </a:extLst>
          </p:cNvPr>
          <p:cNvSpPr>
            <a:spLocks noGrp="1"/>
          </p:cNvSpPr>
          <p:nvPr>
            <p:ph type="title"/>
          </p:nvPr>
        </p:nvSpPr>
        <p:spPr/>
        <p:txBody>
          <a:bodyPr/>
          <a:lstStyle/>
          <a:p>
            <a:r>
              <a:rPr lang="en-US" dirty="0"/>
              <a:t>Impact of Measurement Error and Overview of Correction Methods </a:t>
            </a:r>
          </a:p>
        </p:txBody>
      </p:sp>
    </p:spTree>
    <p:extLst>
      <p:ext uri="{BB962C8B-B14F-4D97-AF65-F5344CB8AC3E}">
        <p14:creationId xmlns:p14="http://schemas.microsoft.com/office/powerpoint/2010/main" val="1532928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7132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The Boundlessness of Measurement Error</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986802"/>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3600" dirty="0">
              <a:latin typeface="Times New Roman" panose="02020603050405020304" pitchFamily="18" charset="0"/>
              <a:cs typeface="Times New Roman" panose="02020603050405020304" pitchFamily="18" charset="0"/>
            </a:endParaRPr>
          </a:p>
        </p:txBody>
      </p:sp>
      <p:pic>
        <p:nvPicPr>
          <p:cNvPr id="2" name="Content Placeholder 1">
            <a:extLst>
              <a:ext uri="{FF2B5EF4-FFF2-40B4-BE49-F238E27FC236}">
                <a16:creationId xmlns:a16="http://schemas.microsoft.com/office/drawing/2014/main" id="{B518D9DF-0EB9-E7A1-CD26-FC7E2C164CC2}"/>
              </a:ext>
            </a:extLst>
          </p:cNvPr>
          <p:cNvPicPr>
            <a:picLocks noGrp="1" noChangeAspect="1"/>
          </p:cNvPicPr>
          <p:nvPr>
            <p:ph sz="half" idx="1"/>
          </p:nvPr>
        </p:nvPicPr>
        <p:blipFill>
          <a:blip r:embed="rId4"/>
          <a:stretch>
            <a:fillRect/>
          </a:stretch>
        </p:blipFill>
        <p:spPr>
          <a:xfrm>
            <a:off x="8629359" y="1865823"/>
            <a:ext cx="3379761" cy="2049147"/>
          </a:xfrm>
          <a:prstGeom prst="rect">
            <a:avLst/>
          </a:prstGeom>
        </p:spPr>
      </p:pic>
      <p:pic>
        <p:nvPicPr>
          <p:cNvPr id="3" name="Picture 2">
            <a:extLst>
              <a:ext uri="{FF2B5EF4-FFF2-40B4-BE49-F238E27FC236}">
                <a16:creationId xmlns:a16="http://schemas.microsoft.com/office/drawing/2014/main" id="{2E22D246-80B9-F716-8077-0AAD1C6E79E1}"/>
              </a:ext>
            </a:extLst>
          </p:cNvPr>
          <p:cNvPicPr>
            <a:picLocks noChangeAspect="1"/>
          </p:cNvPicPr>
          <p:nvPr/>
        </p:nvPicPr>
        <p:blipFill>
          <a:blip r:embed="rId5"/>
          <a:stretch>
            <a:fillRect/>
          </a:stretch>
        </p:blipFill>
        <p:spPr>
          <a:xfrm>
            <a:off x="1832707" y="6309797"/>
            <a:ext cx="7696200" cy="181935"/>
          </a:xfrm>
          <a:prstGeom prst="rect">
            <a:avLst/>
          </a:prstGeom>
        </p:spPr>
      </p:pic>
      <p:sp>
        <p:nvSpPr>
          <p:cNvPr id="7" name="TextBox 6">
            <a:extLst>
              <a:ext uri="{FF2B5EF4-FFF2-40B4-BE49-F238E27FC236}">
                <a16:creationId xmlns:a16="http://schemas.microsoft.com/office/drawing/2014/main" id="{37F02C10-CFF2-65A4-3CED-10FF7F169487}"/>
              </a:ext>
            </a:extLst>
          </p:cNvPr>
          <p:cNvSpPr txBox="1"/>
          <p:nvPr/>
        </p:nvSpPr>
        <p:spPr>
          <a:xfrm>
            <a:off x="0" y="713232"/>
            <a:ext cx="8515059" cy="6888039"/>
          </a:xfrm>
          <a:prstGeom prst="rect">
            <a:avLst/>
          </a:prstGeom>
          <a:noFill/>
        </p:spPr>
        <p:txBody>
          <a:bodyPr wrap="square">
            <a:spAutoFit/>
          </a:bodyPr>
          <a:lstStyle/>
          <a:p>
            <a:pPr>
              <a:buFont typeface="Wingdings" panose="05000000000000000000" pitchFamily="2" charset="2"/>
              <a:buChar char="Ø"/>
            </a:pP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Unlike confounding bias, which is more tightly bounded than by  </a:t>
            </a:r>
            <a:r>
              <a:rPr lang="en-US" sz="2400" kern="0" dirty="0" err="1">
                <a:effectLst/>
                <a:latin typeface="Aptos Display" panose="020B0004020202020204" pitchFamily="34" charset="0"/>
                <a:ea typeface="Times New Roman" panose="02020603050405020304" pitchFamily="18" charset="0"/>
                <a:cs typeface="Arial" panose="020B0604020202020204" pitchFamily="34" charset="0"/>
              </a:rPr>
              <a:t>Vanderweele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 and Ding’s (2017) </a:t>
            </a:r>
            <a:r>
              <a:rPr lang="en-US" sz="2400" kern="0" dirty="0">
                <a:latin typeface="Aptos Display" panose="020B0004020202020204" pitchFamily="34" charset="0"/>
                <a:ea typeface="Times New Roman" panose="02020603050405020304" pitchFamily="18" charset="0"/>
                <a:cs typeface="Arial" panose="020B0604020202020204" pitchFamily="34" charset="0"/>
              </a:rPr>
              <a:t>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value,</a:t>
            </a:r>
          </a:p>
          <a:p>
            <a:pPr>
              <a:buFont typeface="Wingdings" panose="05000000000000000000" pitchFamily="2" charset="2"/>
              <a:buChar char="Ø"/>
            </a:pPr>
            <a:endParaRPr lang="en-US" dirty="0"/>
          </a:p>
          <a:p>
            <a:r>
              <a:rPr lang="en-US" sz="2400" b="1" dirty="0"/>
              <a:t>bias due to measurement error has no bounds, </a:t>
            </a:r>
          </a:p>
          <a:p>
            <a:endParaRPr lang="en-US" sz="2400" dirty="0"/>
          </a:p>
          <a:p>
            <a:pPr marL="342900" indent="-342900">
              <a:buFont typeface="Arial" panose="020B0604020202020204" pitchFamily="34" charset="0"/>
              <a:buChar char="•"/>
            </a:pPr>
            <a:r>
              <a:rPr lang="en-US" sz="2400" dirty="0"/>
              <a:t>robust methods and software are available to correct for this bias in exposures of interest and potential confounders, empirically eliminating the residual confounding issues</a:t>
            </a:r>
          </a:p>
          <a:p>
            <a:pPr>
              <a:buFont typeface="Wingdings" panose="05000000000000000000" pitchFamily="2" charset="2"/>
              <a:buChar char="Ø"/>
            </a:pPr>
            <a:endParaRPr lang="en-US" sz="2400" dirty="0"/>
          </a:p>
          <a:p>
            <a:pPr marL="342900" indent="-342900">
              <a:buFont typeface="Arial" panose="020B0604020202020204" pitchFamily="34" charset="0"/>
              <a:buChar char="•"/>
            </a:pPr>
            <a:r>
              <a:rPr lang="en-US" sz="2400" dirty="0"/>
              <a:t>High quality validation and reliability data are available across a range of chronic disease risk factors, permitting empirical adjustment to eliminate this source of bias.</a:t>
            </a:r>
          </a:p>
          <a:p>
            <a:pPr marL="342900" indent="-342900">
              <a:buFont typeface="Arial" panose="020B0604020202020204" pitchFamily="34" charset="0"/>
              <a:buChar char="•"/>
            </a:pPr>
            <a:r>
              <a:rPr lang="en-US" sz="2400" dirty="0"/>
              <a:t> </a:t>
            </a:r>
            <a:r>
              <a:rPr lang="en-US" sz="2400" b="1" dirty="0"/>
              <a:t>This is the focus of this course: </a:t>
            </a:r>
            <a:r>
              <a:rPr lang="en-US" sz="2400" b="1" dirty="0">
                <a:solidFill>
                  <a:schemeClr val="accent6"/>
                </a:solidFill>
              </a:rPr>
              <a:t>design</a:t>
            </a:r>
            <a:r>
              <a:rPr lang="en-US" sz="2400" b="1" dirty="0"/>
              <a:t> of validation and reliability studies,  to then correct </a:t>
            </a:r>
            <a:r>
              <a:rPr lang="en-US" sz="2400" b="1" dirty="0">
                <a:solidFill>
                  <a:schemeClr val="accent6"/>
                </a:solidFill>
              </a:rPr>
              <a:t>analyses</a:t>
            </a:r>
            <a:r>
              <a:rPr lang="en-US" sz="2400" b="1" dirty="0"/>
              <a:t> for measurement error bias.</a:t>
            </a:r>
          </a:p>
          <a:p>
            <a:r>
              <a:rPr lang="en-US" sz="1050" dirty="0"/>
              <a:t>VanderWeele, Tyler J., and Peng Ding. 2017. “Sensitivity Analysis in Observational Research: Introducing the E-Value.” Annals of Internal Medicine (July 11). doi:10.7326/m16-2607.</a:t>
            </a:r>
          </a:p>
          <a:p>
            <a:pPr lvl="1"/>
            <a:endParaRPr lang="en-US" sz="2400" dirty="0"/>
          </a:p>
          <a:p>
            <a:pPr marL="0" marR="0">
              <a:lnSpc>
                <a:spcPct val="107000"/>
              </a:lnSpc>
              <a:spcBef>
                <a:spcPts val="0"/>
              </a:spcBef>
              <a:spcAft>
                <a:spcPts val="0"/>
              </a:spcAft>
            </a:pPr>
            <a:endParaRPr lang="en-US" sz="3000" kern="100" dirty="0">
              <a:effectLst/>
              <a:latin typeface="Arial" panose="020B0604020202020204" pitchFamily="34" charset="0"/>
              <a:ea typeface="Calibri" panose="020F0502020204030204" pitchFamily="34" charset="0"/>
              <a:cs typeface="Arial" panose="020B0604020202020204" pitchFamily="34" charset="0"/>
            </a:endParaRPr>
          </a:p>
          <a:p>
            <a:pPr marL="0" marR="0">
              <a:spcBef>
                <a:spcPts val="0"/>
              </a:spcBef>
              <a:spcAft>
                <a:spcPts val="800"/>
              </a:spcAft>
            </a:pPr>
            <a:r>
              <a:rPr lang="en-US" sz="105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2B3BE7-D164-B9A6-D7D7-956B3E79A446}"/>
              </a:ext>
            </a:extLst>
          </p:cNvPr>
          <p:cNvSpPr>
            <a:spLocks noGrp="1"/>
          </p:cNvSpPr>
          <p:nvPr>
            <p:ph type="sldNum" sz="quarter" idx="12"/>
          </p:nvPr>
        </p:nvSpPr>
        <p:spPr/>
        <p:txBody>
          <a:bodyPr/>
          <a:lstStyle/>
          <a:p>
            <a:fld id="{77C6A7FE-225D-49F1-B302-AA37EA92BB49}" type="slidenum">
              <a:rPr lang="en-US" smtClean="0"/>
              <a:t>5</a:t>
            </a:fld>
            <a:endParaRPr lang="en-US" dirty="0"/>
          </a:p>
        </p:txBody>
      </p:sp>
    </p:spTree>
    <p:extLst>
      <p:ext uri="{BB962C8B-B14F-4D97-AF65-F5344CB8AC3E}">
        <p14:creationId xmlns:p14="http://schemas.microsoft.com/office/powerpoint/2010/main" val="34692471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4080" y="320041"/>
            <a:ext cx="7007046" cy="646331"/>
          </a:xfrm>
          <a:prstGeom prst="rect">
            <a:avLst/>
          </a:prstGeom>
          <a:noFill/>
        </p:spPr>
        <p:txBody>
          <a:bodyPr wrap="none">
            <a:spAutoFit/>
          </a:bodyPr>
          <a:lstStyle/>
          <a:p>
            <a:pPr>
              <a:defRPr sz="3600">
                <a:latin typeface="Times New Roman"/>
              </a:defRPr>
            </a:pPr>
            <a:r>
              <a:rPr sz="3600" dirty="0"/>
              <a:t>Bias in Point Estimate of Odds Ratio</a:t>
            </a:r>
          </a:p>
        </p:txBody>
      </p:sp>
      <p:sp>
        <p:nvSpPr>
          <p:cNvPr id="3" name="TextBox 2"/>
          <p:cNvSpPr txBox="1"/>
          <p:nvPr/>
        </p:nvSpPr>
        <p:spPr>
          <a:xfrm>
            <a:off x="2164080" y="960121"/>
            <a:ext cx="5094664" cy="461665"/>
          </a:xfrm>
          <a:prstGeom prst="rect">
            <a:avLst/>
          </a:prstGeom>
          <a:noFill/>
        </p:spPr>
        <p:txBody>
          <a:bodyPr wrap="none">
            <a:spAutoFit/>
          </a:bodyPr>
          <a:lstStyle/>
          <a:p>
            <a:r>
              <a:rPr lang="en-US" sz="2400" dirty="0">
                <a:latin typeface="Times New Roman"/>
              </a:rPr>
              <a:t>The case of r</a:t>
            </a:r>
            <a:r>
              <a:rPr sz="2400" dirty="0">
                <a:latin typeface="Times New Roman"/>
              </a:rPr>
              <a:t>andom measurement error</a:t>
            </a:r>
          </a:p>
        </p:txBody>
      </p:sp>
      <mc:AlternateContent xmlns:mc="http://schemas.openxmlformats.org/markup-compatibility/2006">
        <mc:Choice xmlns:a14="http://schemas.microsoft.com/office/drawing/2010/main" Requires="a14">
          <p:sp>
            <p:nvSpPr>
              <p:cNvPr id="4" name="TextBox 3"/>
              <p:cNvSpPr txBox="1"/>
              <p:nvPr/>
            </p:nvSpPr>
            <p:spPr>
              <a:xfrm>
                <a:off x="2392681" y="1572876"/>
                <a:ext cx="7205049" cy="868892"/>
              </a:xfrm>
              <a:prstGeom prst="rect">
                <a:avLst/>
              </a:prstGeom>
              <a:noFill/>
            </p:spPr>
            <p:txBody>
              <a:bodyPr wrap="none">
                <a:spAutoFit/>
              </a:bodyPr>
              <a:lstStyle/>
              <a:p>
                <a:pPr>
                  <a:defRPr sz="2400">
                    <a:latin typeface="Times New Roman"/>
                  </a:defRPr>
                </a:pP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ᵢ = </m:t>
                    </m:r>
                    <m:r>
                      <a:rPr lang="en-US" sz="2400" i="1" dirty="0" smtClean="0">
                        <a:latin typeface="Cambria Math" panose="02040503050406030204" pitchFamily="18" charset="0"/>
                      </a:rPr>
                      <m:t>𝑋</m:t>
                    </m:r>
                    <m:r>
                      <a:rPr lang="en-US" sz="2400" i="1" dirty="0" smtClean="0">
                        <a:latin typeface="Cambria Math" panose="02040503050406030204" pitchFamily="18" charset="0"/>
                      </a:rPr>
                      <m:t>ᵢ + </m:t>
                    </m:r>
                    <m:sSub>
                      <m:sSubPr>
                        <m:ctrlPr>
                          <a:rPr lang="en-US" sz="2400" i="1" dirty="0" smtClean="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b="0" i="1" dirty="0" smtClean="0">
                            <a:latin typeface="Cambria Math" panose="02040503050406030204" pitchFamily="18" charset="0"/>
                          </a:rPr>
                          <m:t>𝑖</m:t>
                        </m:r>
                      </m:sub>
                    </m:sSub>
                  </m:oMath>
                </a14:m>
                <a:r>
                  <a:rPr lang="en-US" sz="2400" dirty="0"/>
                  <a:t>,</a:t>
                </a:r>
                <a14:m>
                  <m:oMath xmlns:m="http://schemas.openxmlformats.org/officeDocument/2006/math">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0</m:t>
                    </m:r>
                    <m:r>
                      <a:rPr lang="en-US" sz="2400" i="1" dirty="0">
                        <a:latin typeface="Cambria Math" panose="02040503050406030204" pitchFamily="18" charset="0"/>
                      </a:rPr>
                      <m:t>, </m:t>
                    </m:r>
                    <m:r>
                      <a:rPr lang="en-US" sz="2400" i="1" dirty="0">
                        <a:latin typeface="Cambria Math" panose="02040503050406030204" pitchFamily="18" charset="0"/>
                      </a:rPr>
                      <m:t>𝜎</m:t>
                    </m:r>
                    <m:r>
                      <a:rPr lang="en-US" sz="2400" i="1" dirty="0">
                        <a:latin typeface="Cambria Math" panose="02040503050406030204" pitchFamily="18" charset="0"/>
                      </a:rPr>
                      <m:t>²</m:t>
                    </m:r>
                    <m:r>
                      <a:rPr lang="en-US" sz="2400" i="1" dirty="0">
                        <a:latin typeface="Cambria Math" panose="02040503050406030204" pitchFamily="18" charset="0"/>
                      </a:rPr>
                      <m:t>) </m:t>
                    </m:r>
                  </m:oMath>
                </a14:m>
                <a:r>
                  <a:rPr lang="en-US" sz="2400" dirty="0"/>
                  <a:t>,        </a:t>
                </a:r>
                <a14:m>
                  <m:oMath xmlns:m="http://schemas.openxmlformats.org/officeDocument/2006/math">
                    <m:r>
                      <a:rPr lang="en-US" sz="2400" i="1" dirty="0">
                        <a:latin typeface="Cambria Math" panose="02040503050406030204" pitchFamily="18" charset="0"/>
                      </a:rPr>
                      <m:t>𝐶𝑜𝑟𝑟</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0</m:t>
                    </m:r>
                  </m:oMath>
                </a14:m>
                <a:endParaRPr lang="en-US" sz="2400" dirty="0"/>
              </a:p>
              <a:p>
                <a:pPr>
                  <a:defRPr sz="2400">
                    <a:latin typeface="Times New Roman"/>
                  </a:defRPr>
                </a:pPr>
                <a14:m>
                  <m:oMath xmlns:m="http://schemas.openxmlformats.org/officeDocument/2006/math">
                    <m:r>
                      <a:rPr lang="en-US" sz="2400" i="1" dirty="0">
                        <a:latin typeface="Cambria Math" panose="02040503050406030204" pitchFamily="18" charset="0"/>
                      </a:rPr>
                      <m:t>                          </m:t>
                    </m:r>
                    <m:r>
                      <a:rPr lang="en-US" sz="2400" b="0" i="1" dirty="0" smtClean="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𝜇</m:t>
                    </m:r>
                    <m:r>
                      <a:rPr lang="en-US" sz="2400" i="1" dirty="0">
                        <a:latin typeface="Cambria Math" panose="02040503050406030204" pitchFamily="18" charset="0"/>
                      </a:rPr>
                      <m:t>ₓ , </m:t>
                    </m:r>
                    <m:r>
                      <a:rPr lang="en-US" sz="2400" i="1" dirty="0">
                        <a:latin typeface="Cambria Math" panose="02040503050406030204" pitchFamily="18" charset="0"/>
                      </a:rPr>
                      <m:t>𝜎</m:t>
                    </m:r>
                    <m:r>
                      <a:rPr lang="en-US" sz="2400" i="1" dirty="0">
                        <a:latin typeface="Cambria Math" panose="02040503050406030204" pitchFamily="18" charset="0"/>
                      </a:rPr>
                      <m:t>ₓ</m:t>
                    </m:r>
                    <m:r>
                      <a:rPr lang="en-US" sz="2400" i="1" dirty="0">
                        <a:latin typeface="Cambria Math" panose="02040503050406030204" pitchFamily="18" charset="0"/>
                      </a:rPr>
                      <m:t>²</m:t>
                    </m:r>
                  </m:oMath>
                </a14:m>
                <a:r>
                  <a:rPr lang="en-US" sz="2400" dirty="0"/>
                  <a:t>) ,   </a:t>
                </a:r>
                <a14:m>
                  <m:oMath xmlns:m="http://schemas.openxmlformats.org/officeDocument/2006/math">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𝜌</m:t>
                        </m:r>
                      </m:e>
                      <m:sub>
                        <m:r>
                          <a:rPr lang="en-US" sz="2400" i="1" dirty="0">
                            <a:latin typeface="Cambria Math" panose="02040503050406030204" pitchFamily="18" charset="0"/>
                          </a:rPr>
                          <m:t>𝐼</m:t>
                        </m:r>
                      </m:sub>
                      <m:sup/>
                    </m:sSubSup>
                    <m:r>
                      <a:rPr lang="en-US" sz="2400" i="1" dirty="0">
                        <a:latin typeface="Cambria Math" panose="02040503050406030204" pitchFamily="18" charset="0"/>
                      </a:rPr>
                      <m:t>= </m:t>
                    </m:r>
                    <m:r>
                      <a:rPr lang="en-US" sz="2400" i="1" dirty="0">
                        <a:latin typeface="Cambria Math" panose="02040503050406030204" pitchFamily="18" charset="0"/>
                      </a:rPr>
                      <m:t>𝐶𝑜𝑟𝑟</m:t>
                    </m:r>
                    <m:r>
                      <a:rPr lang="en-US" sz="2400" i="1" dirty="0">
                        <a:latin typeface="Cambria Math" panose="02040503050406030204" pitchFamily="18" charset="0"/>
                      </a:rPr>
                      <m:t>²</m:t>
                    </m:r>
                    <m:r>
                      <a:rPr lang="en-US" sz="2400" i="1" dirty="0">
                        <a:latin typeface="Cambria Math" panose="02040503050406030204" pitchFamily="18" charset="0"/>
                      </a:rPr>
                      <m:t>(</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𝑍</m:t>
                    </m:r>
                    <m:r>
                      <a:rPr lang="en-US" sz="2400" i="1" dirty="0">
                        <a:latin typeface="Cambria Math" panose="02040503050406030204" pitchFamily="18" charset="0"/>
                      </a:rPr>
                      <m:t>ᵢ)</m:t>
                    </m:r>
                  </m:oMath>
                </a14:m>
                <a:endParaRPr sz="2400" dirty="0"/>
              </a:p>
            </p:txBody>
          </p:sp>
        </mc:Choice>
        <mc:Fallback>
          <p:sp>
            <p:nvSpPr>
              <p:cNvPr id="4" name="TextBox 3"/>
              <p:cNvSpPr txBox="1">
                <a:spLocks noRot="1" noChangeAspect="1" noMove="1" noResize="1" noEditPoints="1" noAdjustHandles="1" noChangeArrowheads="1" noChangeShapeType="1" noTextEdit="1"/>
              </p:cNvSpPr>
              <p:nvPr/>
            </p:nvSpPr>
            <p:spPr>
              <a:xfrm>
                <a:off x="2392681" y="1572876"/>
                <a:ext cx="7205049" cy="868892"/>
              </a:xfrm>
              <a:prstGeom prst="rect">
                <a:avLst/>
              </a:prstGeom>
              <a:blipFill>
                <a:blip r:embed="rId2"/>
                <a:stretch>
                  <a:fillRect l="-508" t="-5594" b="-15385"/>
                </a:stretch>
              </a:blipFill>
            </p:spPr>
            <p:txBody>
              <a:bodyPr/>
              <a:lstStyle/>
              <a:p>
                <a:r>
                  <a:rPr lang="en-US">
                    <a:noFill/>
                  </a:rPr>
                  <a:t> </a:t>
                </a:r>
              </a:p>
            </p:txBody>
          </p:sp>
        </mc:Fallback>
      </mc:AlternateContent>
      <p:sp>
        <p:nvSpPr>
          <p:cNvPr id="5" name="Up Arrow 4"/>
          <p:cNvSpPr/>
          <p:nvPr/>
        </p:nvSpPr>
        <p:spPr>
          <a:xfrm>
            <a:off x="2392681" y="2074993"/>
            <a:ext cx="320040" cy="41148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wn Arrow 5"/>
          <p:cNvSpPr/>
          <p:nvPr/>
        </p:nvSpPr>
        <p:spPr>
          <a:xfrm>
            <a:off x="3245865" y="2147531"/>
            <a:ext cx="320040" cy="41148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12620" y="2515910"/>
            <a:ext cx="2194832" cy="338554"/>
          </a:xfrm>
          <a:prstGeom prst="rect">
            <a:avLst/>
          </a:prstGeom>
          <a:noFill/>
        </p:spPr>
        <p:txBody>
          <a:bodyPr wrap="none">
            <a:spAutoFit/>
          </a:bodyPr>
          <a:lstStyle/>
          <a:p>
            <a:pPr>
              <a:defRPr sz="1600">
                <a:latin typeface="Times New Roman"/>
              </a:defRPr>
            </a:pPr>
            <a:r>
              <a:rPr sz="1600" dirty="0"/>
              <a:t>observed   </a:t>
            </a:r>
            <a:r>
              <a:rPr lang="en-US" sz="1600" dirty="0"/>
              <a:t>g</a:t>
            </a:r>
            <a:r>
              <a:rPr sz="1600" dirty="0"/>
              <a:t>old standard</a:t>
            </a:r>
          </a:p>
        </p:txBody>
      </p:sp>
      <mc:AlternateContent xmlns:mc="http://schemas.openxmlformats.org/markup-compatibility/2006">
        <mc:Choice xmlns:a14="http://schemas.microsoft.com/office/drawing/2010/main" Requires="a14">
          <p:graphicFrame>
            <p:nvGraphicFramePr>
              <p:cNvPr id="8" name="Table 7"/>
              <p:cNvGraphicFramePr>
                <a:graphicFrameLocks noGrp="1"/>
              </p:cNvGraphicFramePr>
              <p:nvPr>
                <p:extLst>
                  <p:ext uri="{D42A27DB-BD31-4B8C-83A1-F6EECF244321}">
                    <p14:modId xmlns:p14="http://schemas.microsoft.com/office/powerpoint/2010/main" val="1417325499"/>
                  </p:ext>
                </p:extLst>
              </p:nvPr>
            </p:nvGraphicFramePr>
            <p:xfrm>
              <a:off x="4366524" y="2515911"/>
              <a:ext cx="4502591" cy="3962400"/>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418067">
                      <a:extLst>
                        <a:ext uri="{9D8B030D-6E8A-4147-A177-3AD203B41FA5}">
                          <a16:colId xmlns:a16="http://schemas.microsoft.com/office/drawing/2014/main" val="20001"/>
                        </a:ext>
                      </a:extLst>
                    </a:gridCol>
                    <a:gridCol w="3163884">
                      <a:extLst>
                        <a:ext uri="{9D8B030D-6E8A-4147-A177-3AD203B41FA5}">
                          <a16:colId xmlns:a16="http://schemas.microsoft.com/office/drawing/2014/main" val="20002"/>
                        </a:ext>
                      </a:extLst>
                    </a:gridCol>
                  </a:tblGrid>
                  <a:tr h="227246">
                    <a:tc>
                      <a:txBody>
                        <a:bodyPr/>
                        <a:lstStyle/>
                        <a:p>
                          <a:pPr algn="ctr">
                            <a:defRPr sz="1800">
                              <a:latin typeface="Times New Roman"/>
                            </a:defRPr>
                          </a:pPr>
                          <a:r>
                            <a:rPr sz="1400" baseline="0" dirty="0"/>
                            <a:t>True OR</a:t>
                          </a:r>
                        </a:p>
                      </a:txBody>
                      <a:tcPr/>
                    </a:tc>
                    <a:tc>
                      <a:txBody>
                        <a:bodyPr/>
                        <a:lstStyle/>
                        <a:p>
                          <a:pPr algn="ctr">
                            <a:defRPr sz="1800">
                              <a:latin typeface="Times New Roman"/>
                            </a:defRPr>
                          </a:pPr>
                          <a14:m>
                            <m:oMathPara xmlns:m="http://schemas.openxmlformats.org/officeDocument/2006/math">
                              <m:oMathParaPr>
                                <m:jc m:val="centerGroup"/>
                              </m:oMathParaPr>
                              <m:oMath xmlns:m="http://schemas.openxmlformats.org/officeDocument/2006/math">
                                <m:sSub>
                                  <m:sSubPr>
                                    <m:ctrlPr>
                                      <a:rPr lang="en-US" sz="1400" b="0" i="1" baseline="0" dirty="0" smtClean="0">
                                        <a:latin typeface="Cambria Math" panose="02040503050406030204" pitchFamily="18" charset="0"/>
                                      </a:rPr>
                                    </m:ctrlPr>
                                  </m:sSubPr>
                                  <m:e>
                                    <m:r>
                                      <a:rPr lang="en-US" sz="1400" b="0" i="1" baseline="0" dirty="0" smtClean="0">
                                        <a:latin typeface="Cambria Math" panose="02040503050406030204" pitchFamily="18" charset="0"/>
                                        <a:ea typeface="Cambria Math" panose="02040503050406030204" pitchFamily="18" charset="0"/>
                                      </a:rPr>
                                      <m:t>𝜌</m:t>
                                    </m:r>
                                  </m:e>
                                  <m:sub>
                                    <m:r>
                                      <a:rPr lang="en-US" sz="1400" b="0" i="1" baseline="0" dirty="0" smtClean="0">
                                        <a:latin typeface="Cambria Math" panose="02040503050406030204" pitchFamily="18" charset="0"/>
                                      </a:rPr>
                                      <m:t>𝐼</m:t>
                                    </m:r>
                                  </m:sub>
                                </m:sSub>
                              </m:oMath>
                            </m:oMathPara>
                          </a14:m>
                          <a:endParaRPr sz="1400" baseline="0" dirty="0"/>
                        </a:p>
                      </a:txBody>
                      <a:tcPr/>
                    </a:tc>
                    <a:tc>
                      <a:txBody>
                        <a:bodyPr/>
                        <a:lstStyle/>
                        <a:p>
                          <a:pPr algn="ctr">
                            <a:defRPr sz="1800">
                              <a:latin typeface="Times New Roman"/>
                            </a:defRPr>
                          </a:pPr>
                          <a:r>
                            <a:rPr sz="1400" baseline="0" dirty="0"/>
                            <a:t>Observed OR for  </a:t>
                          </a:r>
                          <a:r>
                            <a:rPr lang="en-US" sz="1400" baseline="0" dirty="0"/>
                            <a:t>1</a:t>
                          </a:r>
                          <a:r>
                            <a:rPr sz="1400" baseline="0" dirty="0"/>
                            <a:t> SD in </a:t>
                          </a:r>
                          <a14:m>
                            <m:oMath xmlns:m="http://schemas.openxmlformats.org/officeDocument/2006/math">
                              <m:r>
                                <a:rPr lang="en-US" sz="1400" i="1" baseline="0" dirty="0" smtClean="0">
                                  <a:latin typeface="Cambria Math" panose="02040503050406030204" pitchFamily="18" charset="0"/>
                                </a:rPr>
                                <m:t>𝑋</m:t>
                              </m:r>
                            </m:oMath>
                          </a14:m>
                          <a:endParaRPr sz="1400" baseline="0" dirty="0"/>
                        </a:p>
                      </a:txBody>
                      <a:tcPr/>
                    </a:tc>
                    <a:extLst>
                      <a:ext uri="{0D108BD9-81ED-4DB2-BD59-A6C34878D82A}">
                        <a16:rowId xmlns:a16="http://schemas.microsoft.com/office/drawing/2014/main" val="10000"/>
                      </a:ext>
                    </a:extLst>
                  </a:tr>
                  <a:tr h="299792">
                    <a:tc rowSpan="4">
                      <a:txBody>
                        <a:bodyPr/>
                        <a:lstStyle/>
                        <a:p>
                          <a:pPr algn="l">
                            <a:defRPr sz="1800">
                              <a:latin typeface="Times New Roman"/>
                            </a:defRPr>
                          </a:pPr>
                          <a:r>
                            <a:rPr sz="1400" baseline="0" dirty="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224903">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224903">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dirty="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Choice>
        <mc:Fallback>
          <p:graphicFrame>
            <p:nvGraphicFramePr>
              <p:cNvPr id="8" name="Table 7"/>
              <p:cNvGraphicFramePr>
                <a:graphicFrameLocks noGrp="1"/>
              </p:cNvGraphicFramePr>
              <p:nvPr>
                <p:extLst>
                  <p:ext uri="{D42A27DB-BD31-4B8C-83A1-F6EECF244321}">
                    <p14:modId xmlns:p14="http://schemas.microsoft.com/office/powerpoint/2010/main" val="1417325499"/>
                  </p:ext>
                </p:extLst>
              </p:nvPr>
            </p:nvGraphicFramePr>
            <p:xfrm>
              <a:off x="4366524" y="2515911"/>
              <a:ext cx="4502591" cy="3962400"/>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418067">
                      <a:extLst>
                        <a:ext uri="{9D8B030D-6E8A-4147-A177-3AD203B41FA5}">
                          <a16:colId xmlns:a16="http://schemas.microsoft.com/office/drawing/2014/main" val="20001"/>
                        </a:ext>
                      </a:extLst>
                    </a:gridCol>
                    <a:gridCol w="3163884">
                      <a:extLst>
                        <a:ext uri="{9D8B030D-6E8A-4147-A177-3AD203B41FA5}">
                          <a16:colId xmlns:a16="http://schemas.microsoft.com/office/drawing/2014/main" val="20002"/>
                        </a:ext>
                      </a:extLst>
                    </a:gridCol>
                  </a:tblGrid>
                  <a:tr h="304800">
                    <a:tc>
                      <a:txBody>
                        <a:bodyPr/>
                        <a:lstStyle/>
                        <a:p>
                          <a:pPr algn="ctr">
                            <a:defRPr sz="1800">
                              <a:latin typeface="Times New Roman"/>
                            </a:defRPr>
                          </a:pPr>
                          <a:r>
                            <a:rPr sz="1400" baseline="0" dirty="0"/>
                            <a:t>True OR</a:t>
                          </a:r>
                        </a:p>
                      </a:txBody>
                      <a:tcPr/>
                    </a:tc>
                    <a:tc>
                      <a:txBody>
                        <a:bodyPr/>
                        <a:lstStyle/>
                        <a:p>
                          <a:endParaRPr lang="en-US"/>
                        </a:p>
                      </a:txBody>
                      <a:tcPr>
                        <a:blipFill>
                          <a:blip r:embed="rId3"/>
                          <a:stretch>
                            <a:fillRect l="-220290" t="-2000" r="-759420" b="-1222000"/>
                          </a:stretch>
                        </a:blipFill>
                      </a:tcPr>
                    </a:tc>
                    <a:tc>
                      <a:txBody>
                        <a:bodyPr/>
                        <a:lstStyle/>
                        <a:p>
                          <a:endParaRPr lang="en-US"/>
                        </a:p>
                      </a:txBody>
                      <a:tcPr>
                        <a:blipFill>
                          <a:blip r:embed="rId3"/>
                          <a:stretch>
                            <a:fillRect l="-42582" t="-2000" r="-963" b="-1222000"/>
                          </a:stretch>
                        </a:blipFill>
                      </a:tcPr>
                    </a:tc>
                    <a:extLst>
                      <a:ext uri="{0D108BD9-81ED-4DB2-BD59-A6C34878D82A}">
                        <a16:rowId xmlns:a16="http://schemas.microsoft.com/office/drawing/2014/main" val="10000"/>
                      </a:ext>
                    </a:extLst>
                  </a:tr>
                  <a:tr h="304800">
                    <a:tc rowSpan="4">
                      <a:txBody>
                        <a:bodyPr/>
                        <a:lstStyle/>
                        <a:p>
                          <a:pPr algn="l">
                            <a:defRPr sz="1800">
                              <a:latin typeface="Times New Roman"/>
                            </a:defRPr>
                          </a:pPr>
                          <a:r>
                            <a:rPr sz="1400" baseline="0" dirty="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304800">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304800">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dirty="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Fallback>
      </mc:AlternateContent>
      <p:sp>
        <p:nvSpPr>
          <p:cNvPr id="9" name="TextBox 8"/>
          <p:cNvSpPr txBox="1"/>
          <p:nvPr/>
        </p:nvSpPr>
        <p:spPr>
          <a:xfrm>
            <a:off x="1546363" y="4572358"/>
            <a:ext cx="2920992" cy="954107"/>
          </a:xfrm>
          <a:prstGeom prst="rect">
            <a:avLst/>
          </a:prstGeom>
          <a:noFill/>
        </p:spPr>
        <p:txBody>
          <a:bodyPr wrap="none">
            <a:spAutoFit/>
          </a:bodyPr>
          <a:lstStyle/>
          <a:p>
            <a:pPr>
              <a:defRPr sz="1400">
                <a:latin typeface="Times New Roman"/>
              </a:defRPr>
            </a:pPr>
            <a:r>
              <a:rPr sz="1400" dirty="0"/>
              <a:t>Armstrong BK, White E, </a:t>
            </a:r>
            <a:r>
              <a:rPr sz="1400" dirty="0" err="1"/>
              <a:t>Saracci</a:t>
            </a:r>
            <a:r>
              <a:rPr sz="1400" dirty="0"/>
              <a:t> R.</a:t>
            </a:r>
            <a:endParaRPr lang="en-US" sz="1400" dirty="0"/>
          </a:p>
          <a:p>
            <a:pPr>
              <a:defRPr sz="1400">
                <a:latin typeface="Times New Roman"/>
              </a:defRPr>
            </a:pPr>
            <a:r>
              <a:rPr sz="1400" dirty="0"/>
              <a:t> 'Principles of Exposure Measurement</a:t>
            </a:r>
            <a:endParaRPr lang="en-US" sz="1400" dirty="0"/>
          </a:p>
          <a:p>
            <a:pPr>
              <a:defRPr sz="1400">
                <a:latin typeface="Times New Roman"/>
              </a:defRPr>
            </a:pPr>
            <a:r>
              <a:rPr sz="1400" dirty="0"/>
              <a:t> in Epidemiology'.</a:t>
            </a:r>
            <a:endParaRPr lang="en-US" sz="1400" dirty="0"/>
          </a:p>
          <a:p>
            <a:pPr>
              <a:defRPr sz="1400">
                <a:latin typeface="Times New Roman"/>
              </a:defRPr>
            </a:pPr>
            <a:r>
              <a:rPr sz="1400" dirty="0"/>
              <a:t> Oxford University Press Inc; 1992.</a:t>
            </a:r>
          </a:p>
        </p:txBody>
      </p:sp>
      <p:sp>
        <p:nvSpPr>
          <p:cNvPr id="10" name="TextBox 9"/>
          <p:cNvSpPr txBox="1"/>
          <p:nvPr/>
        </p:nvSpPr>
        <p:spPr>
          <a:xfrm>
            <a:off x="1752737" y="6457950"/>
            <a:ext cx="3161443" cy="400110"/>
          </a:xfrm>
          <a:prstGeom prst="rect">
            <a:avLst/>
          </a:prstGeom>
          <a:noFill/>
        </p:spPr>
        <p:txBody>
          <a:bodyPr wrap="none">
            <a:spAutoFit/>
          </a:bodyPr>
          <a:lstStyle/>
          <a:p>
            <a:pPr>
              <a:defRPr sz="2000">
                <a:latin typeface="Times New Roman"/>
              </a:defRPr>
            </a:pPr>
            <a:r>
              <a:rPr sz="2000"/>
              <a:t>Yale School of Public Health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Common Approaches to the Measurement Error</a:t>
            </a:r>
          </a:p>
          <a:p>
            <a:pPr algn="ctr"/>
            <a:r>
              <a:rPr lang="en-US" sz="4000" dirty="0">
                <a:latin typeface="Arial" panose="020B0604020202020204" pitchFamily="34" charset="0"/>
                <a:cs typeface="Arial" panose="020B0604020202020204" pitchFamily="34" charset="0"/>
              </a:rPr>
              <a:t>     Problem in Epidemiology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470474" y="1367908"/>
            <a:ext cx="11188126" cy="4975122"/>
          </a:xfrm>
        </p:spPr>
        <p:txBody>
          <a:bodyPr>
            <a:noAutofit/>
          </a:bodyPr>
          <a:lstStyle/>
          <a:p>
            <a:pPr marL="0" marR="0" lvl="0" indent="0" algn="l" defTabSz="914400" rtl="0" eaLnBrk="1" fontAlgn="base" latinLnBrk="0" hangingPunct="1">
              <a:lnSpc>
                <a:spcPct val="80000"/>
              </a:lnSpc>
              <a:spcBef>
                <a:spcPct val="20000"/>
              </a:spcBef>
              <a:spcAft>
                <a:spcPct val="0"/>
              </a:spcAft>
              <a:buClrTx/>
              <a:buSzTx/>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1. Sensitivity Analysis</a:t>
            </a:r>
          </a:p>
          <a:p>
            <a:pPr lvl="1" fontAlgn="base">
              <a:lnSpc>
                <a:spcPct val="80000"/>
              </a:lnSpc>
              <a:spcBef>
                <a:spcPct val="20000"/>
              </a:spcBef>
              <a:spcAft>
                <a:spcPct val="0"/>
              </a:spcAft>
              <a:buFont typeface="Wingdings" panose="05000000000000000000" pitchFamily="2" charset="2"/>
              <a:buChar char="Ø"/>
              <a:defRPr/>
            </a:pPr>
            <a:r>
              <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Non-differential error bias toward the null - but not always</a:t>
            </a:r>
            <a:endParaRPr lang="en-US" altLang="zh-CN" sz="260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vl="1" fontAlgn="base">
              <a:lnSpc>
                <a:spcPct val="80000"/>
              </a:lnSpc>
              <a:spcBef>
                <a:spcPct val="20000"/>
              </a:spcBef>
              <a:spcAft>
                <a:spcPct val="0"/>
              </a:spcAft>
              <a:buFont typeface="Wingdings" panose="05000000000000000000" pitchFamily="2" charset="2"/>
              <a:buChar char="Ø"/>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2.</a:t>
            </a:r>
            <a:r>
              <a:rPr lang="en-US" sz="3000" dirty="0">
                <a:latin typeface="Arial" panose="020B0604020202020204" pitchFamily="34" charset="0"/>
                <a:cs typeface="Arial" panose="020B0604020202020204" pitchFamily="34" charset="0"/>
              </a:rPr>
              <a:t> Validation of exposure measurement</a:t>
            </a:r>
          </a:p>
          <a:p>
            <a:pPr lvl="1">
              <a:buFont typeface="Wingdings" panose="05000000000000000000" pitchFamily="2" charset="2"/>
              <a:buChar char="Ø"/>
            </a:pPr>
            <a:r>
              <a:rPr lang="en-US" sz="3000" dirty="0">
                <a:latin typeface="Arial" panose="020B0604020202020204" pitchFamily="34" charset="0"/>
                <a:cs typeface="Arial" panose="020B0604020202020204" pitchFamily="34" charset="0"/>
              </a:rPr>
              <a:t>Reporting a statistically significant association  (through p-value testing) between true and observed does not imply no bias due to measurement error.</a:t>
            </a:r>
          </a:p>
          <a:p>
            <a:pPr lvl="1">
              <a:buFont typeface="Wingdings" panose="05000000000000000000" pitchFamily="2" charset="2"/>
              <a:buChar char="Ø"/>
            </a:pPr>
            <a:endParaRPr lang="en-US" sz="3000" dirty="0">
              <a:latin typeface="Arial" panose="020B0604020202020204" pitchFamily="34" charset="0"/>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3. </a:t>
            </a:r>
            <a:r>
              <a:rPr lang="en-US" sz="3000" dirty="0">
                <a:highlight>
                  <a:srgbClr val="00FF00"/>
                </a:highlight>
                <a:latin typeface="Arial" panose="020B0604020202020204" pitchFamily="34" charset="0"/>
                <a:cs typeface="Arial" panose="020B0604020202020204" pitchFamily="34" charset="0"/>
              </a:rPr>
              <a:t>Quantitative correction of effect estimate</a:t>
            </a:r>
          </a:p>
          <a:p>
            <a:pPr marL="457200" lvl="1" indent="0">
              <a:buNone/>
            </a:pPr>
            <a:r>
              <a:rPr lang="en-US" sz="2600" dirty="0">
                <a:highlight>
                  <a:srgbClr val="00FF00"/>
                </a:highlight>
                <a:latin typeface="Arial" panose="020B0604020202020204" pitchFamily="34" charset="0"/>
                <a:cs typeface="Arial" panose="020B0604020202020204" pitchFamily="34" charset="0"/>
              </a:rPr>
              <a:t> i. DESIGN:  Main study/ reliability or validation study</a:t>
            </a:r>
          </a:p>
          <a:p>
            <a:pPr marL="457200" lvl="1" indent="0">
              <a:buNone/>
            </a:pPr>
            <a:r>
              <a:rPr lang="en-US" sz="2600" dirty="0">
                <a:highlight>
                  <a:srgbClr val="00FF00"/>
                </a:highlight>
                <a:latin typeface="Arial" panose="020B0604020202020204" pitchFamily="34" charset="0"/>
                <a:cs typeface="Arial" panose="020B0604020202020204" pitchFamily="34" charset="0"/>
              </a:rPr>
              <a:t> ii. ANALYSIS: measurement error &amp; misclassification methods</a:t>
            </a:r>
          </a:p>
          <a:p>
            <a:pPr marL="457200" lvl="1" indent="0" fontAlgn="base">
              <a:lnSpc>
                <a:spcPct val="80000"/>
              </a:lnSpc>
              <a:spcBef>
                <a:spcPct val="20000"/>
              </a:spcBef>
              <a:spcAft>
                <a:spcPct val="0"/>
              </a:spcAft>
              <a:buNone/>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 </a:t>
            </a: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0" indent="0">
              <a:buNone/>
            </a:pPr>
            <a:endParaRPr lang="en-US" sz="1700" dirty="0"/>
          </a:p>
        </p:txBody>
      </p:sp>
      <p:sp>
        <p:nvSpPr>
          <p:cNvPr id="2" name="Slide Number Placeholder 1">
            <a:extLst>
              <a:ext uri="{FF2B5EF4-FFF2-40B4-BE49-F238E27FC236}">
                <a16:creationId xmlns:a16="http://schemas.microsoft.com/office/drawing/2014/main" id="{D36C2E3D-83B5-73DC-943E-C9FDDCD679D8}"/>
              </a:ext>
            </a:extLst>
          </p:cNvPr>
          <p:cNvSpPr>
            <a:spLocks noGrp="1"/>
          </p:cNvSpPr>
          <p:nvPr>
            <p:ph type="sldNum" sz="quarter" idx="12"/>
          </p:nvPr>
        </p:nvSpPr>
        <p:spPr/>
        <p:txBody>
          <a:bodyPr/>
          <a:lstStyle/>
          <a:p>
            <a:fld id="{77C6A7FE-225D-49F1-B302-AA37EA92BB49}" type="slidenum">
              <a:rPr lang="en-US" smtClean="0"/>
              <a:t>7</a:t>
            </a:fld>
            <a:endParaRPr lang="en-US"/>
          </a:p>
        </p:txBody>
      </p:sp>
    </p:spTree>
    <p:extLst>
      <p:ext uri="{BB962C8B-B14F-4D97-AF65-F5344CB8AC3E}">
        <p14:creationId xmlns:p14="http://schemas.microsoft.com/office/powerpoint/2010/main" val="2020642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0" y="0"/>
            <a:ext cx="12161520" cy="105156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Validation Study</a:t>
            </a:r>
            <a:endParaRPr lang="en-US" sz="4000" dirty="0"/>
          </a:p>
        </p:txBody>
      </p:sp>
      <p:sp>
        <p:nvSpPr>
          <p:cNvPr id="4" name="Text 2"/>
          <p:cNvSpPr/>
          <p:nvPr/>
        </p:nvSpPr>
        <p:spPr>
          <a:xfrm>
            <a:off x="731520" y="1417320"/>
            <a:ext cx="10698480" cy="640080"/>
          </a:xfrm>
          <a:prstGeom prst="rect">
            <a:avLst/>
          </a:prstGeom>
          <a:noFill/>
          <a:ln/>
        </p:spPr>
        <p:txBody>
          <a:bodyPr wrap="square" lIns="0" tIns="0" rIns="0" bIns="0" rtlCol="0" anchor="ctr"/>
          <a:lstStyle/>
          <a:p>
            <a:pPr marL="0" indent="0">
              <a:buNone/>
            </a:pPr>
            <a:r>
              <a:rPr lang="en-US" sz="2800" b="1" u="sng" dirty="0">
                <a:solidFill>
                  <a:srgbClr val="1A1A1A"/>
                </a:solidFill>
                <a:latin typeface="Calibri" pitchFamily="34" charset="0"/>
                <a:ea typeface="Calibri" pitchFamily="34" charset="-122"/>
                <a:cs typeface="Calibri" pitchFamily="34" charset="-120"/>
              </a:rPr>
              <a:t>Internal validation study</a:t>
            </a:r>
            <a:r>
              <a:rPr lang="en-US" sz="2800" dirty="0">
                <a:solidFill>
                  <a:srgbClr val="1A1A1A"/>
                </a:solidFill>
                <a:latin typeface="Calibri" pitchFamily="34" charset="0"/>
                <a:ea typeface="Calibri" pitchFamily="34" charset="-122"/>
                <a:cs typeface="Calibri" pitchFamily="34" charset="-120"/>
              </a:rPr>
              <a:t> – a validation study with data</a:t>
            </a:r>
            <a:endParaRPr lang="en-US" sz="2800" dirty="0"/>
          </a:p>
        </p:txBody>
      </p:sp>
      <mc:AlternateContent xmlns:mc="http://schemas.openxmlformats.org/markup-compatibility/2006" xmlns:a14="http://schemas.microsoft.com/office/drawing/2010/main">
        <mc:Choice Requires="a14">
          <p:sp>
            <p:nvSpPr>
              <p:cNvPr id="5" name="Text 3"/>
              <p:cNvSpPr/>
              <p:nvPr/>
            </p:nvSpPr>
            <p:spPr>
              <a:xfrm>
                <a:off x="731520" y="2148840"/>
                <a:ext cx="10698480" cy="822960"/>
              </a:xfrm>
              <a:prstGeom prst="rect">
                <a:avLst/>
              </a:prstGeom>
              <a:noFill/>
              <a:ln/>
            </p:spPr>
            <p:txBody>
              <a:bodyPr wrap="square" lIns="0" tIns="0" rIns="0" bIns="0" rtlCol="0" anchor="ctr"/>
              <a:lstStyle/>
              <a:p>
                <a:pPr algn="ctr"/>
                <a14:m>
                  <m:oMathPara xmlns:m="http://schemas.openxmlformats.org/officeDocument/2006/math">
                    <m:oMathParaPr>
                      <m:jc m:val="center"/>
                    </m:oMathParaPr>
                    <m:oMath xmlns:m="http://schemas.openxmlformats.org/officeDocument/2006/math">
                      <m:r>
                        <a:rPr lang="ar-AE" sz="3200" smtClean="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𝐷</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𝑋</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𝑍</m:t>
                          </m:r>
                        </m:e>
                        <m:sub>
                          <m:r>
                            <a:rPr lang="ar-AE" sz="3200">
                              <a:latin typeface="Cambria Math" panose="02040503050406030204" pitchFamily="18" charset="0"/>
                            </a:rPr>
                            <m:t>𝑖</m:t>
                          </m:r>
                        </m:sub>
                      </m:sSub>
                      <m:r>
                        <a:rPr lang="ar-AE" sz="3200">
                          <a:latin typeface="Cambria Math" panose="02040503050406030204" pitchFamily="18" charset="0"/>
                        </a:rPr>
                        <m:t>), </m:t>
                      </m:r>
                      <m:r>
                        <a:rPr lang="ar-AE" sz="3200">
                          <a:latin typeface="Cambria Math" panose="02040503050406030204" pitchFamily="18" charset="0"/>
                        </a:rPr>
                        <m:t>𝑖</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ar-AE" sz="3200" b="0" i="1" smtClean="0">
                              <a:latin typeface="Cambria Math" panose="02040503050406030204" pitchFamily="18" charset="0"/>
                            </a:rPr>
                            <m:t>𝑚</m:t>
                          </m:r>
                        </m:sub>
                      </m:sSub>
                      <m:r>
                        <a:rPr lang="ar-AE" sz="3200">
                          <a:latin typeface="Cambria Math" panose="02040503050406030204" pitchFamily="18" charset="0"/>
                        </a:rPr>
                        <m:t>+</m:t>
                      </m:r>
                      <m:r>
                        <a:rPr lang="ar-AE" sz="3200">
                          <a:latin typeface="Cambria Math" panose="02040503050406030204" pitchFamily="18" charset="0"/>
                        </a:rPr>
                        <m:t>1</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𝑚</m:t>
                          </m:r>
                        </m:sub>
                      </m:sSub>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𝑣</m:t>
                          </m:r>
                        </m:sub>
                      </m:sSub>
                    </m:oMath>
                  </m:oMathPara>
                </a14:m>
                <a:endParaRPr sz="3200" dirty="0"/>
              </a:p>
            </p:txBody>
          </p:sp>
        </mc:Choice>
        <mc:Fallback xmlns="">
          <p:sp>
            <p:nvSpPr>
              <p:cNvPr id="5" name="Text 3"/>
              <p:cNvSpPr>
                <a:spLocks noRot="1" noChangeAspect="1" noMove="1" noResize="1" noEditPoints="1" noAdjustHandles="1" noChangeArrowheads="1" noChangeShapeType="1" noTextEdit="1"/>
              </p:cNvSpPr>
              <p:nvPr/>
            </p:nvSpPr>
            <p:spPr>
              <a:xfrm>
                <a:off x="731520" y="2148840"/>
                <a:ext cx="10698480" cy="822960"/>
              </a:xfrm>
              <a:prstGeom prst="rect">
                <a:avLst/>
              </a:prstGeom>
              <a:blipFill>
                <a:blip r:embed="rId3"/>
                <a:stretch>
                  <a:fillRect/>
                </a:stretch>
              </a:blipFill>
              <a:ln/>
            </p:spPr>
            <p:txBody>
              <a:bodyPr/>
              <a:lstStyle/>
              <a:p>
                <a:r>
                  <a:rPr lang="en-US">
                    <a:noFill/>
                  </a:rPr>
                  <a:t> </a:t>
                </a:r>
              </a:p>
            </p:txBody>
          </p:sp>
        </mc:Fallback>
      </mc:AlternateContent>
      <p:sp>
        <p:nvSpPr>
          <p:cNvPr id="6" name="Text 4"/>
          <p:cNvSpPr/>
          <p:nvPr/>
        </p:nvSpPr>
        <p:spPr>
          <a:xfrm>
            <a:off x="731520" y="3063240"/>
            <a:ext cx="10698480" cy="914400"/>
          </a:xfrm>
          <a:prstGeom prst="rect">
            <a:avLst/>
          </a:prstGeom>
          <a:noFill/>
          <a:ln/>
        </p:spPr>
        <p:txBody>
          <a:bodyPr wrap="square" lIns="0" tIns="0" rIns="0" bIns="0" rtlCol="0" anchor="ctr"/>
          <a:lstStyle/>
          <a:p>
            <a:pPr marL="0" indent="0">
              <a:lnSpc>
                <a:spcPct val="115000"/>
              </a:lnSpc>
              <a:buNone/>
            </a:pPr>
            <a:r>
              <a:rPr lang="en-US" sz="2400" dirty="0">
                <a:solidFill>
                  <a:srgbClr val="1A1A1A"/>
                </a:solidFill>
                <a:latin typeface="Calibri" pitchFamily="34" charset="0"/>
                <a:ea typeface="Calibri" pitchFamily="34" charset="-122"/>
                <a:cs typeface="Calibri" pitchFamily="34" charset="-120"/>
              </a:rPr>
              <a:t>Typically obtained by sampling from the full study within which the parameter of interest is to be estimated.</a:t>
            </a:r>
            <a:endParaRPr lang="en-US" sz="2400" dirty="0"/>
          </a:p>
        </p:txBody>
      </p:sp>
      <p:sp>
        <p:nvSpPr>
          <p:cNvPr id="7" name="Shape 5"/>
          <p:cNvSpPr/>
          <p:nvPr/>
        </p:nvSpPr>
        <p:spPr>
          <a:xfrm>
            <a:off x="731520" y="4160520"/>
            <a:ext cx="10698480" cy="0"/>
          </a:xfrm>
          <a:prstGeom prst="line">
            <a:avLst/>
          </a:prstGeom>
          <a:noFill/>
          <a:ln w="12700">
            <a:solidFill>
              <a:srgbClr val="D9D9D9"/>
            </a:solidFill>
            <a:prstDash val="solid"/>
          </a:ln>
        </p:spPr>
        <p:txBody>
          <a:bodyPr/>
          <a:lstStyle/>
          <a:p>
            <a:endParaRPr lang="en-US"/>
          </a:p>
        </p:txBody>
      </p:sp>
      <p:sp>
        <p:nvSpPr>
          <p:cNvPr id="8" name="Text 6"/>
          <p:cNvSpPr/>
          <p:nvPr/>
        </p:nvSpPr>
        <p:spPr>
          <a:xfrm>
            <a:off x="731520" y="4389120"/>
            <a:ext cx="10698480" cy="640080"/>
          </a:xfrm>
          <a:prstGeom prst="rect">
            <a:avLst/>
          </a:prstGeom>
          <a:noFill/>
          <a:ln/>
        </p:spPr>
        <p:txBody>
          <a:bodyPr wrap="square" lIns="0" tIns="0" rIns="0" bIns="0" rtlCol="0" anchor="ctr"/>
          <a:lstStyle/>
          <a:p>
            <a:pPr marL="0" indent="0">
              <a:buNone/>
            </a:pPr>
            <a:r>
              <a:rPr lang="en-US" sz="2800" b="1" u="sng" dirty="0">
                <a:solidFill>
                  <a:srgbClr val="1A1A1A"/>
                </a:solidFill>
                <a:latin typeface="Calibri" pitchFamily="34" charset="0"/>
                <a:ea typeface="Calibri" pitchFamily="34" charset="-122"/>
                <a:cs typeface="Calibri" pitchFamily="34" charset="-120"/>
              </a:rPr>
              <a:t>External validation study</a:t>
            </a:r>
            <a:r>
              <a:rPr lang="en-US" sz="2800" dirty="0">
                <a:solidFill>
                  <a:srgbClr val="1A1A1A"/>
                </a:solidFill>
                <a:latin typeface="Calibri" pitchFamily="34" charset="0"/>
                <a:ea typeface="Calibri" pitchFamily="34" charset="-122"/>
                <a:cs typeface="Calibri" pitchFamily="34" charset="-120"/>
              </a:rPr>
              <a:t> – a validation study with data</a:t>
            </a:r>
            <a:endParaRPr lang="en-US" sz="2800" dirty="0"/>
          </a:p>
        </p:txBody>
      </p:sp>
      <mc:AlternateContent xmlns:mc="http://schemas.openxmlformats.org/markup-compatibility/2006" xmlns:a14="http://schemas.microsoft.com/office/drawing/2010/main">
        <mc:Choice Requires="a14">
          <p:sp>
            <p:nvSpPr>
              <p:cNvPr id="9" name="Text 7"/>
              <p:cNvSpPr/>
              <p:nvPr/>
            </p:nvSpPr>
            <p:spPr>
              <a:xfrm>
                <a:off x="731520" y="5120640"/>
                <a:ext cx="10698480" cy="822960"/>
              </a:xfrm>
              <a:prstGeom prst="rect">
                <a:avLst/>
              </a:prstGeom>
              <a:noFill/>
              <a:ln/>
            </p:spPr>
            <p:txBody>
              <a:bodyPr wrap="square" lIns="0" tIns="0" rIns="0" bIns="0" rtlCol="0" anchor="ctr"/>
              <a:lstStyle/>
              <a:p>
                <a:pPr algn="ctr"/>
                <a14:m>
                  <m:oMathPara xmlns:m="http://schemas.openxmlformats.org/officeDocument/2006/math">
                    <m:oMathParaPr>
                      <m:jc m:val="center"/>
                    </m:oMathParaPr>
                    <m:oMath xmlns:m="http://schemas.openxmlformats.org/officeDocument/2006/math">
                      <m:r>
                        <a:rPr lang="ar-AE" sz="3200" smtClean="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𝑋</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𝑍</m:t>
                          </m:r>
                        </m:e>
                        <m:sub>
                          <m:r>
                            <a:rPr lang="ar-AE" sz="3200">
                              <a:latin typeface="Cambria Math" panose="02040503050406030204" pitchFamily="18" charset="0"/>
                            </a:rPr>
                            <m:t>𝑖</m:t>
                          </m:r>
                        </m:sub>
                      </m:sSub>
                      <m:r>
                        <a:rPr lang="ar-AE" sz="3200">
                          <a:latin typeface="Cambria Math" panose="02040503050406030204" pitchFamily="18" charset="0"/>
                        </a:rPr>
                        <m:t>), </m:t>
                      </m:r>
                      <m:r>
                        <a:rPr lang="ar-AE" sz="3200">
                          <a:latin typeface="Cambria Math" panose="02040503050406030204" pitchFamily="18" charset="0"/>
                        </a:rPr>
                        <m:t>𝑖</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ar-AE" sz="3200" b="0" i="1" smtClean="0">
                              <a:latin typeface="Cambria Math" panose="02040503050406030204" pitchFamily="18" charset="0"/>
                            </a:rPr>
                            <m:t>𝑚</m:t>
                          </m:r>
                        </m:sub>
                      </m:sSub>
                      <m:r>
                        <a:rPr lang="ar-AE" sz="3200">
                          <a:latin typeface="Cambria Math" panose="02040503050406030204" pitchFamily="18" charset="0"/>
                        </a:rPr>
                        <m:t>+</m:t>
                      </m:r>
                      <m:r>
                        <a:rPr lang="ar-AE" sz="3200">
                          <a:latin typeface="Cambria Math" panose="02040503050406030204" pitchFamily="18" charset="0"/>
                        </a:rPr>
                        <m:t>1</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𝑚</m:t>
                          </m:r>
                        </m:sub>
                      </m:sSub>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𝑣</m:t>
                          </m:r>
                        </m:sub>
                      </m:sSub>
                    </m:oMath>
                  </m:oMathPara>
                </a14:m>
                <a:endParaRPr sz="3200" dirty="0"/>
              </a:p>
            </p:txBody>
          </p:sp>
        </mc:Choice>
        <mc:Fallback xmlns="">
          <p:sp>
            <p:nvSpPr>
              <p:cNvPr id="9" name="Text 7"/>
              <p:cNvSpPr>
                <a:spLocks noRot="1" noChangeAspect="1" noMove="1" noResize="1" noEditPoints="1" noAdjustHandles="1" noChangeArrowheads="1" noChangeShapeType="1" noTextEdit="1"/>
              </p:cNvSpPr>
              <p:nvPr/>
            </p:nvSpPr>
            <p:spPr>
              <a:xfrm>
                <a:off x="731520" y="5120640"/>
                <a:ext cx="10698480" cy="822960"/>
              </a:xfrm>
              <a:prstGeom prst="rect">
                <a:avLst/>
              </a:prstGeom>
              <a:blipFill>
                <a:blip r:embed="rId4"/>
                <a:stretch>
                  <a:fillRect/>
                </a:stretch>
              </a:blipFill>
              <a:ln/>
            </p:spPr>
            <p:txBody>
              <a:bodyPr/>
              <a:lstStyle/>
              <a:p>
                <a:r>
                  <a:rPr lang="en-US">
                    <a:noFill/>
                  </a:rPr>
                  <a:t> </a:t>
                </a:r>
              </a:p>
            </p:txBody>
          </p:sp>
        </mc:Fallback>
      </mc:AlternateContent>
      <p:sp>
        <p:nvSpPr>
          <p:cNvPr id="10" name="Text 8"/>
          <p:cNvSpPr/>
          <p:nvPr/>
        </p:nvSpPr>
        <p:spPr>
          <a:xfrm>
            <a:off x="731520" y="5989320"/>
            <a:ext cx="10698480" cy="548640"/>
          </a:xfrm>
          <a:prstGeom prst="rect">
            <a:avLst/>
          </a:prstGeom>
          <a:noFill/>
          <a:ln/>
        </p:spPr>
        <p:txBody>
          <a:bodyPr wrap="square" lIns="0" tIns="0" rIns="0" bIns="0" rtlCol="0" anchor="ctr"/>
          <a:lstStyle/>
          <a:p>
            <a:pPr marL="0" indent="0">
              <a:lnSpc>
                <a:spcPct val="115000"/>
              </a:lnSpc>
              <a:buNone/>
            </a:pPr>
            <a:r>
              <a:rPr lang="en-US" sz="2400" dirty="0">
                <a:solidFill>
                  <a:srgbClr val="1A1A1A"/>
                </a:solidFill>
                <a:latin typeface="Calibri" pitchFamily="34" charset="0"/>
                <a:ea typeface="Calibri" pitchFamily="34" charset="-122"/>
                <a:cs typeface="Calibri" pitchFamily="34" charset="-120"/>
              </a:rPr>
              <a:t>Typically obtained from a separate population from the main study.</a:t>
            </a:r>
            <a:endParaRPr lang="en-US" sz="2400" dirty="0"/>
          </a:p>
        </p:txBody>
      </p:sp>
      <p:sp>
        <p:nvSpPr>
          <p:cNvPr id="11" name="Text 9"/>
          <p:cNvSpPr/>
          <p:nvPr/>
        </p:nvSpPr>
        <p:spPr>
          <a:xfrm>
            <a:off x="731520" y="6446520"/>
            <a:ext cx="4572000" cy="32004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Yale School of Public Health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rtoon2_self_report.png">
            <a:extLst>
              <a:ext uri="{FF2B5EF4-FFF2-40B4-BE49-F238E27FC236}">
                <a16:creationId xmlns:a16="http://schemas.microsoft.com/office/drawing/2014/main" id="{8F5CDC3F-BC3B-1926-D1D7-B780521DA1B9}"/>
              </a:ext>
            </a:extLst>
          </p:cNvPr>
          <p:cNvPicPr>
            <a:picLocks noChangeAspect="1"/>
          </p:cNvPicPr>
          <p:nvPr/>
        </p:nvPicPr>
        <p:blipFill>
          <a:blip r:embed="rId2"/>
          <a:stretch>
            <a:fillRect/>
          </a:stretch>
        </p:blipFill>
        <p:spPr>
          <a:xfrm>
            <a:off x="2228295" y="91161"/>
            <a:ext cx="9597640" cy="6492518"/>
          </a:xfrm>
          <a:prstGeom prst="rect">
            <a:avLst/>
          </a:prstGeom>
        </p:spPr>
      </p:pic>
    </p:spTree>
    <p:extLst>
      <p:ext uri="{BB962C8B-B14F-4D97-AF65-F5344CB8AC3E}">
        <p14:creationId xmlns:p14="http://schemas.microsoft.com/office/powerpoint/2010/main" val="106001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4F5F-9D31-D483-7099-0A1442EC4DB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890E29-8E80-E09A-D827-E5F7AC18351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Reliability study</a:t>
            </a:r>
          </a:p>
        </p:txBody>
      </p:sp>
      <p:pic>
        <p:nvPicPr>
          <p:cNvPr id="9" name="Picture 8">
            <a:extLst>
              <a:ext uri="{FF2B5EF4-FFF2-40B4-BE49-F238E27FC236}">
                <a16:creationId xmlns:a16="http://schemas.microsoft.com/office/drawing/2014/main" id="{6E89F7C3-DB56-00F4-F5F6-6AB1FC431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FB46847E-89FB-DD94-5F30-0DA8D440368E}"/>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 name="Slide Number Placeholder 1">
            <a:extLst>
              <a:ext uri="{FF2B5EF4-FFF2-40B4-BE49-F238E27FC236}">
                <a16:creationId xmlns:a16="http://schemas.microsoft.com/office/drawing/2014/main" id="{482965E4-E362-017E-4C4B-56548BBC8249}"/>
              </a:ext>
            </a:extLst>
          </p:cNvPr>
          <p:cNvSpPr>
            <a:spLocks noGrp="1"/>
          </p:cNvSpPr>
          <p:nvPr>
            <p:ph type="sldNum" sz="quarter" idx="12"/>
          </p:nvPr>
        </p:nvSpPr>
        <p:spPr/>
        <p:txBody>
          <a:bodyPr/>
          <a:lstStyle/>
          <a:p>
            <a:fld id="{77C6A7FE-225D-49F1-B302-AA37EA92BB49}" type="slidenum">
              <a:rPr lang="en-US" smtClean="0"/>
              <a:t>10</a:t>
            </a:fld>
            <a:endParaRPr lang="en-US"/>
          </a:p>
        </p:txBody>
      </p:sp>
      <mc:AlternateContent xmlns:mc="http://schemas.openxmlformats.org/markup-compatibility/2006">
        <mc:Choice xmlns:a14="http://schemas.microsoft.com/office/drawing/2010/main" Requires="a14">
          <p:sp>
            <p:nvSpPr>
              <p:cNvPr id="12" name="Content Placeholder 11">
                <a:extLst>
                  <a:ext uri="{FF2B5EF4-FFF2-40B4-BE49-F238E27FC236}">
                    <a16:creationId xmlns:a16="http://schemas.microsoft.com/office/drawing/2014/main" id="{FAFCB2AE-12A2-9A3D-888C-3BF367FD1E36}"/>
                  </a:ext>
                </a:extLst>
              </p:cNvPr>
              <p:cNvSpPr>
                <a:spLocks noGrp="1"/>
              </p:cNvSpPr>
              <p:nvPr>
                <p:ph sz="half" idx="1"/>
              </p:nvPr>
            </p:nvSpPr>
            <p:spPr>
              <a:xfrm>
                <a:off x="304800" y="1263888"/>
                <a:ext cx="11816862" cy="5092461"/>
              </a:xfrm>
            </p:spPr>
            <p:txBody>
              <a:bodyPr>
                <a:normAutofit fontScale="77500" lnSpcReduction="20000"/>
              </a:bodyPr>
              <a:lstStyle/>
              <a:p>
                <a:pPr>
                  <a:buFont typeface="Arial" charset="0"/>
                  <a:buNone/>
                  <a:defRPr/>
                </a:pPr>
                <a:r>
                  <a:rPr lang="en-US" dirty="0">
                    <a:latin typeface="Times New Roman" pitchFamily="18" charset="0"/>
                    <a:cs typeface="Times New Roman" pitchFamily="18" charset="0"/>
                  </a:rPr>
                  <a:t>When the exposure data can be assumed to follow the classical additive measurement error model</a:t>
                </a:r>
              </a:p>
              <a:p>
                <a:pPr>
                  <a:buFont typeface="Arial" charset="0"/>
                  <a:buNone/>
                  <a:defRPr/>
                </a:pPr>
                <a:endParaRPr lang="en-US" dirty="0">
                  <a:latin typeface="Times New Roman" pitchFamily="18" charset="0"/>
                  <a:cs typeface="Times New Roman" pitchFamily="18" charset="0"/>
                </a:endParaRP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𝑋</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 </m:t>
                    </m:r>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r>
                      <a:rPr lang="en-US">
                        <a:latin typeface="Cambria Math" panose="02040503050406030204" pitchFamily="18" charset="0"/>
                        <a:cs typeface="Times New Roman" pitchFamily="18" charset="0"/>
                      </a:rPr>
                      <m:t>,</m:t>
                    </m:r>
                    <m:r>
                      <a:rPr lang="en-US" b="0" i="1" smtClean="0">
                        <a:latin typeface="Cambria Math" panose="02040503050406030204" pitchFamily="18" charset="0"/>
                        <a:cs typeface="Times New Roman" pitchFamily="18" charset="0"/>
                      </a:rPr>
                      <m:t> </m:t>
                    </m:r>
                    <m:r>
                      <a:rPr lang="en-US" b="0" i="1" smtClean="0">
                        <a:latin typeface="Cambria Math" panose="02040503050406030204" pitchFamily="18" charset="0"/>
                        <a:cs typeface="Times New Roman" pitchFamily="18" charset="0"/>
                      </a:rPr>
                      <m:t>𝐸</m:t>
                    </m:r>
                    <m:d>
                      <m:dPr>
                        <m:ctrlPr>
                          <a:rPr lang="en-US" b="0" i="1" smtClean="0">
                            <a:latin typeface="Cambria Math" panose="02040503050406030204" pitchFamily="18" charset="0"/>
                            <a:cs typeface="Times New Roman" pitchFamily="18" charset="0"/>
                          </a:rPr>
                        </m:ctrlPr>
                      </m:dPr>
                      <m:e>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b="0" i="1" smtClean="0">
                                    <a:latin typeface="Cambria Math" panose="02040503050406030204" pitchFamily="18" charset="0"/>
                                    <a:cs typeface="Times New Roman" pitchFamily="18" charset="0"/>
                                  </a:rPr>
                                  <m:t> </m:t>
                                </m:r>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e>
                    </m:d>
                    <m:r>
                      <a:rPr lang="en-US" b="0" i="1" smtClean="0">
                        <a:latin typeface="Cambria Math" panose="02040503050406030204" pitchFamily="18" charset="0"/>
                        <a:cs typeface="Times New Roman" pitchFamily="18" charset="0"/>
                      </a:rPr>
                      <m:t>=0</m:t>
                    </m:r>
                    <m:r>
                      <a:rPr lang="en-US" b="0" i="0" smtClean="0">
                        <a:latin typeface="Cambria Math" panose="02040503050406030204" pitchFamily="18" charset="0"/>
                        <a:cs typeface="Times New Roman" pitchFamily="18" charset="0"/>
                      </a:rPr>
                      <m:t>,  </m:t>
                    </m:r>
                  </m:oMath>
                </a14:m>
                <a:r>
                  <a:rPr lang="en-US" i="0" dirty="0">
                    <a:latin typeface="+mj-lt"/>
                    <a:cs typeface="Times New Roman" pitchFamily="18" charset="0"/>
                  </a:rPr>
                  <a:t>i</a:t>
                </a:r>
                <a14:m>
                  <m:oMath xmlns:m="http://schemas.openxmlformats.org/officeDocument/2006/math">
                    <m:r>
                      <a:rPr lang="en-US">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𝑅</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m:t>
                    </m:r>
                  </m:oMath>
                </a14:m>
                <a:r>
                  <a:rPr lang="en-US" dirty="0">
                    <a:latin typeface="Times New Roman" pitchFamily="18" charset="0"/>
                    <a:cs typeface="Times New Roman" pitchFamily="18" charset="0"/>
                  </a:rPr>
                  <a:t>  </a:t>
                </a:r>
              </a:p>
              <a:p>
                <a:pPr algn="ctr">
                  <a:buNone/>
                  <a:defRPr/>
                </a:pPr>
                <a:endParaRPr lang="en-US" dirty="0">
                  <a:latin typeface="Times New Roman" pitchFamily="18" charset="0"/>
                  <a:cs typeface="Times New Roman" pitchFamily="18" charset="0"/>
                </a:endParaRPr>
              </a:p>
              <a:p>
                <a:pPr>
                  <a:buNone/>
                  <a:defRPr/>
                </a:pPr>
                <a:r>
                  <a:rPr lang="en-US" dirty="0">
                    <a:latin typeface="Times New Roman" pitchFamily="18" charset="0"/>
                    <a:cs typeface="Times New Roman" pitchFamily="18" charset="0"/>
                  </a:rPr>
                  <a:t>where  in a Main study/External reliability study (MS/ERS), the main study consists of</a:t>
                </a:r>
              </a:p>
              <a:p>
                <a:pPr>
                  <a:buNone/>
                  <a:defRPr/>
                </a:pPr>
                <a:endParaRPr lang="en-US" dirty="0">
                  <a:latin typeface="Times New Roman" pitchFamily="18" charset="0"/>
                  <a:cs typeface="Times New Roman" pitchFamily="18" charset="0"/>
                </a:endParaRPr>
              </a:p>
              <a:p>
                <a:pPr>
                  <a:buNone/>
                  <a:defRPr/>
                </a:pPr>
                <a:r>
                  <a:rPr lang="en-US" dirty="0">
                    <a:latin typeface="Times New Roman" pitchFamily="18" charset="0"/>
                    <a:cs typeface="Times New Roman" pitchFamily="18" charset="0"/>
                  </a:rPr>
                  <a:t>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𝐷</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r>
                          <a:rPr lang="en-US" i="1" smtClean="0">
                            <a:solidFill>
                              <a:srgbClr val="FF0000"/>
                            </a:solidFill>
                            <a:latin typeface="Cambria Math" panose="02040503050406030204" pitchFamily="18" charset="0"/>
                            <a:cs typeface="Times New Roman" pitchFamily="18" charset="0"/>
                          </a:rPr>
                          <m:t>1</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the external reliability study consists of </a:t>
                </a:r>
              </a:p>
              <a:p>
                <a:pPr>
                  <a:buNone/>
                  <a:defRPr/>
                </a:pPr>
                <a:endParaRPr lang="en-US" dirty="0">
                  <a:latin typeface="Times New Roman" pitchFamily="18" charset="0"/>
                  <a:cs typeface="Times New Roman" pitchFamily="18" charset="0"/>
                </a:endParaRP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r>
                      <a:rPr lang="en-US" b="0" i="1" smtClean="0">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𝑛</m:t>
                        </m:r>
                      </m:e>
                      <m:sub>
                        <m:r>
                          <a:rPr lang="en-US" b="0" i="1" smtClean="0">
                            <a:latin typeface="Cambria Math" panose="02040503050406030204" pitchFamily="18" charset="0"/>
                            <a:cs typeface="Times New Roman" pitchFamily="18" charset="0"/>
                          </a:rPr>
                          <m:t>𝑅</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 </m:t>
                    </m:r>
                  </m:oMath>
                </a14:m>
                <a:endParaRPr lang="en-US" dirty="0">
                  <a:solidFill>
                    <a:srgbClr val="000000"/>
                  </a:solidFill>
                  <a:latin typeface="Cambria Math" panose="02040503050406030204" pitchFamily="18" charset="0"/>
                </a:endParaRPr>
              </a:p>
              <a:p>
                <a:pPr algn="ctr">
                  <a:buNone/>
                  <a:defRPr/>
                </a:pPr>
                <a:endParaRPr lang="en-US" dirty="0">
                  <a:solidFill>
                    <a:srgbClr val="000000"/>
                  </a:solidFill>
                  <a:latin typeface="Cambria Math" panose="02040503050406030204" pitchFamily="18" charset="0"/>
                </a:endParaRPr>
              </a:p>
              <a:p>
                <a:pPr>
                  <a:buNone/>
                  <a:defRPr/>
                </a:pPr>
                <a14:m>
                  <m:oMath xmlns:m="http://schemas.openxmlformats.org/officeDocument/2006/math">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sSubSup>
                      <m:sSubSupPr>
                        <m:ctrlPr>
                          <a:rPr lang="en-US" i="1" smtClean="0">
                            <a:solidFill>
                              <a:srgbClr val="000000"/>
                            </a:solidFill>
                            <a:latin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cs typeface="Times New Roman" pitchFamily="18" charset="0"/>
                          </a:rPr>
                          <m:t>𝜌</m:t>
                        </m:r>
                      </m:e>
                      <m:sub>
                        <m:r>
                          <a:rPr lang="en-US" b="0" i="1" smtClean="0">
                            <a:solidFill>
                              <a:srgbClr val="000000"/>
                            </a:solidFill>
                            <a:latin typeface="Cambria Math" panose="02040503050406030204" pitchFamily="18" charset="0"/>
                          </a:rPr>
                          <m:t>𝐼</m:t>
                        </m:r>
                      </m:sub>
                      <m:sup>
                        <m:r>
                          <a:rPr lang="en-US" b="0" i="1" smtClean="0">
                            <a:solidFill>
                              <a:srgbClr val="000000"/>
                            </a:solidFill>
                            <a:latin typeface="Cambria Math" panose="02040503050406030204" pitchFamily="18" charset="0"/>
                          </a:rPr>
                          <m:t>2</m:t>
                        </m:r>
                      </m:sup>
                    </m:sSubSup>
                  </m:oMath>
                </a14:m>
                <a:r>
                  <a:rPr lang="en-US" dirty="0">
                    <a:latin typeface="Times New Roman" pitchFamily="18" charset="0"/>
                    <a:cs typeface="Times New Roman" pitchFamily="18" charset="0"/>
                  </a:rPr>
                  <a:t>=Corr</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sSup>
                          <m:sSupPr>
                            <m:ctrlPr>
                              <a:rPr lang="en-US" i="1">
                                <a:latin typeface="Cambria Math" panose="02040503050406030204" pitchFamily="18" charset="0"/>
                                <a:cs typeface="Times New Roman" pitchFamily="18" charset="0"/>
                              </a:rPr>
                            </m:ctrlPr>
                          </m:sSupPr>
                          <m:e>
                            <m:r>
                              <a:rPr lang="en-US" i="1">
                                <a:latin typeface="Cambria Math" panose="02040503050406030204" pitchFamily="18" charset="0"/>
                                <a:cs typeface="Times New Roman" pitchFamily="18" charset="0"/>
                              </a:rPr>
                              <m:t>𝑗</m:t>
                            </m:r>
                          </m:e>
                          <m:sup>
                            <m:r>
                              <a:rPr lang="en-US" i="1">
                                <a:latin typeface="Cambria Math" panose="02040503050406030204" pitchFamily="18" charset="0"/>
                                <a:cs typeface="Times New Roman" pitchFamily="18" charset="0"/>
                              </a:rPr>
                              <m:t>′</m:t>
                            </m:r>
                          </m:sup>
                        </m:sSup>
                      </m:sub>
                    </m:sSub>
                  </m:oMath>
                </a14:m>
                <a:r>
                  <a:rPr lang="en-US" dirty="0">
                    <a:latin typeface="Times New Roman" pitchFamily="18" charset="0"/>
                    <a:cs typeface="Times New Roman" pitchFamily="18" charset="0"/>
                  </a:rPr>
                  <a:t>) characterizes the extent of measurement error in the data. </a:t>
                </a:r>
              </a:p>
              <a:p>
                <a:pPr>
                  <a:buNone/>
                  <a:defRPr/>
                </a:pPr>
                <a:r>
                  <a:rPr lang="en-US" dirty="0">
                    <a:latin typeface="Times New Roman" pitchFamily="18" charset="0"/>
                    <a:cs typeface="Times New Roman" pitchFamily="18" charset="0"/>
                  </a:rPr>
                  <a:t>In a MS/Internal (I) RS reliability study, the internal reliability study consist of</a:t>
                </a:r>
              </a:p>
              <a:p>
                <a:pPr algn="ctr">
                  <a:buNone/>
                  <a:defRPr/>
                </a:pPr>
                <a:r>
                  <a:rPr lang="en-US" dirty="0">
                    <a:latin typeface="Times New Roman" pitchFamily="18" charset="0"/>
                    <a:cs typeface="Times New Roman" pitchFamily="18" charset="0"/>
                  </a:rPr>
                  <a:t>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𝑌</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b="0" i="1" smtClean="0">
                            <a:latin typeface="Cambria Math" panose="02040503050406030204" pitchFamily="18" charset="0"/>
                            <a:cs typeface="Times New Roman" pitchFamily="18" charset="0"/>
                          </a:rPr>
                          <m:t>𝑅</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a14:m>
                <a:endParaRPr lang="en-US" dirty="0"/>
              </a:p>
            </p:txBody>
          </p:sp>
        </mc:Choice>
        <mc:Fallback>
          <p:sp>
            <p:nvSpPr>
              <p:cNvPr id="12" name="Content Placeholder 11">
                <a:extLst>
                  <a:ext uri="{FF2B5EF4-FFF2-40B4-BE49-F238E27FC236}">
                    <a16:creationId xmlns:a16="http://schemas.microsoft.com/office/drawing/2014/main" id="{FAFCB2AE-12A2-9A3D-888C-3BF367FD1E36}"/>
                  </a:ext>
                </a:extLst>
              </p:cNvPr>
              <p:cNvSpPr>
                <a:spLocks noGrp="1" noRot="1" noChangeAspect="1" noMove="1" noResize="1" noEditPoints="1" noAdjustHandles="1" noChangeArrowheads="1" noChangeShapeType="1" noTextEdit="1"/>
              </p:cNvSpPr>
              <p:nvPr>
                <p:ph sz="half" idx="1"/>
              </p:nvPr>
            </p:nvSpPr>
            <p:spPr>
              <a:xfrm>
                <a:off x="304800" y="1263888"/>
                <a:ext cx="11816862" cy="5092461"/>
              </a:xfrm>
              <a:blipFill>
                <a:blip r:embed="rId4"/>
                <a:stretch>
                  <a:fillRect l="-671" t="-2512"/>
                </a:stretch>
              </a:blipFill>
            </p:spPr>
            <p:txBody>
              <a:bodyPr/>
              <a:lstStyle/>
              <a:p>
                <a:r>
                  <a:rPr lang="en-US">
                    <a:noFill/>
                  </a:rPr>
                  <a:t> </a:t>
                </a:r>
              </a:p>
            </p:txBody>
          </p:sp>
        </mc:Fallback>
      </mc:AlternateContent>
    </p:spTree>
    <p:extLst>
      <p:ext uri="{BB962C8B-B14F-4D97-AF65-F5344CB8AC3E}">
        <p14:creationId xmlns:p14="http://schemas.microsoft.com/office/powerpoint/2010/main" val="41036904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7E988DF-6941-A93C-A4EA-F1BE425BB924}"/>
              </a:ext>
            </a:extLst>
          </p:cNvPr>
          <p:cNvPicPr>
            <a:picLocks noChangeAspect="1"/>
          </p:cNvPicPr>
          <p:nvPr/>
        </p:nvPicPr>
        <p:blipFill>
          <a:blip r:embed="rId3"/>
          <a:stretch>
            <a:fillRect/>
          </a:stretch>
        </p:blipFill>
        <p:spPr>
          <a:xfrm>
            <a:off x="3410712" y="2995843"/>
            <a:ext cx="4268511" cy="754722"/>
          </a:xfrm>
          <a:prstGeom prst="rect">
            <a:avLst/>
          </a:prstGeom>
        </p:spPr>
      </p:pic>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Empirical estimates of measurement error from Harvard’s Nurses’ Health Study 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59EE0A-3B85-6A59-3FF5-1BFF863DD740}"/>
                  </a:ext>
                </a:extLst>
              </p:cNvPr>
              <p:cNvSpPr txBox="1"/>
              <p:nvPr/>
            </p:nvSpPr>
            <p:spPr>
              <a:xfrm>
                <a:off x="0" y="1263888"/>
                <a:ext cx="12079224" cy="7017306"/>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Alcohol intake (g/day),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oMath>
                </a14:m>
                <a:r>
                  <a:rPr lang="en-US" sz="2400" dirty="0">
                    <a:latin typeface="Arial" panose="020B0604020202020204" pitchFamily="34" charset="0"/>
                    <a:cs typeface="Arial" panose="020B0604020202020204" pitchFamily="34" charset="0"/>
                  </a:rPr>
                  <a:t>= g/day of alcohol intake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oMath>
                </a14:m>
                <a:r>
                  <a:rPr lang="en-US" sz="2400" dirty="0">
                    <a:latin typeface="Arial" panose="020B0604020202020204" pitchFamily="34" charset="0"/>
                    <a:cs typeface="Arial" panose="020B0604020202020204" pitchFamily="34" charset="0"/>
                  </a:rPr>
                  <a:t>= g/day of alcohol intake from the food frequency, asking</a:t>
                </a:r>
              </a:p>
              <a:p>
                <a:pPr lvl="1"/>
                <a:r>
                  <a:rPr lang="en-US" sz="2400" dirty="0">
                    <a:latin typeface="Arial" panose="020B0604020202020204" pitchFamily="34" charset="0"/>
                    <a:cs typeface="Arial" panose="020B0604020202020204" pitchFamily="34" charset="0"/>
                  </a:rPr>
                  <a:t>usual frequency of consumption of beer, wine and liquor of the past year        </a:t>
                </a:r>
              </a:p>
              <a:p>
                <a:endParaRPr lang="en-US" sz="3000" dirty="0">
                  <a:latin typeface="Arial" panose="020B0604020202020204" pitchFamily="34" charset="0"/>
                  <a:cs typeface="Arial" panose="020B0604020202020204" pitchFamily="34" charset="0"/>
                </a:endParaRPr>
              </a:p>
              <a:p>
                <a:endParaRPr lang="en-US" sz="3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Calories from fat (fat density)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food frequency, adding up fat calories expected from the frequency of each of 121 foods, time the standard portion size for each, times the fat content (g/day) of each food intake, divided by similar for total calories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endParaRPr lang="en-US" sz="3000"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B659EE0A-3B85-6A59-3FF5-1BFF863DD740}"/>
                  </a:ext>
                </a:extLst>
              </p:cNvPr>
              <p:cNvSpPr txBox="1">
                <a:spLocks noRot="1" noChangeAspect="1" noMove="1" noResize="1" noEditPoints="1" noAdjustHandles="1" noChangeArrowheads="1" noChangeShapeType="1" noTextEdit="1"/>
              </p:cNvSpPr>
              <p:nvPr/>
            </p:nvSpPr>
            <p:spPr>
              <a:xfrm>
                <a:off x="0" y="1263888"/>
                <a:ext cx="12079224" cy="7017306"/>
              </a:xfrm>
              <a:prstGeom prst="rect">
                <a:avLst/>
              </a:prstGeom>
              <a:blipFill>
                <a:blip r:embed="rId5"/>
                <a:stretch>
                  <a:fillRect l="-1160" t="-1129" r="-116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12F7FDD-4A26-4789-E350-B2F0AE191C4D}"/>
              </a:ext>
            </a:extLst>
          </p:cNvPr>
          <p:cNvSpPr txBox="1"/>
          <p:nvPr/>
        </p:nvSpPr>
        <p:spPr>
          <a:xfrm>
            <a:off x="9098280" y="6281928"/>
            <a:ext cx="2493055" cy="646331"/>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Willett et al, AJE, 1985</a:t>
            </a:r>
          </a:p>
          <a:p>
            <a:endParaRPr lang="en-US" dirty="0"/>
          </a:p>
        </p:txBody>
      </p:sp>
      <p:pic>
        <p:nvPicPr>
          <p:cNvPr id="3" name="Picture 2">
            <a:extLst>
              <a:ext uri="{FF2B5EF4-FFF2-40B4-BE49-F238E27FC236}">
                <a16:creationId xmlns:a16="http://schemas.microsoft.com/office/drawing/2014/main" id="{4184E59E-4745-446D-4B83-EA4B55715BD1}"/>
              </a:ext>
            </a:extLst>
          </p:cNvPr>
          <p:cNvPicPr>
            <a:picLocks noChangeAspect="1"/>
          </p:cNvPicPr>
          <p:nvPr/>
        </p:nvPicPr>
        <p:blipFill>
          <a:blip r:embed="rId6"/>
          <a:stretch>
            <a:fillRect/>
          </a:stretch>
        </p:blipFill>
        <p:spPr>
          <a:xfrm>
            <a:off x="4443569" y="6310550"/>
            <a:ext cx="4394379" cy="766280"/>
          </a:xfrm>
          <a:prstGeom prst="rect">
            <a:avLst/>
          </a:prstGeom>
        </p:spPr>
      </p:pic>
      <p:sp>
        <p:nvSpPr>
          <p:cNvPr id="4" name="Slide Number Placeholder 3">
            <a:extLst>
              <a:ext uri="{FF2B5EF4-FFF2-40B4-BE49-F238E27FC236}">
                <a16:creationId xmlns:a16="http://schemas.microsoft.com/office/drawing/2014/main" id="{F871DB0F-1F1C-5B77-BBB0-8A2A3638B9AB}"/>
              </a:ext>
            </a:extLst>
          </p:cNvPr>
          <p:cNvSpPr>
            <a:spLocks noGrp="1"/>
          </p:cNvSpPr>
          <p:nvPr>
            <p:ph type="sldNum" sz="quarter" idx="12"/>
          </p:nvPr>
        </p:nvSpPr>
        <p:spPr/>
        <p:txBody>
          <a:bodyPr/>
          <a:lstStyle/>
          <a:p>
            <a:fld id="{77C6A7FE-225D-49F1-B302-AA37EA92BB49}" type="slidenum">
              <a:rPr lang="en-US" smtClean="0"/>
              <a:t>11</a:t>
            </a:fld>
            <a:endParaRPr lang="en-US"/>
          </a:p>
        </p:txBody>
      </p:sp>
    </p:spTree>
    <p:extLst>
      <p:ext uri="{BB962C8B-B14F-4D97-AF65-F5344CB8AC3E}">
        <p14:creationId xmlns:p14="http://schemas.microsoft.com/office/powerpoint/2010/main" val="183436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p:txBody>
          <a:bodyPr>
            <a:normAutofit/>
          </a:bodyPr>
          <a:lstStyle/>
          <a:p>
            <a:pPr marL="0" indent="0">
              <a:buNone/>
            </a:pPr>
            <a:r>
              <a:rPr lang="en-US" dirty="0"/>
              <a:t>A quick look at what we know about measurement error in chronic disease risk factors other than diet</a:t>
            </a:r>
          </a:p>
          <a:p>
            <a:pPr marL="0" indent="0">
              <a:buNone/>
            </a:pPr>
            <a:endParaRPr lang="en-US" dirty="0"/>
          </a:p>
          <a:p>
            <a:pPr marL="0" indent="0">
              <a:buNone/>
            </a:pPr>
            <a:r>
              <a:rPr lang="en-US" dirty="0"/>
              <a:t>Goal: Permit direct correction for measurement error eliminating the issue of measurement error bias </a:t>
            </a:r>
          </a:p>
          <a:p>
            <a:pPr marL="0" indent="0">
              <a:buNone/>
            </a:pPr>
            <a:endParaRPr lang="en-US" dirty="0"/>
          </a:p>
        </p:txBody>
      </p:sp>
      <p:sp>
        <p:nvSpPr>
          <p:cNvPr id="2" name="Slide Number Placeholder 1">
            <a:extLst>
              <a:ext uri="{FF2B5EF4-FFF2-40B4-BE49-F238E27FC236}">
                <a16:creationId xmlns:a16="http://schemas.microsoft.com/office/drawing/2014/main" id="{111A84F8-79AE-5E26-80EA-4958E9144155}"/>
              </a:ext>
            </a:extLst>
          </p:cNvPr>
          <p:cNvSpPr>
            <a:spLocks noGrp="1"/>
          </p:cNvSpPr>
          <p:nvPr>
            <p:ph type="sldNum" sz="quarter" idx="12"/>
          </p:nvPr>
        </p:nvSpPr>
        <p:spPr/>
        <p:txBody>
          <a:bodyPr/>
          <a:lstStyle/>
          <a:p>
            <a:fld id="{77C6A7FE-225D-49F1-B302-AA37EA92BB49}" type="slidenum">
              <a:rPr lang="en-US" smtClean="0"/>
              <a:t>12</a:t>
            </a:fld>
            <a:endParaRPr lang="en-US"/>
          </a:p>
        </p:txBody>
      </p:sp>
    </p:spTree>
    <p:extLst>
      <p:ext uri="{BB962C8B-B14F-4D97-AF65-F5344CB8AC3E}">
        <p14:creationId xmlns:p14="http://schemas.microsoft.com/office/powerpoint/2010/main" val="195509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bias in estimating effects of interest</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99060" y="1402080"/>
                <a:ext cx="11856720" cy="5128260"/>
              </a:xfrm>
            </p:spPr>
            <p:txBody>
              <a:bodyPr>
                <a:normAutofit fontScale="62500" lnSpcReduction="20000"/>
              </a:bodyPr>
              <a:lstStyle/>
              <a:p>
                <a:pPr>
                  <a:buFont typeface="Wingdings" panose="05000000000000000000" pitchFamily="2" charset="2"/>
                  <a:buChar char="Ø"/>
                </a:pPr>
                <a:r>
                  <a:rPr lang="en-US" sz="3600" dirty="0"/>
                  <a:t>BMI – risk factor for many cancers, CVD, T2D – Measured very well –</a:t>
                </a:r>
                <a14:m>
                  <m:oMath xmlns:m="http://schemas.openxmlformats.org/officeDocument/2006/math">
                    <m:r>
                      <a:rPr lang="en-US" sz="3600" i="1" dirty="0">
                        <a:latin typeface="Cambria Math" panose="02040503050406030204" pitchFamily="18" charset="0"/>
                      </a:rPr>
                      <m:t>𝐶𝑜𝑟𝑟</m:t>
                    </m:r>
                    <m:r>
                      <a:rPr lang="en-US" sz="3600" i="1" dirty="0">
                        <a:latin typeface="Cambria Math" panose="02040503050406030204" pitchFamily="18" charset="0"/>
                      </a:rPr>
                      <m:t> </m:t>
                    </m:r>
                    <m:d>
                      <m:dPr>
                        <m:ctrlPr>
                          <a:rPr lang="en-US" sz="3600" i="1" dirty="0">
                            <a:latin typeface="Cambria Math" panose="02040503050406030204" pitchFamily="18" charset="0"/>
                          </a:rPr>
                        </m:ctrlPr>
                      </m:dPr>
                      <m:e>
                        <m:r>
                          <a:rPr lang="en-US" sz="3600" i="1" dirty="0">
                            <a:latin typeface="Cambria Math" panose="02040503050406030204" pitchFamily="18" charset="0"/>
                          </a:rPr>
                          <m:t>𝑋</m:t>
                        </m:r>
                        <m:r>
                          <a:rPr lang="en-US" sz="3600" i="1" dirty="0">
                            <a:latin typeface="Cambria Math" panose="02040503050406030204" pitchFamily="18" charset="0"/>
                          </a:rPr>
                          <m:t>,</m:t>
                        </m:r>
                        <m:r>
                          <a:rPr lang="en-US" sz="3600" i="1" dirty="0">
                            <a:latin typeface="Cambria Math" panose="02040503050406030204" pitchFamily="18" charset="0"/>
                          </a:rPr>
                          <m:t>𝑍</m:t>
                        </m:r>
                      </m:e>
                    </m:d>
                  </m:oMath>
                </a14:m>
                <a:r>
                  <a:rPr lang="en-US" sz="3600" dirty="0"/>
                  <a:t>≈0.9 using DXA (NHANES, Qi Sun et al, AJE 2010. Similar in NHS, HPFS.</a:t>
                </a:r>
              </a:p>
              <a:p>
                <a:pPr lvl="1"/>
                <a:r>
                  <a:rPr lang="en-US" sz="3600" dirty="0"/>
                  <a:t>Tricky because BMI could be a mediator on the pathway between diet and health, but is also a strong indicator of healthy/unhealthy lifestyle</a:t>
                </a:r>
              </a:p>
              <a:p>
                <a:pPr>
                  <a:buFont typeface="Wingdings" panose="05000000000000000000" pitchFamily="2" charset="2"/>
                  <a:buChar char="Ø"/>
                </a:pPr>
                <a:endParaRPr lang="en-US" sz="3600" dirty="0"/>
              </a:p>
              <a:p>
                <a:pPr>
                  <a:buFont typeface="Wingdings" panose="05000000000000000000" pitchFamily="2" charset="2"/>
                  <a:buChar char="Ø"/>
                </a:pPr>
                <a:r>
                  <a:rPr lang="en-US" sz="3600" dirty="0"/>
                  <a:t>Dietary factors when interest is in one – moderate risk factor for CVD, T2D, some cancers – moderate measurement error – scores of validation studies have been conducted</a:t>
                </a:r>
              </a:p>
              <a:p>
                <a:pPr marL="0" indent="0">
                  <a:buNone/>
                </a:pPr>
                <a:r>
                  <a:rPr lang="en-US" sz="3600" dirty="0"/>
                  <a:t>	</a:t>
                </a:r>
              </a:p>
              <a:p>
                <a:pPr>
                  <a:buFont typeface="Wingdings" panose="05000000000000000000" pitchFamily="2" charset="2"/>
                  <a:buChar char="Ø"/>
                </a:pPr>
                <a:r>
                  <a:rPr lang="en-US" sz="3600" dirty="0"/>
                  <a:t>Alcohol intake – risk factor for some cancers, and at high doses for CVD and T2D – measured very well, </a:t>
                </a:r>
                <a14:m>
                  <m:oMath xmlns:m="http://schemas.openxmlformats.org/officeDocument/2006/math">
                    <m:r>
                      <a:rPr lang="en-US" sz="3600" i="1" dirty="0">
                        <a:latin typeface="Cambria Math" panose="02040503050406030204" pitchFamily="18" charset="0"/>
                      </a:rPr>
                      <m:t>𝐶𝑜𝑟𝑟</m:t>
                    </m:r>
                    <m:r>
                      <a:rPr lang="en-US" sz="3600" i="1" dirty="0">
                        <a:latin typeface="Cambria Math" panose="02040503050406030204" pitchFamily="18" charset="0"/>
                      </a:rPr>
                      <m:t> </m:t>
                    </m:r>
                    <m:d>
                      <m:dPr>
                        <m:ctrlPr>
                          <a:rPr lang="en-US" sz="3600" i="1" dirty="0">
                            <a:latin typeface="Cambria Math" panose="02040503050406030204" pitchFamily="18" charset="0"/>
                          </a:rPr>
                        </m:ctrlPr>
                      </m:dPr>
                      <m:e>
                        <m:r>
                          <a:rPr lang="en-US" sz="3600" i="1" dirty="0">
                            <a:latin typeface="Cambria Math" panose="02040503050406030204" pitchFamily="18" charset="0"/>
                          </a:rPr>
                          <m:t>𝑋</m:t>
                        </m:r>
                        <m:r>
                          <a:rPr lang="en-US" sz="3600" i="1" dirty="0">
                            <a:latin typeface="Cambria Math" panose="02040503050406030204" pitchFamily="18" charset="0"/>
                          </a:rPr>
                          <m:t>,</m:t>
                        </m:r>
                        <m:r>
                          <a:rPr lang="en-US" sz="3600" i="1" dirty="0">
                            <a:latin typeface="Cambria Math" panose="02040503050406030204" pitchFamily="18" charset="0"/>
                          </a:rPr>
                          <m:t>𝑍</m:t>
                        </m:r>
                      </m:e>
                    </m:d>
                  </m:oMath>
                </a14:m>
                <a:r>
                  <a:rPr lang="en-US" sz="3600" dirty="0"/>
                  <a:t>≈0.85 in NHS for example</a:t>
                </a:r>
              </a:p>
              <a:p>
                <a:pPr>
                  <a:buFont typeface="Wingdings" panose="05000000000000000000" pitchFamily="2" charset="2"/>
                  <a:buChar char="Ø"/>
                </a:pPr>
                <a:endParaRPr lang="en-US" sz="3600" dirty="0"/>
              </a:p>
              <a:p>
                <a:pPr>
                  <a:buFont typeface="Wingdings" panose="05000000000000000000" pitchFamily="2" charset="2"/>
                  <a:buChar char="Ø"/>
                </a:pPr>
                <a:r>
                  <a:rPr lang="en-US" sz="3600" dirty="0"/>
                  <a:t>Physical activity – risk factor for a few cancers, CVD, T2D</a:t>
                </a:r>
              </a:p>
              <a:p>
                <a:pPr lvl="1"/>
                <a:r>
                  <a:rPr lang="en-US" sz="3600" dirty="0"/>
                  <a:t> </a:t>
                </a:r>
                <a14:m>
                  <m:oMath xmlns:m="http://schemas.openxmlformats.org/officeDocument/2006/math">
                    <m:sSub>
                      <m:sSubPr>
                        <m:ctrlPr>
                          <a:rPr lang="en-US" sz="3600" i="1" dirty="0" smtClean="0">
                            <a:latin typeface="Cambria Math" panose="02040503050406030204" pitchFamily="18" charset="0"/>
                          </a:rPr>
                        </m:ctrlPr>
                      </m:sSubPr>
                      <m:e>
                        <m:r>
                          <a:rPr lang="en-US" sz="3600" i="1" dirty="0">
                            <a:latin typeface="Cambria Math" panose="02040503050406030204" pitchFamily="18" charset="0"/>
                          </a:rPr>
                          <m:t>𝐶𝑜𝑟𝑟</m:t>
                        </m:r>
                        <m:r>
                          <a:rPr lang="en-US" sz="3600" i="1" dirty="0">
                            <a:latin typeface="Cambria Math" panose="02040503050406030204" pitchFamily="18" charset="0"/>
                          </a:rPr>
                          <m:t> </m:t>
                        </m:r>
                        <m:d>
                          <m:dPr>
                            <m:ctrlPr>
                              <a:rPr lang="en-US" sz="3600" i="1" dirty="0">
                                <a:latin typeface="Cambria Math" panose="02040503050406030204" pitchFamily="18" charset="0"/>
                              </a:rPr>
                            </m:ctrlPr>
                          </m:dPr>
                          <m:e>
                            <m:r>
                              <a:rPr lang="en-US" sz="3600" i="1" dirty="0">
                                <a:latin typeface="Cambria Math" panose="02040503050406030204" pitchFamily="18" charset="0"/>
                              </a:rPr>
                              <m:t>𝑋</m:t>
                            </m:r>
                            <m:r>
                              <a:rPr lang="en-US" sz="3600" i="1" dirty="0">
                                <a:latin typeface="Cambria Math" panose="02040503050406030204" pitchFamily="18" charset="0"/>
                              </a:rPr>
                              <m:t>,</m:t>
                            </m:r>
                            <m:r>
                              <a:rPr lang="en-US" sz="3600" i="1" dirty="0">
                                <a:latin typeface="Cambria Math" panose="02040503050406030204" pitchFamily="18" charset="0"/>
                              </a:rPr>
                              <m:t>𝑍</m:t>
                            </m:r>
                          </m:e>
                        </m:d>
                      </m:e>
                      <m:sub>
                        <m:r>
                          <a:rPr lang="en-US" sz="3600" b="0" i="1" dirty="0" smtClean="0">
                            <a:latin typeface="Cambria Math" panose="02040503050406030204" pitchFamily="18" charset="0"/>
                          </a:rPr>
                          <m:t>𝐼</m:t>
                        </m:r>
                      </m:sub>
                    </m:sSub>
                  </m:oMath>
                </a14:m>
                <a:r>
                  <a:rPr lang="en-US" sz="3600" dirty="0"/>
                  <a:t>=0.6 - 0.7 with records or recalls, deattenuated, depending on which aspect of physical activity in NHS, HPFS</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99060" y="1402080"/>
                <a:ext cx="11856720" cy="5128260"/>
              </a:xfrm>
              <a:blipFill>
                <a:blip r:embed="rId4"/>
                <a:stretch>
                  <a:fillRect l="-617" t="-2497" r="-25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E8BB9CB-5672-77C9-7BC4-0DBE174CA5FD}"/>
              </a:ext>
            </a:extLst>
          </p:cNvPr>
          <p:cNvSpPr>
            <a:spLocks noGrp="1"/>
          </p:cNvSpPr>
          <p:nvPr>
            <p:ph type="sldNum" sz="quarter" idx="12"/>
          </p:nvPr>
        </p:nvSpPr>
        <p:spPr/>
        <p:txBody>
          <a:bodyPr/>
          <a:lstStyle/>
          <a:p>
            <a:fld id="{77C6A7FE-225D-49F1-B302-AA37EA92BB49}" type="slidenum">
              <a:rPr lang="en-US" smtClean="0"/>
              <a:t>13</a:t>
            </a:fld>
            <a:endParaRPr lang="en-US"/>
          </a:p>
        </p:txBody>
      </p:sp>
    </p:spTree>
    <p:extLst>
      <p:ext uri="{BB962C8B-B14F-4D97-AF65-F5344CB8AC3E}">
        <p14:creationId xmlns:p14="http://schemas.microsoft.com/office/powerpoint/2010/main" val="7960197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347785" y="909828"/>
            <a:ext cx="594360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799" y="1078992"/>
            <a:ext cx="10068170" cy="566928"/>
          </a:xfrm>
          <a:prstGeom prst="rect">
            <a:avLst/>
          </a:prstGeom>
          <a:noFill/>
          <a:ln/>
        </p:spPr>
        <p:txBody>
          <a:bodyPr wrap="square" lIns="0" tIns="0" rIns="0" bIns="0" rtlCol="0" anchor="ctr"/>
          <a:lstStyle/>
          <a:p>
            <a:pPr marL="0" indent="0">
              <a:buNone/>
            </a:pPr>
            <a:r>
              <a:rPr lang="en-US" sz="2400" b="1" dirty="0">
                <a:solidFill>
                  <a:srgbClr val="00356A"/>
                </a:solidFill>
                <a:latin typeface="Cambria" pitchFamily="34" charset="0"/>
                <a:ea typeface="Cambria" pitchFamily="34" charset="-122"/>
                <a:cs typeface="Cambria" pitchFamily="34" charset="-120"/>
              </a:rPr>
              <a:t>Examples of Nutrient and Food  Intake Validation Studies</a:t>
            </a:r>
            <a:endParaRPr lang="en-US" sz="2400" dirty="0"/>
          </a:p>
        </p:txBody>
      </p:sp>
      <p:sp>
        <p:nvSpPr>
          <p:cNvPr id="7" name="Text 5"/>
          <p:cNvSpPr/>
          <p:nvPr/>
        </p:nvSpPr>
        <p:spPr>
          <a:xfrm>
            <a:off x="457200"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 </a:t>
            </a:r>
            <a:r>
              <a:rPr lang="en-US" sz="1000" dirty="0">
                <a:solidFill>
                  <a:srgbClr val="262626"/>
                </a:solidFill>
                <a:latin typeface="Calibri" pitchFamily="34" charset="0"/>
                <a:ea typeface="Calibri" pitchFamily="34" charset="-122"/>
                <a:cs typeface="Calibri" pitchFamily="34" charset="-120"/>
              </a:rPr>
              <a:t>Eke et al. A Validation Study Comparing Energy and Nutrient Intake Between a Web-Based Food Frequency Questionnaire and a 4-Day Dietary Record. Nutrition, 2024.</a:t>
            </a:r>
            <a:endParaRPr lang="en-US" sz="1000" dirty="0"/>
          </a:p>
        </p:txBody>
      </p:sp>
      <p:sp>
        <p:nvSpPr>
          <p:cNvPr id="8" name="Text 6"/>
          <p:cNvSpPr/>
          <p:nvPr/>
        </p:nvSpPr>
        <p:spPr>
          <a:xfrm>
            <a:off x="457200"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 </a:t>
            </a:r>
            <a:r>
              <a:rPr lang="en-US" sz="1000" dirty="0">
                <a:solidFill>
                  <a:srgbClr val="262626"/>
                </a:solidFill>
                <a:latin typeface="Calibri" pitchFamily="34" charset="0"/>
                <a:ea typeface="Calibri" pitchFamily="34" charset="-122"/>
                <a:cs typeface="Calibri" pitchFamily="34" charset="-120"/>
              </a:rPr>
              <a:t>Eghtesad et al. Validity and Reproducibility of a Food Frequency Questionnaire Assessing Food Group Intake in the PERSIAN Cohort Study. Front Nutr, 2023.</a:t>
            </a:r>
            <a:endParaRPr lang="en-US" sz="1000" dirty="0"/>
          </a:p>
        </p:txBody>
      </p:sp>
      <p:sp>
        <p:nvSpPr>
          <p:cNvPr id="9" name="Text 7"/>
          <p:cNvSpPr/>
          <p:nvPr/>
        </p:nvSpPr>
        <p:spPr>
          <a:xfrm>
            <a:off x="457200"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[3] </a:t>
            </a:r>
            <a:r>
              <a:rPr lang="en-US" sz="1000" dirty="0">
                <a:solidFill>
                  <a:srgbClr val="262626"/>
                </a:solidFill>
                <a:latin typeface="Calibri" pitchFamily="34" charset="0"/>
                <a:ea typeface="Calibri" pitchFamily="34" charset="-122"/>
                <a:cs typeface="Calibri" pitchFamily="34" charset="-120"/>
              </a:rPr>
              <a:t>Allam-Ndoul et al. Validity and Reproducibility of a Food Frequency Questionnaire to Assess Macro- and Micronutrient Intake Among Healthy Adult Qataris. Nutrients, 2021.</a:t>
            </a:r>
            <a:endParaRPr lang="en-US" sz="1000" dirty="0"/>
          </a:p>
        </p:txBody>
      </p:sp>
      <p:sp>
        <p:nvSpPr>
          <p:cNvPr id="10" name="Text 8"/>
          <p:cNvSpPr/>
          <p:nvPr/>
        </p:nvSpPr>
        <p:spPr>
          <a:xfrm>
            <a:off x="457200"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[4] </a:t>
            </a:r>
            <a:r>
              <a:rPr lang="en-US" sz="1000" dirty="0">
                <a:solidFill>
                  <a:srgbClr val="262626"/>
                </a:solidFill>
                <a:latin typeface="Calibri" pitchFamily="34" charset="0"/>
                <a:ea typeface="Calibri" pitchFamily="34" charset="-122"/>
                <a:cs typeface="Calibri" pitchFamily="34" charset="-120"/>
              </a:rPr>
              <a:t>Hinojosa-Nogueira et al. Validity and Reproducibility of a Food Frequency Questionnaire to Assess Nutrient Intake of Pregnant Women in Southeast Spain. Nutrients, 2021.</a:t>
            </a:r>
            <a:endParaRPr lang="en-US" sz="1000" dirty="0"/>
          </a:p>
        </p:txBody>
      </p:sp>
      <p:sp>
        <p:nvSpPr>
          <p:cNvPr id="11" name="Text 9"/>
          <p:cNvSpPr/>
          <p:nvPr/>
        </p:nvSpPr>
        <p:spPr>
          <a:xfrm>
            <a:off x="457200"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[5] </a:t>
            </a:r>
            <a:r>
              <a:rPr lang="en-US" sz="1000" dirty="0">
                <a:solidFill>
                  <a:srgbClr val="262626"/>
                </a:solidFill>
                <a:latin typeface="Calibri" pitchFamily="34" charset="0"/>
                <a:ea typeface="Calibri" pitchFamily="34" charset="-122"/>
                <a:cs typeface="Calibri" pitchFamily="34" charset="-120"/>
              </a:rPr>
              <a:t>Marshall et al. Relative Validity and Reproducibility of a Short Food Frequency Questionnaire to Assess Nutrient Intakes of New Zealand Adults. Nutrients, 2020.</a:t>
            </a:r>
            <a:endParaRPr lang="en-US" sz="1000" dirty="0"/>
          </a:p>
        </p:txBody>
      </p:sp>
      <p:sp>
        <p:nvSpPr>
          <p:cNvPr id="12" name="Text 10"/>
          <p:cNvSpPr/>
          <p:nvPr/>
        </p:nvSpPr>
        <p:spPr>
          <a:xfrm>
            <a:off x="457200"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[6] </a:t>
            </a:r>
            <a:r>
              <a:rPr lang="en-US" sz="1000" dirty="0">
                <a:solidFill>
                  <a:srgbClr val="262626"/>
                </a:solidFill>
                <a:latin typeface="Calibri" pitchFamily="34" charset="0"/>
                <a:ea typeface="Calibri" pitchFamily="34" charset="-122"/>
                <a:cs typeface="Calibri" pitchFamily="34" charset="-120"/>
              </a:rPr>
              <a:t>Yuan et al. Relative Validity of Nutrient Intakes Assessed by Questionnaire, 24-Hour Recalls, and Diet Records as Compared With Urinary and Plasma Biomarkers. Am J Epidemiol, 2018.</a:t>
            </a:r>
            <a:endParaRPr lang="en-US" sz="1000" dirty="0"/>
          </a:p>
        </p:txBody>
      </p:sp>
      <p:sp>
        <p:nvSpPr>
          <p:cNvPr id="13" name="Text 11"/>
          <p:cNvSpPr/>
          <p:nvPr/>
        </p:nvSpPr>
        <p:spPr>
          <a:xfrm>
            <a:off x="457200"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[7] </a:t>
            </a:r>
            <a:r>
              <a:rPr lang="en-US" sz="1000" dirty="0">
                <a:solidFill>
                  <a:srgbClr val="262626"/>
                </a:solidFill>
                <a:latin typeface="Calibri" pitchFamily="34" charset="0"/>
                <a:ea typeface="Calibri" pitchFamily="34" charset="-122"/>
                <a:cs typeface="Calibri" pitchFamily="34" charset="-120"/>
              </a:rPr>
              <a:t>Freedman et al. Evaluation of the 24-Hour Recall as a Reference Instrument for Calibrating Self-Report Instruments: Validation Studies Pooling Project. Am J Epidemiol, 2017.</a:t>
            </a:r>
            <a:endParaRPr lang="en-US" sz="1000" dirty="0"/>
          </a:p>
        </p:txBody>
      </p:sp>
      <p:sp>
        <p:nvSpPr>
          <p:cNvPr id="14" name="Text 12"/>
          <p:cNvSpPr/>
          <p:nvPr/>
        </p:nvSpPr>
        <p:spPr>
          <a:xfrm>
            <a:off x="457200"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[8] </a:t>
            </a:r>
            <a:r>
              <a:rPr lang="en-US" sz="1000" dirty="0">
                <a:solidFill>
                  <a:srgbClr val="262626"/>
                </a:solidFill>
                <a:latin typeface="Calibri" pitchFamily="34" charset="0"/>
                <a:ea typeface="Calibri" pitchFamily="34" charset="-122"/>
                <a:cs typeface="Calibri" pitchFamily="34" charset="-120"/>
              </a:rPr>
              <a:t>Yuan et al. Validity of a Dietary Questionnaire Assessed by Comparison With Multiple Weighed Records or 24-Hour Recalls. Am J Epidemiol, 2017.</a:t>
            </a:r>
            <a:endParaRPr lang="en-US" sz="1000" dirty="0"/>
          </a:p>
        </p:txBody>
      </p:sp>
      <p:sp>
        <p:nvSpPr>
          <p:cNvPr id="15" name="Text 13"/>
          <p:cNvSpPr/>
          <p:nvPr/>
        </p:nvSpPr>
        <p:spPr>
          <a:xfrm>
            <a:off x="457200" y="61823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[9] </a:t>
            </a:r>
            <a:r>
              <a:rPr lang="en-US" sz="1000" dirty="0">
                <a:solidFill>
                  <a:srgbClr val="262626"/>
                </a:solidFill>
                <a:latin typeface="Calibri" pitchFamily="34" charset="0"/>
                <a:ea typeface="Calibri" pitchFamily="34" charset="-122"/>
                <a:cs typeface="Calibri" pitchFamily="34" charset="-120"/>
              </a:rPr>
              <a:t>Bassett et al. Validity and Calibration of the FFQ Used in the Melbourne Collaborative Cohort Study. Public Health Nutr, 2016.</a:t>
            </a:r>
            <a:endParaRPr lang="en-US" sz="1000" dirty="0"/>
          </a:p>
        </p:txBody>
      </p:sp>
      <p:sp>
        <p:nvSpPr>
          <p:cNvPr id="16" name="Text 14"/>
          <p:cNvSpPr/>
          <p:nvPr/>
        </p:nvSpPr>
        <p:spPr>
          <a:xfrm>
            <a:off x="4050792"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[10] </a:t>
            </a:r>
            <a:r>
              <a:rPr lang="en-US" sz="1000" dirty="0">
                <a:solidFill>
                  <a:srgbClr val="262626"/>
                </a:solidFill>
                <a:latin typeface="Calibri" pitchFamily="34" charset="0"/>
                <a:ea typeface="Calibri" pitchFamily="34" charset="-122"/>
                <a:cs typeface="Calibri" pitchFamily="34" charset="-120"/>
              </a:rPr>
              <a:t>Horn-Ross et al. Dietary Assessment in the California Teachers Study: Reproducibility and Validity. Cancer Causes Control, 2008.</a:t>
            </a:r>
            <a:endParaRPr lang="en-US" sz="1000" dirty="0"/>
          </a:p>
        </p:txBody>
      </p:sp>
      <p:sp>
        <p:nvSpPr>
          <p:cNvPr id="17" name="Text 15"/>
          <p:cNvSpPr/>
          <p:nvPr/>
        </p:nvSpPr>
        <p:spPr>
          <a:xfrm>
            <a:off x="4050792"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[11] </a:t>
            </a:r>
            <a:r>
              <a:rPr lang="en-US" sz="1000" dirty="0">
                <a:solidFill>
                  <a:srgbClr val="262626"/>
                </a:solidFill>
                <a:latin typeface="Calibri" pitchFamily="34" charset="0"/>
                <a:ea typeface="Calibri" pitchFamily="34" charset="-122"/>
                <a:cs typeface="Calibri" pitchFamily="34" charset="-120"/>
              </a:rPr>
              <a:t>Thompson et al. Performance of a Food Frequency Questionnaire in the NIH-AARP Diet and Health Study. Public Health Nutr, 2008.</a:t>
            </a:r>
            <a:endParaRPr lang="en-US" sz="1000" dirty="0"/>
          </a:p>
        </p:txBody>
      </p:sp>
      <p:sp>
        <p:nvSpPr>
          <p:cNvPr id="18" name="Text 16"/>
          <p:cNvSpPr/>
          <p:nvPr/>
        </p:nvSpPr>
        <p:spPr>
          <a:xfrm>
            <a:off x="4050792"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[12] </a:t>
            </a:r>
            <a:r>
              <a:rPr lang="en-US" sz="1000" dirty="0">
                <a:solidFill>
                  <a:srgbClr val="262626"/>
                </a:solidFill>
                <a:latin typeface="Calibri" pitchFamily="34" charset="0"/>
                <a:ea typeface="Calibri" pitchFamily="34" charset="-122"/>
                <a:cs typeface="Calibri" pitchFamily="34" charset="-120"/>
              </a:rPr>
              <a:t>Villegas et al. Validity and Reproducibility of the FFQ Used in the Shanghai Men's Health Study. Br J Nutr, 2007.</a:t>
            </a:r>
            <a:endParaRPr lang="en-US" sz="1000" dirty="0"/>
          </a:p>
        </p:txBody>
      </p:sp>
      <p:sp>
        <p:nvSpPr>
          <p:cNvPr id="19" name="Text 17"/>
          <p:cNvSpPr/>
          <p:nvPr/>
        </p:nvSpPr>
        <p:spPr>
          <a:xfrm>
            <a:off x="4050792"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[13] </a:t>
            </a:r>
            <a:r>
              <a:rPr lang="en-US" sz="1000" dirty="0">
                <a:solidFill>
                  <a:srgbClr val="262626"/>
                </a:solidFill>
                <a:latin typeface="Calibri" pitchFamily="34" charset="0"/>
                <a:ea typeface="Calibri" pitchFamily="34" charset="-122"/>
                <a:cs typeface="Calibri" pitchFamily="34" charset="-120"/>
              </a:rPr>
              <a:t>Buchowski et al. Development of a Culturally Sensitive FFQ for the Southern Community Cohort Study. Cell Mol Biol, 2003.</a:t>
            </a:r>
            <a:endParaRPr lang="en-US" sz="1000" dirty="0"/>
          </a:p>
        </p:txBody>
      </p:sp>
      <p:sp>
        <p:nvSpPr>
          <p:cNvPr id="20" name="Text 18"/>
          <p:cNvSpPr/>
          <p:nvPr/>
        </p:nvSpPr>
        <p:spPr>
          <a:xfrm>
            <a:off x="4050792"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[14] </a:t>
            </a:r>
            <a:r>
              <a:rPr lang="en-US" sz="1000" dirty="0">
                <a:solidFill>
                  <a:srgbClr val="262626"/>
                </a:solidFill>
                <a:latin typeface="Calibri" pitchFamily="34" charset="0"/>
                <a:ea typeface="Calibri" pitchFamily="34" charset="-122"/>
                <a:cs typeface="Calibri" pitchFamily="34" charset="-120"/>
              </a:rPr>
              <a:t>Hankin et al. Singapore Chinese Health Study: Development, Validation, and Calibration of the FFQ. Nutr Cancer, 2001.</a:t>
            </a:r>
            <a:endParaRPr lang="en-US" sz="1000" dirty="0"/>
          </a:p>
        </p:txBody>
      </p:sp>
      <p:sp>
        <p:nvSpPr>
          <p:cNvPr id="21" name="Text 19"/>
          <p:cNvSpPr/>
          <p:nvPr/>
        </p:nvSpPr>
        <p:spPr>
          <a:xfrm>
            <a:off x="4050792"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[15] </a:t>
            </a:r>
            <a:r>
              <a:rPr lang="en-US" sz="1000" dirty="0">
                <a:solidFill>
                  <a:srgbClr val="262626"/>
                </a:solidFill>
                <a:latin typeface="Calibri" pitchFamily="34" charset="0"/>
                <a:ea typeface="Calibri" pitchFamily="34" charset="-122"/>
                <a:cs typeface="Calibri" pitchFamily="34" charset="-120"/>
              </a:rPr>
              <a:t>Flagg et al. Validation of the ACS CPS-II Nutrition Survey Cohort Food Frequency Questionnaire. Epidemiology, 2000.</a:t>
            </a:r>
            <a:endParaRPr lang="en-US" sz="1000" dirty="0"/>
          </a:p>
        </p:txBody>
      </p:sp>
      <p:sp>
        <p:nvSpPr>
          <p:cNvPr id="22" name="Text 20"/>
          <p:cNvSpPr/>
          <p:nvPr/>
        </p:nvSpPr>
        <p:spPr>
          <a:xfrm>
            <a:off x="4050792"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[16] </a:t>
            </a:r>
            <a:r>
              <a:rPr lang="en-US" sz="1000" dirty="0">
                <a:solidFill>
                  <a:srgbClr val="262626"/>
                </a:solidFill>
                <a:latin typeface="Calibri" pitchFamily="34" charset="0"/>
                <a:ea typeface="Calibri" pitchFamily="34" charset="-122"/>
                <a:cs typeface="Calibri" pitchFamily="34" charset="-120"/>
              </a:rPr>
              <a:t>Byrne et al. Predictors of Dietary Heterocyclic Amine Intake in Three Prospective Cohorts. Cancer Epidemiol Biomarkers Prev, 1998.</a:t>
            </a:r>
            <a:endParaRPr lang="en-US" sz="1000" dirty="0"/>
          </a:p>
        </p:txBody>
      </p:sp>
      <p:sp>
        <p:nvSpPr>
          <p:cNvPr id="23" name="Text 21"/>
          <p:cNvSpPr/>
          <p:nvPr/>
        </p:nvSpPr>
        <p:spPr>
          <a:xfrm>
            <a:off x="4050792"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[17] </a:t>
            </a:r>
            <a:r>
              <a:rPr lang="en-US" sz="1000" dirty="0">
                <a:solidFill>
                  <a:srgbClr val="262626"/>
                </a:solidFill>
                <a:latin typeface="Calibri" pitchFamily="34" charset="0"/>
                <a:ea typeface="Calibri" pitchFamily="34" charset="-122"/>
                <a:cs typeface="Calibri" pitchFamily="34" charset="-120"/>
              </a:rPr>
              <a:t>Garland et al. The Relation Between Dietary Intake and Adipose Tissue Fatty Acid Composition in US Women. Am J Clin Nutr, 1998.</a:t>
            </a:r>
            <a:endParaRPr lang="en-US" sz="1000" dirty="0"/>
          </a:p>
        </p:txBody>
      </p:sp>
      <p:sp>
        <p:nvSpPr>
          <p:cNvPr id="24" name="Text 22"/>
          <p:cNvSpPr/>
          <p:nvPr/>
        </p:nvSpPr>
        <p:spPr>
          <a:xfrm>
            <a:off x="4050792" y="61823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[18] </a:t>
            </a:r>
            <a:r>
              <a:rPr lang="en-US" sz="1000" dirty="0">
                <a:solidFill>
                  <a:srgbClr val="262626"/>
                </a:solidFill>
                <a:latin typeface="Calibri" pitchFamily="34" charset="0"/>
                <a:ea typeface="Calibri" pitchFamily="34" charset="-122"/>
                <a:cs typeface="Calibri" pitchFamily="34" charset="-120"/>
              </a:rPr>
              <a:t>Frazier et al. Reproducibility of Recall of Adolescent Diet: Nurses' Health Study. Cancer Causes Control, 1995.</a:t>
            </a:r>
            <a:endParaRPr lang="en-US" sz="1000" dirty="0"/>
          </a:p>
        </p:txBody>
      </p:sp>
      <p:sp>
        <p:nvSpPr>
          <p:cNvPr id="25" name="Text 23"/>
          <p:cNvSpPr/>
          <p:nvPr/>
        </p:nvSpPr>
        <p:spPr>
          <a:xfrm>
            <a:off x="7644384"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[19] </a:t>
            </a:r>
            <a:r>
              <a:rPr lang="en-US" sz="1000" dirty="0">
                <a:solidFill>
                  <a:srgbClr val="262626"/>
                </a:solidFill>
                <a:latin typeface="Calibri" pitchFamily="34" charset="0"/>
                <a:ea typeface="Calibri" pitchFamily="34" charset="-122"/>
                <a:cs typeface="Calibri" pitchFamily="34" charset="-120"/>
              </a:rPr>
              <a:t>Feskanich et al. Simulated Validation of a Brief Food Frequency Questionnaire. Ann Epidemiol, 1994.</a:t>
            </a:r>
            <a:endParaRPr lang="en-US" sz="1000" dirty="0"/>
          </a:p>
        </p:txBody>
      </p:sp>
      <p:sp>
        <p:nvSpPr>
          <p:cNvPr id="26" name="Text 24"/>
          <p:cNvSpPr/>
          <p:nvPr/>
        </p:nvSpPr>
        <p:spPr>
          <a:xfrm>
            <a:off x="7644384"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[20] </a:t>
            </a:r>
            <a:r>
              <a:rPr lang="en-US" sz="1000" dirty="0">
                <a:solidFill>
                  <a:srgbClr val="262626"/>
                </a:solidFill>
                <a:latin typeface="Calibri" pitchFamily="34" charset="0"/>
                <a:ea typeface="Calibri" pitchFamily="34" charset="-122"/>
                <a:cs typeface="Calibri" pitchFamily="34" charset="-120"/>
              </a:rPr>
              <a:t>Goldbohm et al. Validation of a Dietary Questionnaire Used in a Large Prospective Cohort Study on Diet and Cancer. Eur J Clin Nutr, 1994.</a:t>
            </a:r>
            <a:endParaRPr lang="en-US" sz="1000" dirty="0"/>
          </a:p>
        </p:txBody>
      </p:sp>
      <p:sp>
        <p:nvSpPr>
          <p:cNvPr id="27" name="Text 25"/>
          <p:cNvSpPr/>
          <p:nvPr/>
        </p:nvSpPr>
        <p:spPr>
          <a:xfrm>
            <a:off x="7644384"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[21] </a:t>
            </a:r>
            <a:r>
              <a:rPr lang="en-US" sz="1000" dirty="0">
                <a:solidFill>
                  <a:srgbClr val="262626"/>
                </a:solidFill>
                <a:latin typeface="Calibri" pitchFamily="34" charset="0"/>
                <a:ea typeface="Calibri" pitchFamily="34" charset="-122"/>
                <a:cs typeface="Calibri" pitchFamily="34" charset="-120"/>
              </a:rPr>
              <a:t>Feskanich et al. Reproducibility and Validity of Food Intake Measurements From a Semiquantitative FFQ. J Am Diet Assoc, 1993.</a:t>
            </a:r>
            <a:endParaRPr lang="en-US" sz="1000" dirty="0"/>
          </a:p>
        </p:txBody>
      </p:sp>
      <p:sp>
        <p:nvSpPr>
          <p:cNvPr id="28" name="Text 26"/>
          <p:cNvSpPr/>
          <p:nvPr/>
        </p:nvSpPr>
        <p:spPr>
          <a:xfrm>
            <a:off x="7644384"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[22] </a:t>
            </a:r>
            <a:r>
              <a:rPr lang="en-US" sz="1000" dirty="0">
                <a:solidFill>
                  <a:srgbClr val="262626"/>
                </a:solidFill>
                <a:latin typeface="Calibri" pitchFamily="34" charset="0"/>
                <a:ea typeface="Calibri" pitchFamily="34" charset="-122"/>
                <a:cs typeface="Calibri" pitchFamily="34" charset="-120"/>
              </a:rPr>
              <a:t>Rimm et al. Reproducibility and Validity of an Expanded Semiquantitative FFQ Among Male Health Professionals. Am J Epidemiol, 1992.</a:t>
            </a:r>
            <a:endParaRPr lang="en-US" sz="1000" dirty="0"/>
          </a:p>
        </p:txBody>
      </p:sp>
      <p:sp>
        <p:nvSpPr>
          <p:cNvPr id="29" name="Text 27"/>
          <p:cNvSpPr/>
          <p:nvPr/>
        </p:nvSpPr>
        <p:spPr>
          <a:xfrm>
            <a:off x="7644384"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[23] </a:t>
            </a:r>
            <a:r>
              <a:rPr lang="en-US" sz="1000" dirty="0">
                <a:solidFill>
                  <a:srgbClr val="262626"/>
                </a:solidFill>
                <a:latin typeface="Calibri" pitchFamily="34" charset="0"/>
                <a:ea typeface="Calibri" pitchFamily="34" charset="-122"/>
                <a:cs typeface="Calibri" pitchFamily="34" charset="-120"/>
              </a:rPr>
              <a:t>Romieu et al. Food Predictors of Plasma Beta-Carotene and Alpha-Tocopherol: Validation of a Food Frequency Questionnaire. Am J Epidemiol, 1990.</a:t>
            </a:r>
            <a:endParaRPr lang="en-US" sz="1000" dirty="0"/>
          </a:p>
        </p:txBody>
      </p:sp>
      <p:sp>
        <p:nvSpPr>
          <p:cNvPr id="30" name="Text 28"/>
          <p:cNvSpPr/>
          <p:nvPr/>
        </p:nvSpPr>
        <p:spPr>
          <a:xfrm>
            <a:off x="7644384"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[24] </a:t>
            </a:r>
            <a:r>
              <a:rPr lang="en-US" sz="1000" dirty="0">
                <a:solidFill>
                  <a:srgbClr val="262626"/>
                </a:solidFill>
                <a:latin typeface="Calibri" pitchFamily="34" charset="0"/>
                <a:ea typeface="Calibri" pitchFamily="34" charset="-122"/>
                <a:cs typeface="Calibri" pitchFamily="34" charset="-120"/>
              </a:rPr>
              <a:t>Salvini et al. Food-Based Validation of a Dietary Questionnaire: Effects of Week-to-Week Variation in Food Consumption. Int J Epidemiol, 1989.</a:t>
            </a:r>
            <a:endParaRPr lang="en-US" sz="1000" dirty="0"/>
          </a:p>
        </p:txBody>
      </p:sp>
      <p:sp>
        <p:nvSpPr>
          <p:cNvPr id="31" name="Text 29"/>
          <p:cNvSpPr/>
          <p:nvPr/>
        </p:nvSpPr>
        <p:spPr>
          <a:xfrm>
            <a:off x="7644384"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[25] </a:t>
            </a:r>
            <a:r>
              <a:rPr lang="en-US" sz="1000" dirty="0">
                <a:solidFill>
                  <a:srgbClr val="262626"/>
                </a:solidFill>
                <a:latin typeface="Calibri" pitchFamily="34" charset="0"/>
                <a:ea typeface="Calibri" pitchFamily="34" charset="-122"/>
                <a:cs typeface="Calibri" pitchFamily="34" charset="-120"/>
              </a:rPr>
              <a:t>Willett et al. Reproducibility and Validity of a Semiquantitative Food Frequency Questionnaire. Am J Epidemiol, 1985.</a:t>
            </a:r>
            <a:endParaRPr lang="en-US" sz="1000" dirty="0"/>
          </a:p>
        </p:txBody>
      </p:sp>
      <p:sp>
        <p:nvSpPr>
          <p:cNvPr id="32" name="Text 30"/>
          <p:cNvSpPr/>
          <p:nvPr/>
        </p:nvSpPr>
        <p:spPr>
          <a:xfrm>
            <a:off x="7644384"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[26] </a:t>
            </a:r>
            <a:r>
              <a:rPr lang="en-US" sz="1000" dirty="0">
                <a:solidFill>
                  <a:srgbClr val="262626"/>
                </a:solidFill>
                <a:latin typeface="Calibri" pitchFamily="34" charset="0"/>
                <a:ea typeface="Calibri" pitchFamily="34" charset="-122"/>
                <a:cs typeface="Calibri" pitchFamily="34" charset="-120"/>
              </a:rPr>
              <a:t>Jain et al. Evaluation of a Self-Administered Dietary Questionnaire for Use in a Cohort Study. Am J Clin Nutr, 1982.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457200" y="1078992"/>
            <a:ext cx="420624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799" y="1078992"/>
            <a:ext cx="10068169" cy="566928"/>
          </a:xfrm>
          <a:prstGeom prst="rect">
            <a:avLst/>
          </a:prstGeom>
          <a:noFill/>
          <a:ln/>
        </p:spPr>
        <p:txBody>
          <a:bodyPr wrap="square" lIns="0" tIns="0" rIns="0" bIns="0" rtlCol="0" anchor="ctr"/>
          <a:lstStyle/>
          <a:p>
            <a:r>
              <a:rPr lang="en-US" sz="2800" b="1" dirty="0">
                <a:solidFill>
                  <a:srgbClr val="00356A"/>
                </a:solidFill>
                <a:latin typeface="Cambria" pitchFamily="34" charset="0"/>
                <a:ea typeface="Cambria" pitchFamily="34" charset="-122"/>
                <a:cs typeface="Cambria" pitchFamily="34" charset="-120"/>
              </a:rPr>
              <a:t>Examples of Physical Activity Validation Studies</a:t>
            </a:r>
            <a:endParaRPr lang="en-US" sz="2800" dirty="0"/>
          </a:p>
        </p:txBody>
      </p:sp>
      <p:sp>
        <p:nvSpPr>
          <p:cNvPr id="7" name="Text 5"/>
          <p:cNvSpPr/>
          <p:nvPr/>
        </p:nvSpPr>
        <p:spPr>
          <a:xfrm>
            <a:off x="457200"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 </a:t>
            </a:r>
            <a:r>
              <a:rPr lang="en-US" sz="1100" dirty="0">
                <a:solidFill>
                  <a:srgbClr val="262626"/>
                </a:solidFill>
                <a:latin typeface="Calibri" pitchFamily="34" charset="0"/>
                <a:ea typeface="Calibri" pitchFamily="34" charset="-122"/>
                <a:cs typeface="Calibri" pitchFamily="34" charset="-120"/>
              </a:rPr>
              <a:t>Plante et al. Reliability and Validity of the IPAQ Compared to Calibrated Accelerometer Cut-Off Points for Sedentary Behaviour and Physical Activity in Older Adults. Prev Med Rep, 2023.</a:t>
            </a:r>
            <a:endParaRPr lang="en-US" sz="1100" dirty="0"/>
          </a:p>
        </p:txBody>
      </p:sp>
      <p:sp>
        <p:nvSpPr>
          <p:cNvPr id="8" name="Text 6"/>
          <p:cNvSpPr/>
          <p:nvPr/>
        </p:nvSpPr>
        <p:spPr>
          <a:xfrm>
            <a:off x="457200"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[2] </a:t>
            </a:r>
            <a:r>
              <a:rPr lang="en-US" sz="1100" dirty="0">
                <a:solidFill>
                  <a:srgbClr val="262626"/>
                </a:solidFill>
                <a:latin typeface="Calibri" pitchFamily="34" charset="0"/>
                <a:ea typeface="Calibri" pitchFamily="34" charset="-122"/>
                <a:cs typeface="Calibri" pitchFamily="34" charset="-120"/>
              </a:rPr>
              <a:t>Matthews et al. Measurement of Active and Sedentary Behavior in the Context of Large Epidemiologic Studies. Med Sci Sports Exerc, 2018.</a:t>
            </a:r>
            <a:endParaRPr lang="en-US" sz="1100" dirty="0"/>
          </a:p>
        </p:txBody>
      </p:sp>
      <p:sp>
        <p:nvSpPr>
          <p:cNvPr id="9" name="Text 7"/>
          <p:cNvSpPr/>
          <p:nvPr/>
        </p:nvSpPr>
        <p:spPr>
          <a:xfrm>
            <a:off x="457200"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[3] </a:t>
            </a:r>
            <a:r>
              <a:rPr lang="en-US" sz="1100" dirty="0">
                <a:solidFill>
                  <a:srgbClr val="262626"/>
                </a:solidFill>
                <a:latin typeface="Calibri" pitchFamily="34" charset="0"/>
                <a:ea typeface="Calibri" pitchFamily="34" charset="-122"/>
                <a:cs typeface="Calibri" pitchFamily="34" charset="-120"/>
              </a:rPr>
              <a:t>Matthews et al. Use of Time and Energy on Exercise, Prolonged TV Viewing, and Work Days. Am J Prev Med, 2018.</a:t>
            </a:r>
            <a:endParaRPr lang="en-US" sz="1100" dirty="0"/>
          </a:p>
        </p:txBody>
      </p:sp>
      <p:sp>
        <p:nvSpPr>
          <p:cNvPr id="10" name="Text 8"/>
          <p:cNvSpPr/>
          <p:nvPr/>
        </p:nvSpPr>
        <p:spPr>
          <a:xfrm>
            <a:off x="457200" y="550926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[4] </a:t>
            </a:r>
            <a:r>
              <a:rPr lang="en-US" sz="1100" dirty="0">
                <a:solidFill>
                  <a:srgbClr val="262626"/>
                </a:solidFill>
                <a:latin typeface="Calibri" pitchFamily="34" charset="0"/>
                <a:ea typeface="Calibri" pitchFamily="34" charset="-122"/>
                <a:cs typeface="Calibri" pitchFamily="34" charset="-120"/>
              </a:rPr>
              <a:t>Chomistek et al. Physical Activity Assessment With the ActiGraph GT3X and Doubly Labeled Water. Med Sci Sports Exerc, 2017.</a:t>
            </a:r>
            <a:endParaRPr lang="en-US" sz="1100" dirty="0"/>
          </a:p>
        </p:txBody>
      </p:sp>
      <p:sp>
        <p:nvSpPr>
          <p:cNvPr id="11" name="Text 9"/>
          <p:cNvSpPr/>
          <p:nvPr/>
        </p:nvSpPr>
        <p:spPr>
          <a:xfrm>
            <a:off x="4050792"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[5] </a:t>
            </a:r>
            <a:r>
              <a:rPr lang="en-US" sz="1100" dirty="0">
                <a:solidFill>
                  <a:srgbClr val="262626"/>
                </a:solidFill>
                <a:latin typeface="Calibri" pitchFamily="34" charset="0"/>
                <a:ea typeface="Calibri" pitchFamily="34" charset="-122"/>
                <a:cs typeface="Calibri" pitchFamily="34" charset="-120"/>
              </a:rPr>
              <a:t>Mok et al. Reliability and Validity of the Self- and Interviewer-Administered Versions of the Global Physical Activity Questionnaire (GPAQ). Int J Environ Res Public Health, 2015.</a:t>
            </a:r>
            <a:endParaRPr lang="en-US" sz="1100" dirty="0"/>
          </a:p>
        </p:txBody>
      </p:sp>
      <p:sp>
        <p:nvSpPr>
          <p:cNvPr id="12" name="Text 10"/>
          <p:cNvSpPr/>
          <p:nvPr/>
        </p:nvSpPr>
        <p:spPr>
          <a:xfrm>
            <a:off x="4050792"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[6] </a:t>
            </a:r>
            <a:r>
              <a:rPr lang="en-US" sz="1100" dirty="0">
                <a:solidFill>
                  <a:srgbClr val="262626"/>
                </a:solidFill>
                <a:latin typeface="Calibri" pitchFamily="34" charset="0"/>
                <a:ea typeface="Calibri" pitchFamily="34" charset="-122"/>
                <a:cs typeface="Calibri" pitchFamily="34" charset="-120"/>
              </a:rPr>
              <a:t>Singh et al. Reliability and Validity of a New Physical Activity Questionnaire for India. Indian J Med Res, 2015.</a:t>
            </a:r>
            <a:endParaRPr lang="en-US" sz="1100" dirty="0"/>
          </a:p>
        </p:txBody>
      </p:sp>
      <p:sp>
        <p:nvSpPr>
          <p:cNvPr id="13" name="Text 11"/>
          <p:cNvSpPr/>
          <p:nvPr/>
        </p:nvSpPr>
        <p:spPr>
          <a:xfrm>
            <a:off x="4050792"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[7] </a:t>
            </a:r>
            <a:r>
              <a:rPr lang="en-US" sz="1100" dirty="0">
                <a:solidFill>
                  <a:srgbClr val="262626"/>
                </a:solidFill>
                <a:latin typeface="Calibri" pitchFamily="34" charset="0"/>
                <a:ea typeface="Calibri" pitchFamily="34" charset="-122"/>
                <a:cs typeface="Calibri" pitchFamily="34" charset="-120"/>
              </a:rPr>
              <a:t>Lee et al. Reliability and Validity of the Transport and Physical Activity Questionnaire (TPAQ) for Assessing Physical Activity Behaviour. PLoS ONE, 2014.</a:t>
            </a:r>
            <a:endParaRPr lang="en-US" sz="1100" dirty="0"/>
          </a:p>
        </p:txBody>
      </p:sp>
      <p:sp>
        <p:nvSpPr>
          <p:cNvPr id="14" name="Text 12"/>
          <p:cNvSpPr/>
          <p:nvPr/>
        </p:nvSpPr>
        <p:spPr>
          <a:xfrm>
            <a:off x="4050792" y="550926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[8] </a:t>
            </a:r>
            <a:r>
              <a:rPr lang="en-US" sz="1100" dirty="0">
                <a:solidFill>
                  <a:srgbClr val="262626"/>
                </a:solidFill>
                <a:latin typeface="Calibri" pitchFamily="34" charset="0"/>
                <a:ea typeface="Calibri" pitchFamily="34" charset="-122"/>
                <a:cs typeface="Calibri" pitchFamily="34" charset="-120"/>
              </a:rPr>
              <a:t>Murakami et al. Reliability and Validity of the International Physical Activity Questionnaire in Elderly Adults: The Fujiwara-kyo Study. J Epidemiol, 2014.</a:t>
            </a:r>
            <a:endParaRPr lang="en-US" sz="1100" dirty="0"/>
          </a:p>
        </p:txBody>
      </p:sp>
      <p:sp>
        <p:nvSpPr>
          <p:cNvPr id="15" name="Text 13"/>
          <p:cNvSpPr/>
          <p:nvPr/>
        </p:nvSpPr>
        <p:spPr>
          <a:xfrm>
            <a:off x="7644384"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[9] </a:t>
            </a:r>
            <a:r>
              <a:rPr lang="en-US" sz="1100" dirty="0">
                <a:solidFill>
                  <a:srgbClr val="262626"/>
                </a:solidFill>
                <a:latin typeface="Calibri" pitchFamily="34" charset="0"/>
                <a:ea typeface="Calibri" pitchFamily="34" charset="-122"/>
                <a:cs typeface="Calibri" pitchFamily="34" charset="-120"/>
              </a:rPr>
              <a:t>Carter-Nolan et al. Validation of Physical Activity Instruments: Black Women's Health Study. Ethn Dis, 2006.</a:t>
            </a:r>
            <a:endParaRPr lang="en-US" sz="1100" dirty="0"/>
          </a:p>
        </p:txBody>
      </p:sp>
      <p:sp>
        <p:nvSpPr>
          <p:cNvPr id="16" name="Text 14"/>
          <p:cNvSpPr/>
          <p:nvPr/>
        </p:nvSpPr>
        <p:spPr>
          <a:xfrm>
            <a:off x="7644384"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[10] </a:t>
            </a:r>
            <a:r>
              <a:rPr lang="en-US" sz="1100" dirty="0">
                <a:solidFill>
                  <a:srgbClr val="262626"/>
                </a:solidFill>
                <a:latin typeface="Calibri" pitchFamily="34" charset="0"/>
                <a:ea typeface="Calibri" pitchFamily="34" charset="-122"/>
                <a:cs typeface="Calibri" pitchFamily="34" charset="-120"/>
              </a:rPr>
              <a:t>Chasan-Taber et al. Reproducibility and Validity of a Self-Administered Physical Activity Questionnaire for Male Health Professionals. Epidemiology, 1996.</a:t>
            </a:r>
            <a:endParaRPr lang="en-US" sz="1100" dirty="0"/>
          </a:p>
        </p:txBody>
      </p:sp>
      <p:sp>
        <p:nvSpPr>
          <p:cNvPr id="17" name="Text 15"/>
          <p:cNvSpPr/>
          <p:nvPr/>
        </p:nvSpPr>
        <p:spPr>
          <a:xfrm>
            <a:off x="7644384"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[11] </a:t>
            </a:r>
            <a:r>
              <a:rPr lang="en-US" sz="1100" dirty="0">
                <a:solidFill>
                  <a:srgbClr val="262626"/>
                </a:solidFill>
                <a:latin typeface="Calibri" pitchFamily="34" charset="0"/>
                <a:ea typeface="Calibri" pitchFamily="34" charset="-122"/>
                <a:cs typeface="Calibri" pitchFamily="34" charset="-120"/>
              </a:rPr>
              <a:t>Wolf et al. Reproducibility and Validity of a Self-Administered Physical Activity Questionnaire. Int J Epidemiol, 1994.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457200" y="1078992"/>
            <a:ext cx="544068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800" y="1078992"/>
            <a:ext cx="5120640" cy="566928"/>
          </a:xfrm>
          <a:prstGeom prst="rect">
            <a:avLst/>
          </a:prstGeom>
          <a:noFill/>
          <a:ln/>
        </p:spPr>
        <p:txBody>
          <a:bodyPr wrap="square" lIns="0" tIns="0" rIns="0" bIns="0" rtlCol="0" anchor="ctr"/>
          <a:lstStyle/>
          <a:p>
            <a:pPr marL="0" indent="0">
              <a:buNone/>
            </a:pPr>
            <a:r>
              <a:rPr lang="en-US" sz="2600" b="1" dirty="0">
                <a:solidFill>
                  <a:srgbClr val="00356A"/>
                </a:solidFill>
                <a:latin typeface="Cambria" pitchFamily="34" charset="0"/>
                <a:ea typeface="Cambria" pitchFamily="34" charset="-122"/>
                <a:cs typeface="Cambria" pitchFamily="34" charset="-120"/>
              </a:rPr>
              <a:t>Anthropometrics</a:t>
            </a:r>
            <a:endParaRPr lang="en-US" sz="2600" dirty="0"/>
          </a:p>
        </p:txBody>
      </p:sp>
      <p:sp>
        <p:nvSpPr>
          <p:cNvPr id="7" name="Text 5"/>
          <p:cNvSpPr/>
          <p:nvPr/>
        </p:nvSpPr>
        <p:spPr>
          <a:xfrm>
            <a:off x="457200"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[1] </a:t>
            </a:r>
            <a:r>
              <a:rPr lang="en-US" sz="1050" dirty="0">
                <a:solidFill>
                  <a:srgbClr val="262626"/>
                </a:solidFill>
                <a:latin typeface="Calibri" pitchFamily="34" charset="0"/>
                <a:ea typeface="Calibri" pitchFamily="34" charset="-122"/>
                <a:cs typeface="Calibri" pitchFamily="34" charset="-120"/>
              </a:rPr>
              <a:t>Fayyaz et al. Validity of Measured vs. Self-Reported Weight and Height and Practical Considerations for Enhancing Reliability in Clinical and Epidemiological Studies: A Systematic Review. Nutrients, 2024.</a:t>
            </a:r>
            <a:endParaRPr lang="en-US" sz="1050" dirty="0"/>
          </a:p>
        </p:txBody>
      </p:sp>
      <p:sp>
        <p:nvSpPr>
          <p:cNvPr id="8" name="Text 6"/>
          <p:cNvSpPr/>
          <p:nvPr/>
        </p:nvSpPr>
        <p:spPr>
          <a:xfrm>
            <a:off x="457200"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[2] </a:t>
            </a:r>
            <a:r>
              <a:rPr lang="en-US" sz="1050" dirty="0">
                <a:solidFill>
                  <a:srgbClr val="262626"/>
                </a:solidFill>
                <a:latin typeface="Calibri" pitchFamily="34" charset="0"/>
                <a:ea typeface="Calibri" pitchFamily="34" charset="-122"/>
                <a:cs typeface="Calibri" pitchFamily="34" charset="-120"/>
              </a:rPr>
              <a:t>Maukonen et al. Statistical Assessment of Reliability of Anthropometric Measurements in the Multi-Site South African National Dietary Intake Survey 2022. BMC Nutr, 2024.</a:t>
            </a:r>
            <a:endParaRPr lang="en-US" sz="1050" dirty="0"/>
          </a:p>
        </p:txBody>
      </p:sp>
      <p:sp>
        <p:nvSpPr>
          <p:cNvPr id="9" name="Text 7"/>
          <p:cNvSpPr/>
          <p:nvPr/>
        </p:nvSpPr>
        <p:spPr>
          <a:xfrm>
            <a:off x="457200"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[3] </a:t>
            </a:r>
            <a:r>
              <a:rPr lang="en-US" sz="1050" dirty="0">
                <a:solidFill>
                  <a:srgbClr val="262626"/>
                </a:solidFill>
                <a:latin typeface="Calibri" pitchFamily="34" charset="0"/>
                <a:ea typeface="Calibri" pitchFamily="34" charset="-122"/>
                <a:cs typeface="Calibri" pitchFamily="34" charset="-120"/>
              </a:rPr>
              <a:t>Zhang et al. Accuracy of Self-Reported Height, Weight, and Waist Circumference in a General Adult Chinese Population. Public Health Nutr, 2016.</a:t>
            </a:r>
            <a:endParaRPr lang="en-US" sz="1050" dirty="0"/>
          </a:p>
        </p:txBody>
      </p:sp>
      <p:sp>
        <p:nvSpPr>
          <p:cNvPr id="10" name="Text 8"/>
          <p:cNvSpPr/>
          <p:nvPr/>
        </p:nvSpPr>
        <p:spPr>
          <a:xfrm>
            <a:off x="457200" y="553212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[4] </a:t>
            </a:r>
            <a:r>
              <a:rPr lang="en-US" sz="1050" dirty="0">
                <a:solidFill>
                  <a:srgbClr val="262626"/>
                </a:solidFill>
                <a:latin typeface="Calibri" pitchFamily="34" charset="0"/>
                <a:ea typeface="Calibri" pitchFamily="34" charset="-122"/>
                <a:cs typeface="Calibri" pitchFamily="34" charset="-120"/>
              </a:rPr>
              <a:t>Lawlor et al. Validity Over Time of Self-Reported Anthropometric Variables During Follow-Up of a Large Cohort of UK Women. BMC Med Res Methodol, 2015.</a:t>
            </a:r>
            <a:endParaRPr lang="en-US" sz="1050" dirty="0"/>
          </a:p>
        </p:txBody>
      </p:sp>
      <p:sp>
        <p:nvSpPr>
          <p:cNvPr id="11" name="Text 9"/>
          <p:cNvSpPr/>
          <p:nvPr/>
        </p:nvSpPr>
        <p:spPr>
          <a:xfrm>
            <a:off x="3136392"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[5] </a:t>
            </a:r>
            <a:r>
              <a:rPr lang="en-US" sz="1050" dirty="0">
                <a:solidFill>
                  <a:srgbClr val="262626"/>
                </a:solidFill>
                <a:latin typeface="Calibri" pitchFamily="34" charset="0"/>
                <a:ea typeface="Calibri" pitchFamily="34" charset="-122"/>
                <a:cs typeface="Calibri" pitchFamily="34" charset="-120"/>
              </a:rPr>
              <a:t>Wen et al. Accuracy of Self-Reported Body Weight, Height and Waist Circumference in a Dutch Overweight Working Population. BMC Med Res Methodol, 2010.</a:t>
            </a:r>
            <a:endParaRPr lang="en-US" sz="1050" dirty="0"/>
          </a:p>
        </p:txBody>
      </p:sp>
      <p:sp>
        <p:nvSpPr>
          <p:cNvPr id="12" name="Text 10"/>
          <p:cNvSpPr/>
          <p:nvPr/>
        </p:nvSpPr>
        <p:spPr>
          <a:xfrm>
            <a:off x="3136392"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[6] </a:t>
            </a:r>
            <a:r>
              <a:rPr lang="en-US" sz="1050" dirty="0">
                <a:solidFill>
                  <a:srgbClr val="262626"/>
                </a:solidFill>
                <a:latin typeface="Calibri" pitchFamily="34" charset="0"/>
                <a:ea typeface="Calibri" pitchFamily="34" charset="-122"/>
                <a:cs typeface="Calibri" pitchFamily="34" charset="-120"/>
              </a:rPr>
              <a:t>Troy et al. The Validity of Recalled Weight Among Younger Women. Int J Obes Relat Metab Disord, 1995.</a:t>
            </a:r>
            <a:endParaRPr lang="en-US" sz="1050" dirty="0"/>
          </a:p>
        </p:txBody>
      </p:sp>
      <p:sp>
        <p:nvSpPr>
          <p:cNvPr id="13" name="Text 11"/>
          <p:cNvSpPr/>
          <p:nvPr/>
        </p:nvSpPr>
        <p:spPr>
          <a:xfrm>
            <a:off x="3136392"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[7] </a:t>
            </a:r>
            <a:r>
              <a:rPr lang="en-US" sz="1050" dirty="0">
                <a:solidFill>
                  <a:srgbClr val="262626"/>
                </a:solidFill>
                <a:latin typeface="Calibri" pitchFamily="34" charset="0"/>
                <a:ea typeface="Calibri" pitchFamily="34" charset="-122"/>
                <a:cs typeface="Calibri" pitchFamily="34" charset="-120"/>
              </a:rPr>
              <a:t>Rimm et al. Validity of Self-Reported Waist and Hip Circumferences in Men and Women. Epidemiology, 1990.</a:t>
            </a:r>
            <a:endParaRPr lang="en-US" sz="1050" dirty="0"/>
          </a:p>
        </p:txBody>
      </p:sp>
      <p:sp>
        <p:nvSpPr>
          <p:cNvPr id="14" name="Shape 12"/>
          <p:cNvSpPr/>
          <p:nvPr/>
        </p:nvSpPr>
        <p:spPr>
          <a:xfrm>
            <a:off x="6263640" y="1078992"/>
            <a:ext cx="5440680" cy="566928"/>
          </a:xfrm>
          <a:prstGeom prst="roundRect">
            <a:avLst>
              <a:gd name="adj" fmla="val 12903"/>
            </a:avLst>
          </a:prstGeom>
          <a:solidFill>
            <a:srgbClr val="EAF1FB"/>
          </a:solidFill>
          <a:ln/>
        </p:spPr>
        <p:txBody>
          <a:bodyPr/>
          <a:lstStyle/>
          <a:p>
            <a:endParaRPr lang="en-US"/>
          </a:p>
        </p:txBody>
      </p:sp>
      <p:sp>
        <p:nvSpPr>
          <p:cNvPr id="15" name="Text 13"/>
          <p:cNvSpPr/>
          <p:nvPr/>
        </p:nvSpPr>
        <p:spPr>
          <a:xfrm>
            <a:off x="6492240" y="1078992"/>
            <a:ext cx="5120640" cy="566928"/>
          </a:xfrm>
          <a:prstGeom prst="rect">
            <a:avLst/>
          </a:prstGeom>
          <a:noFill/>
          <a:ln/>
        </p:spPr>
        <p:txBody>
          <a:bodyPr wrap="square" lIns="0" tIns="0" rIns="0" bIns="0" rtlCol="0" anchor="ctr"/>
          <a:lstStyle/>
          <a:p>
            <a:pPr marL="0" indent="0">
              <a:buNone/>
            </a:pPr>
            <a:r>
              <a:rPr lang="en-US" sz="2200" b="1" dirty="0">
                <a:solidFill>
                  <a:srgbClr val="00356A"/>
                </a:solidFill>
                <a:latin typeface="Cambria" pitchFamily="34" charset="0"/>
                <a:ea typeface="Cambria" pitchFamily="34" charset="-122"/>
                <a:cs typeface="Cambria" pitchFamily="34" charset="-120"/>
              </a:rPr>
              <a:t>Reproductive &amp; Life-History Factors</a:t>
            </a:r>
            <a:endParaRPr lang="en-US" sz="2200" dirty="0"/>
          </a:p>
        </p:txBody>
      </p:sp>
      <p:sp>
        <p:nvSpPr>
          <p:cNvPr id="17" name="Text 15"/>
          <p:cNvSpPr/>
          <p:nvPr/>
        </p:nvSpPr>
        <p:spPr>
          <a:xfrm>
            <a:off x="6263640"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[1] </a:t>
            </a:r>
            <a:r>
              <a:rPr lang="en-US" sz="1050" dirty="0">
                <a:solidFill>
                  <a:srgbClr val="262626"/>
                </a:solidFill>
                <a:latin typeface="Calibri" pitchFamily="34" charset="0"/>
                <a:ea typeface="Calibri" pitchFamily="34" charset="-122"/>
                <a:cs typeface="Calibri" pitchFamily="34" charset="-120"/>
              </a:rPr>
              <a:t>Imai et al. Association Between Women's Birth Weight and Reproductive Characteristics in Adulthood: The JPHC-NEXT Study. J Epidemiol, 2023.</a:t>
            </a:r>
            <a:endParaRPr lang="en-US" sz="1050" dirty="0"/>
          </a:p>
        </p:txBody>
      </p:sp>
      <p:sp>
        <p:nvSpPr>
          <p:cNvPr id="18" name="Text 16"/>
          <p:cNvSpPr/>
          <p:nvPr/>
        </p:nvSpPr>
        <p:spPr>
          <a:xfrm>
            <a:off x="6263640"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[2] </a:t>
            </a:r>
            <a:r>
              <a:rPr lang="en-US" sz="1050" dirty="0">
                <a:solidFill>
                  <a:srgbClr val="262626"/>
                </a:solidFill>
                <a:latin typeface="Calibri" pitchFamily="34" charset="0"/>
                <a:ea typeface="Calibri" pitchFamily="34" charset="-122"/>
                <a:cs typeface="Calibri" pitchFamily="34" charset="-120"/>
              </a:rPr>
              <a:t>Triebner et al. Describing the Status of Reproductive Ageing Simply and Precisely: A Reproductive Ageing Score Based on Three Questions and Validated With Hormone Levels. PLoS ONE, 2020.</a:t>
            </a:r>
            <a:endParaRPr lang="en-US" sz="1050" dirty="0"/>
          </a:p>
        </p:txBody>
      </p:sp>
      <p:sp>
        <p:nvSpPr>
          <p:cNvPr id="19" name="Text 17"/>
          <p:cNvSpPr/>
          <p:nvPr/>
        </p:nvSpPr>
        <p:spPr>
          <a:xfrm>
            <a:off x="6263640"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[3] </a:t>
            </a:r>
            <a:r>
              <a:rPr lang="en-US" sz="1050" dirty="0">
                <a:solidFill>
                  <a:srgbClr val="262626"/>
                </a:solidFill>
                <a:latin typeface="Calibri" pitchFamily="34" charset="0"/>
                <a:ea typeface="Calibri" pitchFamily="34" charset="-122"/>
                <a:cs typeface="Calibri" pitchFamily="34" charset="-120"/>
              </a:rPr>
              <a:t>Kusters et al. Chronic Medical Conditions and Reproducibility of Self-Reported Age at Menopause Among Community-Dwelling Women. Menopause, 2011.</a:t>
            </a:r>
            <a:endParaRPr lang="en-US" sz="1050" dirty="0"/>
          </a:p>
        </p:txBody>
      </p:sp>
      <p:sp>
        <p:nvSpPr>
          <p:cNvPr id="20" name="Text 18"/>
          <p:cNvSpPr/>
          <p:nvPr/>
        </p:nvSpPr>
        <p:spPr>
          <a:xfrm>
            <a:off x="6263640" y="553212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[4] </a:t>
            </a:r>
            <a:r>
              <a:rPr lang="en-US" sz="1050" dirty="0">
                <a:solidFill>
                  <a:srgbClr val="262626"/>
                </a:solidFill>
                <a:latin typeface="Calibri" pitchFamily="34" charset="0"/>
                <a:ea typeface="Calibri" pitchFamily="34" charset="-122"/>
                <a:cs typeface="Calibri" pitchFamily="34" charset="-120"/>
              </a:rPr>
              <a:t>Tomeo et al. Reproducibility and Validity of Maternal Recall of Pregnancy-Related Events. Epidemiology, 1999.</a:t>
            </a:r>
            <a:endParaRPr lang="en-US" sz="1050" dirty="0"/>
          </a:p>
        </p:txBody>
      </p:sp>
      <p:sp>
        <p:nvSpPr>
          <p:cNvPr id="21" name="Text 19"/>
          <p:cNvSpPr/>
          <p:nvPr/>
        </p:nvSpPr>
        <p:spPr>
          <a:xfrm>
            <a:off x="8942832"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[5] </a:t>
            </a:r>
            <a:r>
              <a:rPr lang="en-US" sz="1050" dirty="0">
                <a:solidFill>
                  <a:srgbClr val="262626"/>
                </a:solidFill>
                <a:latin typeface="Calibri" pitchFamily="34" charset="0"/>
                <a:ea typeface="Calibri" pitchFamily="34" charset="-122"/>
                <a:cs typeface="Calibri" pitchFamily="34" charset="-120"/>
              </a:rPr>
              <a:t>Hunter et al. Reproducibility of Oral Contraceptive Histories and Validity of Hormone Composition Reported in a Cohort of US Women. Contraception, 1997.</a:t>
            </a:r>
            <a:endParaRPr lang="en-US" sz="1050" dirty="0"/>
          </a:p>
        </p:txBody>
      </p:sp>
      <p:sp>
        <p:nvSpPr>
          <p:cNvPr id="22" name="Text 20"/>
          <p:cNvSpPr/>
          <p:nvPr/>
        </p:nvSpPr>
        <p:spPr>
          <a:xfrm>
            <a:off x="8942832"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[6] </a:t>
            </a:r>
            <a:r>
              <a:rPr lang="en-US" sz="1050" dirty="0">
                <a:solidFill>
                  <a:srgbClr val="262626"/>
                </a:solidFill>
                <a:latin typeface="Calibri" pitchFamily="34" charset="0"/>
                <a:ea typeface="Calibri" pitchFamily="34" charset="-122"/>
                <a:cs typeface="Calibri" pitchFamily="34" charset="-120"/>
              </a:rPr>
              <a:t>Troy et al. Self-Reported Birthweight and History of Having Been Breastfed: An Assessment of Validity. Int J Epidemiol, 1996.</a:t>
            </a:r>
            <a:endParaRPr lang="en-US" sz="1050" dirty="0"/>
          </a:p>
        </p:txBody>
      </p:sp>
      <p:sp>
        <p:nvSpPr>
          <p:cNvPr id="23" name="Text 21"/>
          <p:cNvSpPr/>
          <p:nvPr/>
        </p:nvSpPr>
        <p:spPr>
          <a:xfrm>
            <a:off x="8942832"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[7] </a:t>
            </a:r>
            <a:r>
              <a:rPr lang="en-US" sz="1050" dirty="0">
                <a:solidFill>
                  <a:srgbClr val="262626"/>
                </a:solidFill>
                <a:latin typeface="Calibri" pitchFamily="34" charset="0"/>
                <a:ea typeface="Calibri" pitchFamily="34" charset="-122"/>
                <a:cs typeface="Calibri" pitchFamily="34" charset="-120"/>
              </a:rPr>
              <a:t>Colditz et al. Reproducibility and Validity of Self-Reported Menopausal Status in a Prospective Cohort Study. Am J Epidemiol, 1987.</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32500" lnSpcReduction="20000"/>
              </a:bodyPr>
              <a:lstStyle/>
              <a:p>
                <a:pPr>
                  <a:buFont typeface="Wingdings" panose="05000000000000000000" pitchFamily="2" charset="2"/>
                  <a:buChar char="Ø"/>
                </a:pPr>
                <a:r>
                  <a:rPr lang="en-US" sz="11200" dirty="0">
                    <a:cs typeface="Arial" panose="020B0604020202020204" pitchFamily="34" charset="0"/>
                  </a:rPr>
                  <a:t>Trauma – strong CVD risk factor, moderate for T2D. </a:t>
                </a:r>
              </a:p>
              <a:p>
                <a:pPr>
                  <a:buFont typeface="Wingdings" panose="05000000000000000000" pitchFamily="2" charset="2"/>
                  <a:buChar char="Ø"/>
                </a:pPr>
                <a:endParaRPr lang="en-US" sz="9600" dirty="0">
                  <a:cs typeface="Arial" panose="020B0604020202020204" pitchFamily="34" charset="0"/>
                </a:endParaRPr>
              </a:p>
              <a:p>
                <a:pPr lvl="1"/>
                <a:r>
                  <a:rPr lang="en-US" sz="9200" dirty="0">
                    <a:cs typeface="Arial" panose="020B0604020202020204" pitchFamily="34" charset="0"/>
                  </a:rPr>
                  <a:t>Comparison of prospective and retrospective measures finds </a:t>
                </a:r>
                <a:r>
                  <a:rPr lang="en-US" sz="8800" dirty="0">
                    <a:cs typeface="Arial" panose="020B0604020202020204" pitchFamily="34" charset="0"/>
                  </a:rPr>
                  <a:t>residual confounding a concern –</a:t>
                </a:r>
                <a14:m>
                  <m:oMath xmlns:m="http://schemas.openxmlformats.org/officeDocument/2006/math">
                    <m:r>
                      <a:rPr lang="en-US" sz="8800" i="1" dirty="0">
                        <a:latin typeface="Cambria Math" panose="02040503050406030204" pitchFamily="18" charset="0"/>
                      </a:rPr>
                      <m:t>𝐶𝑜𝑟𝑟</m:t>
                    </m:r>
                    <m:r>
                      <a:rPr lang="en-US" sz="8800" i="1" dirty="0">
                        <a:latin typeface="Cambria Math" panose="02040503050406030204" pitchFamily="18" charset="0"/>
                      </a:rPr>
                      <m:t> </m:t>
                    </m:r>
                    <m:d>
                      <m:dPr>
                        <m:ctrlPr>
                          <a:rPr lang="en-US" sz="8800" i="1" dirty="0">
                            <a:latin typeface="Cambria Math" panose="02040503050406030204" pitchFamily="18" charset="0"/>
                          </a:rPr>
                        </m:ctrlPr>
                      </m:dPr>
                      <m:e>
                        <m:r>
                          <a:rPr lang="en-US" sz="8800" i="1" dirty="0">
                            <a:latin typeface="Cambria Math" panose="02040503050406030204" pitchFamily="18" charset="0"/>
                          </a:rPr>
                          <m:t>𝑋</m:t>
                        </m:r>
                        <m:r>
                          <a:rPr lang="en-US" sz="8800" i="1" dirty="0">
                            <a:latin typeface="Cambria Math" panose="02040503050406030204" pitchFamily="18" charset="0"/>
                          </a:rPr>
                          <m:t>,</m:t>
                        </m:r>
                        <m:r>
                          <a:rPr lang="en-US" sz="8800" i="1" dirty="0">
                            <a:latin typeface="Cambria Math" panose="02040503050406030204" pitchFamily="18" charset="0"/>
                          </a:rPr>
                          <m:t>𝑍</m:t>
                        </m:r>
                      </m:e>
                    </m:d>
                  </m:oMath>
                </a14:m>
                <a:r>
                  <a:rPr lang="el-GR" sz="9200" dirty="0">
                    <a:cs typeface="Arial" panose="020B0604020202020204" pitchFamily="34" charset="0"/>
                  </a:rPr>
                  <a:t>≈0.72 </a:t>
                </a:r>
                <a:r>
                  <a:rPr lang="el-GR" sz="4000" dirty="0">
                    <a:cs typeface="Arial" panose="020B0604020202020204" pitchFamily="34" charset="0"/>
                  </a:rPr>
                  <a:t>(</a:t>
                </a:r>
                <a:r>
                  <a:rPr lang="en-US" sz="4000" dirty="0">
                    <a:cs typeface="Arial" panose="020B0604020202020204" pitchFamily="34" charset="0"/>
                  </a:rPr>
                  <a:t>Reuben, A., Moffitt, T.E., Caspi, A., Belsky, D.W., Harrington, H., Schroeder, F., Hogan, S., </a:t>
                </a:r>
                <a:r>
                  <a:rPr lang="en-US" sz="4000" dirty="0" err="1">
                    <a:cs typeface="Arial" panose="020B0604020202020204" pitchFamily="34" charset="0"/>
                  </a:rPr>
                  <a:t>Ramrakha</a:t>
                </a:r>
                <a:r>
                  <a:rPr lang="en-US" sz="4000" dirty="0">
                    <a:cs typeface="Arial" panose="020B0604020202020204" pitchFamily="34" charset="0"/>
                  </a:rPr>
                  <a:t>, S., Poulton, R. and </a:t>
                </a:r>
                <a:r>
                  <a:rPr lang="en-US" sz="4000" dirty="0" err="1">
                    <a:cs typeface="Arial" panose="020B0604020202020204" pitchFamily="34" charset="0"/>
                  </a:rPr>
                  <a:t>Danese</a:t>
                </a:r>
                <a:r>
                  <a:rPr lang="en-US" sz="4000" dirty="0">
                    <a:cs typeface="Arial" panose="020B0604020202020204" pitchFamily="34" charset="0"/>
                  </a:rPr>
                  <a:t>, A. (2016), Lest we forget: comparing retrospective and prospective assessments of adverse childhood experiences in the prediction of adult health. J Child Psychol </a:t>
                </a:r>
                <a:r>
                  <a:rPr lang="en-US" sz="4000" dirty="0" err="1">
                    <a:cs typeface="Arial" panose="020B0604020202020204" pitchFamily="34" charset="0"/>
                  </a:rPr>
                  <a:t>Psychiatr</a:t>
                </a:r>
                <a:r>
                  <a:rPr lang="en-US" sz="4000" dirty="0">
                    <a:cs typeface="Arial" panose="020B0604020202020204" pitchFamily="34" charset="0"/>
                  </a:rPr>
                  <a:t>, 57: 1103-1112</a:t>
                </a:r>
              </a:p>
              <a:p>
                <a:pPr lvl="1"/>
                <a:endParaRPr lang="en-US" sz="9200" dirty="0">
                  <a:cs typeface="Arial" panose="020B0604020202020204" pitchFamily="34" charset="0"/>
                </a:endParaRPr>
              </a:p>
              <a:p>
                <a:pPr lvl="1"/>
                <a:r>
                  <a:rPr lang="en-US" sz="9200" dirty="0">
                    <a:cs typeface="Arial" panose="020B0604020202020204" pitchFamily="34" charset="0"/>
                  </a:rPr>
                  <a:t>Meta-analysis found 16 such validation studies, with low kappa </a:t>
                </a:r>
                <a:r>
                  <a:rPr lang="el-GR" sz="9200" dirty="0">
                    <a:cs typeface="Arial" panose="020B0604020202020204" pitchFamily="34" charset="0"/>
                  </a:rPr>
                  <a:t>κ=0.19) </a:t>
                </a:r>
                <a:r>
                  <a:rPr lang="en-US" sz="3700" dirty="0">
                    <a:cs typeface="Arial" panose="020B0604020202020204" pitchFamily="34" charset="0"/>
                  </a:rPr>
                  <a:t>Baldwin JR, Reuben A, Newbury JB, </a:t>
                </a:r>
                <a:r>
                  <a:rPr lang="en-US" sz="3700" dirty="0" err="1">
                    <a:cs typeface="Arial" panose="020B0604020202020204" pitchFamily="34" charset="0"/>
                  </a:rPr>
                  <a:t>Danese</a:t>
                </a:r>
                <a:r>
                  <a:rPr lang="en-US" sz="3700" dirty="0">
                    <a:cs typeface="Arial" panose="020B0604020202020204" pitchFamily="34" charset="0"/>
                  </a:rPr>
                  <a:t> A. Agreement Between Prospective and Retrospective Measures of Childhood Maltreatment: A Systematic Review and Meta-analysis. JAMA Psychiatry. 2019;76(6):584–593.)</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353801" cy="4981576"/>
              </a:xfrm>
              <a:blipFill>
                <a:blip r:embed="rId4"/>
                <a:stretch>
                  <a:fillRect l="-1450" t="-4529" r="-48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9461A64-07C8-49AA-CF78-1F37E77014DC}"/>
              </a:ext>
            </a:extLst>
          </p:cNvPr>
          <p:cNvSpPr>
            <a:spLocks noGrp="1"/>
          </p:cNvSpPr>
          <p:nvPr>
            <p:ph type="sldNum" sz="quarter" idx="12"/>
          </p:nvPr>
        </p:nvSpPr>
        <p:spPr/>
        <p:txBody>
          <a:bodyPr/>
          <a:lstStyle/>
          <a:p>
            <a:fld id="{77C6A7FE-225D-49F1-B302-AA37EA92BB49}" type="slidenum">
              <a:rPr lang="en-US" smtClean="0"/>
              <a:t>17</a:t>
            </a:fld>
            <a:endParaRPr lang="en-US"/>
          </a:p>
        </p:txBody>
      </p:sp>
    </p:spTree>
    <p:extLst>
      <p:ext uri="{BB962C8B-B14F-4D97-AF65-F5344CB8AC3E}">
        <p14:creationId xmlns:p14="http://schemas.microsoft.com/office/powerpoint/2010/main" val="131298456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25000" lnSpcReduction="20000"/>
          </a:bodyPr>
          <a:lstStyle/>
          <a:p>
            <a:pPr>
              <a:buFont typeface="Wingdings" panose="05000000000000000000" pitchFamily="2" charset="2"/>
              <a:buChar char="Ø"/>
            </a:pPr>
            <a:endParaRPr lang="en-US" sz="11200" dirty="0">
              <a:cs typeface="Arial" panose="020B0604020202020204" pitchFamily="34" charset="0"/>
            </a:endParaRPr>
          </a:p>
          <a:p>
            <a:pPr>
              <a:buFont typeface="Wingdings" panose="05000000000000000000" pitchFamily="2" charset="2"/>
              <a:buChar char="Ø"/>
            </a:pPr>
            <a:r>
              <a:rPr lang="en-US" sz="11200" dirty="0">
                <a:cs typeface="Arial" panose="020B0604020202020204" pitchFamily="34" charset="0"/>
              </a:rPr>
              <a:t>Regular high quality preventive health care – strong protective factor for CRC, not breast, for CVD, T2D</a:t>
            </a:r>
          </a:p>
          <a:p>
            <a:pPr marL="0" indent="0">
              <a:buNone/>
            </a:pPr>
            <a:endParaRPr lang="en-US" sz="11200" dirty="0">
              <a:cs typeface="Arial" panose="020B0604020202020204" pitchFamily="34" charset="0"/>
            </a:endParaRPr>
          </a:p>
          <a:p>
            <a:pPr lvl="1"/>
            <a:r>
              <a:rPr lang="en-US" sz="10800" dirty="0">
                <a:cs typeface="Arial" panose="020B0604020202020204" pitchFamily="34" charset="0"/>
              </a:rPr>
              <a:t>The sensitivity of self-reported screening was 96.2% for the FOBT, 94.9% for flexible sigmoidoscopy, 88.7% for colonoscopy, and 96.2% for either endoscopic screening test.</a:t>
            </a:r>
          </a:p>
          <a:p>
            <a:pPr lvl="1"/>
            <a:r>
              <a:rPr lang="en-US" sz="10800" dirty="0">
                <a:cs typeface="Arial" panose="020B0604020202020204" pitchFamily="34" charset="0"/>
              </a:rPr>
              <a:t> The specificity of self-reported screening was 85.9%for the FOBT, 92.2% for flexible sigmoidoscopy, 96.8% for colonoscopy, and 92.0% for either endoscopic screening test</a:t>
            </a:r>
            <a:r>
              <a:rPr lang="en-US" sz="6400" dirty="0">
                <a:cs typeface="Arial" panose="020B0604020202020204" pitchFamily="34" charset="0"/>
              </a:rPr>
              <a:t>. (Baier M, </a:t>
            </a:r>
            <a:r>
              <a:rPr lang="en-US" sz="6400" dirty="0" err="1">
                <a:cs typeface="Arial" panose="020B0604020202020204" pitchFamily="34" charset="0"/>
              </a:rPr>
              <a:t>Calonge</a:t>
            </a:r>
            <a:r>
              <a:rPr lang="en-US" sz="6400" dirty="0">
                <a:cs typeface="Arial" panose="020B0604020202020204" pitchFamily="34" charset="0"/>
              </a:rPr>
              <a:t> N, Cutter G, </a:t>
            </a:r>
            <a:r>
              <a:rPr lang="en-US" sz="6400" dirty="0" err="1">
                <a:cs typeface="Arial" panose="020B0604020202020204" pitchFamily="34" charset="0"/>
              </a:rPr>
              <a:t>McClatchey</a:t>
            </a:r>
            <a:r>
              <a:rPr lang="en-US" sz="6400" dirty="0">
                <a:cs typeface="Arial" panose="020B0604020202020204" pitchFamily="34" charset="0"/>
              </a:rPr>
              <a:t> M, </a:t>
            </a:r>
            <a:r>
              <a:rPr lang="en-US" sz="6400" dirty="0" err="1">
                <a:cs typeface="Arial" panose="020B0604020202020204" pitchFamily="34" charset="0"/>
              </a:rPr>
              <a:t>Schoentgen</a:t>
            </a:r>
            <a:r>
              <a:rPr lang="en-US" sz="6400" dirty="0">
                <a:cs typeface="Arial" panose="020B0604020202020204" pitchFamily="34" charset="0"/>
              </a:rPr>
              <a:t> S, Hines S, Marcus A, </a:t>
            </a:r>
            <a:r>
              <a:rPr lang="en-US" sz="6400" dirty="0" err="1">
                <a:cs typeface="Arial" panose="020B0604020202020204" pitchFamily="34" charset="0"/>
              </a:rPr>
              <a:t>Ahnen</a:t>
            </a:r>
            <a:r>
              <a:rPr lang="en-US" sz="6400" dirty="0">
                <a:cs typeface="Arial" panose="020B0604020202020204" pitchFamily="34" charset="0"/>
              </a:rPr>
              <a:t> D. Validity of self-reported colorectal cancer screening behavior. Cancer Epidemiol Biomarkers Prev. 2000 Feb;9(2):229-32. )</a:t>
            </a:r>
          </a:p>
          <a:p>
            <a:pPr marL="0" indent="0">
              <a:buNone/>
            </a:pPr>
            <a:endParaRPr lang="en-US" dirty="0"/>
          </a:p>
        </p:txBody>
      </p:sp>
      <p:sp>
        <p:nvSpPr>
          <p:cNvPr id="2" name="Slide Number Placeholder 1">
            <a:extLst>
              <a:ext uri="{FF2B5EF4-FFF2-40B4-BE49-F238E27FC236}">
                <a16:creationId xmlns:a16="http://schemas.microsoft.com/office/drawing/2014/main" id="{59AF53C4-CC82-C0D3-AEEF-B8575AA65C59}"/>
              </a:ext>
            </a:extLst>
          </p:cNvPr>
          <p:cNvSpPr>
            <a:spLocks noGrp="1"/>
          </p:cNvSpPr>
          <p:nvPr>
            <p:ph type="sldNum" sz="quarter" idx="12"/>
          </p:nvPr>
        </p:nvSpPr>
        <p:spPr/>
        <p:txBody>
          <a:bodyPr/>
          <a:lstStyle/>
          <a:p>
            <a:fld id="{77C6A7FE-225D-49F1-B302-AA37EA92BB49}" type="slidenum">
              <a:rPr lang="en-US" smtClean="0"/>
              <a:t>18</a:t>
            </a:fld>
            <a:endParaRPr lang="en-US"/>
          </a:p>
        </p:txBody>
      </p:sp>
    </p:spTree>
    <p:extLst>
      <p:ext uri="{BB962C8B-B14F-4D97-AF65-F5344CB8AC3E}">
        <p14:creationId xmlns:p14="http://schemas.microsoft.com/office/powerpoint/2010/main" val="13652512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New Roman" panose="02020603050405020304" pitchFamily="18" charset="0"/>
                <a:cs typeface="Times New Roman" panose="02020603050405020304" pitchFamily="18" charset="0"/>
              </a:rPr>
              <a:t>Residual confounding by smoking is problematic</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845869" cy="4981576"/>
              </a:xfrm>
            </p:spPr>
            <p:txBody>
              <a:bodyPr>
                <a:normAutofit fontScale="25000" lnSpcReduction="20000"/>
              </a:bodyPr>
              <a:lstStyle/>
              <a:p>
                <a:pPr>
                  <a:buFont typeface="Wingdings" panose="05000000000000000000" pitchFamily="2" charset="2"/>
                  <a:buChar char="Ø"/>
                </a:pPr>
                <a:r>
                  <a:rPr lang="en-US" sz="9600" dirty="0">
                    <a:cs typeface="Arial" panose="020B0604020202020204" pitchFamily="34" charset="0"/>
                  </a:rPr>
                  <a:t>Smoking – moderate risk factor for many cancers (but not breast), CVD, T2D – high to moderate measurement error –and </a:t>
                </a:r>
                <a:r>
                  <a:rPr lang="en-US" sz="9600" dirty="0">
                    <a:solidFill>
                      <a:srgbClr val="FF0000"/>
                    </a:solidFill>
                    <a:cs typeface="Arial" panose="020B0604020202020204" pitchFamily="34" charset="0"/>
                  </a:rPr>
                  <a:t>long-term smoking difficult to validate</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From 26 reports containing 51 comparisons between self-reported behavior and biochemical measures, Sensitivity ≈6% - 100% (mean = 87.5%), and specificity ≈33% - 100% (mean = 89.2%). Interviewer-administered questionnaires, observational studies, reports by adults, and biochemical validation with cotinine plasma were associated with higher estimates of sensitivity and specificity. (Patrick DL, Cheadle A, Thompson DC, </a:t>
                </a:r>
                <a:r>
                  <a:rPr lang="en-US" sz="7200" dirty="0" err="1">
                    <a:cs typeface="Arial" panose="020B0604020202020204" pitchFamily="34" charset="0"/>
                  </a:rPr>
                  <a:t>Diehr</a:t>
                </a:r>
                <a:r>
                  <a:rPr lang="en-US" sz="7200" dirty="0">
                    <a:cs typeface="Arial" panose="020B0604020202020204" pitchFamily="34" charset="0"/>
                  </a:rPr>
                  <a:t> P, </a:t>
                </a:r>
                <a:r>
                  <a:rPr lang="en-US" sz="7200" dirty="0" err="1">
                    <a:cs typeface="Arial" panose="020B0604020202020204" pitchFamily="34" charset="0"/>
                  </a:rPr>
                  <a:t>Koepsell</a:t>
                </a:r>
                <a:r>
                  <a:rPr lang="en-US" sz="7200" dirty="0">
                    <a:cs typeface="Arial" panose="020B0604020202020204" pitchFamily="34" charset="0"/>
                  </a:rPr>
                  <a:t> T, </a:t>
                </a:r>
                <a:r>
                  <a:rPr lang="en-US" sz="7200" dirty="0" err="1">
                    <a:cs typeface="Arial" panose="020B0604020202020204" pitchFamily="34" charset="0"/>
                  </a:rPr>
                  <a:t>Kinne</a:t>
                </a:r>
                <a:r>
                  <a:rPr lang="en-US" sz="7200" dirty="0">
                    <a:cs typeface="Arial" panose="020B0604020202020204" pitchFamily="34" charset="0"/>
                  </a:rPr>
                  <a:t> S. The validity of self-reported smoking: a review and meta-analysis. Am J Public Health. 1994 Jul;84(7):1086-93.)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Self-reported consumption in National Health Interview Surveys (NHIS) and National Household Surveys on Drug Abuse (NSDUH) was compared to USDA estimated consumption,</a:t>
                </a:r>
                <a14:m>
                  <m:oMath xmlns:m="http://schemas.openxmlformats.org/officeDocument/2006/math">
                    <m:r>
                      <a:rPr lang="en-US" sz="7200" i="1" dirty="0">
                        <a:latin typeface="Cambria Math" panose="02040503050406030204" pitchFamily="18" charset="0"/>
                      </a:rPr>
                      <m:t>𝐶𝑜𝑟𝑟</m:t>
                    </m:r>
                    <m:r>
                      <a:rPr lang="en-US" sz="7200" i="1" dirty="0">
                        <a:latin typeface="Cambria Math" panose="02040503050406030204" pitchFamily="18" charset="0"/>
                      </a:rPr>
                      <m:t> </m:t>
                    </m:r>
                    <m:d>
                      <m:dPr>
                        <m:ctrlPr>
                          <a:rPr lang="en-US" sz="7200" i="1" dirty="0">
                            <a:latin typeface="Cambria Math" panose="02040503050406030204" pitchFamily="18" charset="0"/>
                          </a:rPr>
                        </m:ctrlPr>
                      </m:dPr>
                      <m:e>
                        <m:r>
                          <a:rPr lang="en-US" sz="7200" i="1" dirty="0">
                            <a:latin typeface="Cambria Math" panose="02040503050406030204" pitchFamily="18" charset="0"/>
                          </a:rPr>
                          <m:t>𝑋</m:t>
                        </m:r>
                        <m:r>
                          <a:rPr lang="en-US" sz="7200" i="1" dirty="0">
                            <a:latin typeface="Cambria Math" panose="02040503050406030204" pitchFamily="18" charset="0"/>
                          </a:rPr>
                          <m:t>,</m:t>
                        </m:r>
                        <m:r>
                          <a:rPr lang="en-US" sz="7200" i="1" dirty="0">
                            <a:latin typeface="Cambria Math" panose="02040503050406030204" pitchFamily="18" charset="0"/>
                          </a:rPr>
                          <m:t>𝑍</m:t>
                        </m:r>
                      </m:e>
                    </m:d>
                  </m:oMath>
                </a14:m>
                <a:r>
                  <a:rPr lang="en-US" sz="7200" dirty="0">
                    <a:cs typeface="Arial" panose="020B0604020202020204" pitchFamily="34" charset="0"/>
                  </a:rPr>
                  <a:t>≈0.72. (</a:t>
                </a:r>
                <a:r>
                  <a:rPr lang="en-US" sz="7200" dirty="0" err="1">
                    <a:cs typeface="Arial" panose="020B0604020202020204" pitchFamily="34" charset="0"/>
                  </a:rPr>
                  <a:t>Hatziandreu</a:t>
                </a:r>
                <a:r>
                  <a:rPr lang="en-US" sz="7200" dirty="0">
                    <a:cs typeface="Arial" panose="020B0604020202020204" pitchFamily="34" charset="0"/>
                  </a:rPr>
                  <a:t> EJ, Pierce JP, Fiore MC, Grise V, Novotny TE, Davis RM. The reliability of self-reported cigarette consumption in the United States. Am J Public Health. 1989 Aug;79(8):1020-3.)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Between 1979 - 1997, the amount of cigarettes that NSDUH and NHIS respondents reported corresponded to an average of 59.5% and 65.6%, respectively, of taxed cigarette sales. After 1997, reported smoking data corresponded an average of 64.2% and 63.3%, respectively, of taxed cigarette sales. Suggests low sensitivity. (Alex C Liber, Kenneth E Warner, Has  Underreporting of Cigarette Consumption Changed Over Time? Estimates Derived From US National Health Surveillance Systems Between 1965 and 2015, American Journal of Epidemiology, Volume 187, Issue 1, January 2018, Pages 113–119)</a:t>
                </a:r>
              </a:p>
              <a:p>
                <a:pPr marL="0" indent="0">
                  <a:buNone/>
                </a:pPr>
                <a:r>
                  <a:rPr lang="en-US" sz="6400"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845869" cy="4981576"/>
              </a:xfrm>
              <a:blipFill>
                <a:blip r:embed="rId4"/>
                <a:stretch>
                  <a:fillRect l="-721" t="-2693" r="-61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B900C9C-E273-8592-55DE-EB34996BE6DF}"/>
              </a:ext>
            </a:extLst>
          </p:cNvPr>
          <p:cNvSpPr>
            <a:spLocks noGrp="1"/>
          </p:cNvSpPr>
          <p:nvPr>
            <p:ph type="sldNum" sz="quarter" idx="12"/>
          </p:nvPr>
        </p:nvSpPr>
        <p:spPr/>
        <p:txBody>
          <a:bodyPr/>
          <a:lstStyle/>
          <a:p>
            <a:fld id="{77C6A7FE-225D-49F1-B302-AA37EA92BB49}" type="slidenum">
              <a:rPr lang="en-US" smtClean="0"/>
              <a:t>19</a:t>
            </a:fld>
            <a:endParaRPr lang="en-US"/>
          </a:p>
        </p:txBody>
      </p:sp>
    </p:spTree>
    <p:extLst>
      <p:ext uri="{BB962C8B-B14F-4D97-AF65-F5344CB8AC3E}">
        <p14:creationId xmlns:p14="http://schemas.microsoft.com/office/powerpoint/2010/main" val="84564866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3200" dirty="0">
                <a:cs typeface="Arial" panose="020B0604020202020204" pitchFamily="34" charset="0"/>
              </a:rPr>
              <a:t>To what extent do trials resolve problems?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77500" lnSpcReduction="20000"/>
          </a:bodyPr>
          <a:lstStyle/>
          <a:p>
            <a:pPr marL="0" indent="0">
              <a:buNone/>
            </a:pPr>
            <a:endParaRPr lang="en-US" dirty="0">
              <a:cs typeface="Arial" panose="020B0604020202020204" pitchFamily="34" charset="0"/>
            </a:endParaRPr>
          </a:p>
          <a:p>
            <a:r>
              <a:rPr lang="en-US" dirty="0">
                <a:cs typeface="Arial" panose="020B0604020202020204" pitchFamily="34" charset="0"/>
              </a:rPr>
              <a:t>Intent to treat estimates are biased towards the null by random non-adherence, and bias could be in either direction due to non-random non-adherence</a:t>
            </a:r>
          </a:p>
          <a:p>
            <a:endParaRPr lang="en-US" dirty="0">
              <a:cs typeface="Arial" panose="020B0604020202020204" pitchFamily="34" charset="0"/>
            </a:endParaRPr>
          </a:p>
          <a:p>
            <a:r>
              <a:rPr lang="en-US" dirty="0">
                <a:cs typeface="Arial" panose="020B0604020202020204" pitchFamily="34" charset="0"/>
              </a:rPr>
              <a:t>‘As treated’ and ‘per protocol’ estimates can be biased by confounding and selection bias, respectively, just as in an observational study,  </a:t>
            </a:r>
            <a:r>
              <a:rPr lang="en-US" dirty="0">
                <a:solidFill>
                  <a:schemeClr val="accent6"/>
                </a:solidFill>
                <a:cs typeface="Arial" panose="020B0604020202020204" pitchFamily="34" charset="0"/>
              </a:rPr>
              <a:t>but not when non-adherence is random</a:t>
            </a:r>
          </a:p>
          <a:p>
            <a:endParaRPr lang="en-US" dirty="0">
              <a:cs typeface="Arial" panose="020B0604020202020204" pitchFamily="34" charset="0"/>
            </a:endParaRPr>
          </a:p>
          <a:p>
            <a:r>
              <a:rPr lang="en-US" dirty="0">
                <a:cs typeface="Arial" panose="020B0604020202020204" pitchFamily="34" charset="0"/>
              </a:rPr>
              <a:t>No bias in p-values under random non-adherence, just as there  isn’t for random misclassification in general</a:t>
            </a:r>
          </a:p>
          <a:p>
            <a:endParaRPr lang="en-US" dirty="0">
              <a:cs typeface="Arial" panose="020B0604020202020204" pitchFamily="34" charset="0"/>
            </a:endParaRPr>
          </a:p>
          <a:p>
            <a:r>
              <a:rPr lang="en-US" dirty="0">
                <a:cs typeface="Arial" panose="020B0604020202020204" pitchFamily="34" charset="0"/>
              </a:rPr>
              <a:t>Trials of sustained dietary intakes likely suffer from substantial non-adherence</a:t>
            </a:r>
          </a:p>
          <a:p>
            <a:endParaRPr lang="en-US" dirty="0">
              <a:cs typeface="Arial" panose="020B0604020202020204" pitchFamily="34" charset="0"/>
            </a:endParaRPr>
          </a:p>
          <a:p>
            <a:r>
              <a:rPr lang="en-US" dirty="0">
                <a:cs typeface="Arial" panose="020B0604020202020204" pitchFamily="34" charset="0"/>
              </a:rPr>
              <a:t>Empirical methods to correct for bias due to non-adherence are not as well developed, </a:t>
            </a:r>
            <a:r>
              <a:rPr lang="en-US" dirty="0">
                <a:solidFill>
                  <a:schemeClr val="accent6"/>
                </a:solidFill>
                <a:cs typeface="Arial" panose="020B0604020202020204" pitchFamily="34" charset="0"/>
              </a:rPr>
              <a:t>particularly for random non-adherence</a:t>
            </a:r>
            <a:endParaRPr lang="en-US" dirty="0">
              <a:solidFill>
                <a:schemeClr val="accent6"/>
              </a:solidFill>
            </a:endParaRPr>
          </a:p>
          <a:p>
            <a:endParaRPr lang="en-US" dirty="0">
              <a:cs typeface="Arial" panose="020B0604020202020204" pitchFamily="34" charset="0"/>
            </a:endParaRPr>
          </a:p>
          <a:p>
            <a:endParaRPr lang="en-US" dirty="0">
              <a:cs typeface="Arial" panose="020B0604020202020204" pitchFamily="34" charset="0"/>
            </a:endParaRPr>
          </a:p>
        </p:txBody>
      </p:sp>
      <p:sp>
        <p:nvSpPr>
          <p:cNvPr id="2" name="Slide Number Placeholder 1">
            <a:extLst>
              <a:ext uri="{FF2B5EF4-FFF2-40B4-BE49-F238E27FC236}">
                <a16:creationId xmlns:a16="http://schemas.microsoft.com/office/drawing/2014/main" id="{6F964D96-C6B3-0074-9D9C-62AA0CCE073C}"/>
              </a:ext>
            </a:extLst>
          </p:cNvPr>
          <p:cNvSpPr>
            <a:spLocks noGrp="1"/>
          </p:cNvSpPr>
          <p:nvPr>
            <p:ph type="sldNum" sz="quarter" idx="12"/>
          </p:nvPr>
        </p:nvSpPr>
        <p:spPr/>
        <p:txBody>
          <a:bodyPr/>
          <a:lstStyle/>
          <a:p>
            <a:fld id="{77C6A7FE-225D-49F1-B302-AA37EA92BB49}" type="slidenum">
              <a:rPr lang="en-US" smtClean="0"/>
              <a:t>20</a:t>
            </a:fld>
            <a:endParaRPr lang="en-US"/>
          </a:p>
        </p:txBody>
      </p:sp>
    </p:spTree>
    <p:extLst>
      <p:ext uri="{BB962C8B-B14F-4D97-AF65-F5344CB8AC3E}">
        <p14:creationId xmlns:p14="http://schemas.microsoft.com/office/powerpoint/2010/main" val="28682789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14130" y="2149094"/>
            <a:ext cx="11563739" cy="3207996"/>
          </a:xfrm>
        </p:spPr>
        <p:txBody>
          <a:bodyPr>
            <a:noAutofit/>
          </a:bodyPr>
          <a:lstStyle/>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Good  news:</a:t>
            </a:r>
          </a:p>
          <a:p>
            <a:pPr marL="0" marR="0" indent="0">
              <a:lnSpc>
                <a:spcPct val="107000"/>
              </a:lnSpc>
              <a:spcBef>
                <a:spcPts val="0"/>
              </a:spcBef>
              <a:spcAft>
                <a:spcPts val="800"/>
              </a:spcAft>
              <a:buNone/>
            </a:pPr>
            <a:endParaRPr lang="en-US" sz="3200" kern="100" dirty="0">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 With these validation or reliability data, hundreds of publications provide a robust, flexible set of methods to empirically correct for measurement error in exposures of interest and confounders simultaneously.</a:t>
            </a: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Slide Number Placeholder 1">
            <a:extLst>
              <a:ext uri="{FF2B5EF4-FFF2-40B4-BE49-F238E27FC236}">
                <a16:creationId xmlns:a16="http://schemas.microsoft.com/office/drawing/2014/main" id="{EA433DFF-774B-8B32-2AE6-34E252A8D207}"/>
              </a:ext>
            </a:extLst>
          </p:cNvPr>
          <p:cNvSpPr>
            <a:spLocks noGrp="1"/>
          </p:cNvSpPr>
          <p:nvPr>
            <p:ph type="sldNum" sz="quarter" idx="12"/>
          </p:nvPr>
        </p:nvSpPr>
        <p:spPr/>
        <p:txBody>
          <a:bodyPr/>
          <a:lstStyle/>
          <a:p>
            <a:fld id="{77C6A7FE-225D-49F1-B302-AA37EA92BB49}" type="slidenum">
              <a:rPr lang="en-US" smtClean="0"/>
              <a:t>21</a:t>
            </a:fld>
            <a:endParaRPr lang="en-US"/>
          </a:p>
        </p:txBody>
      </p:sp>
    </p:spTree>
    <p:extLst>
      <p:ext uri="{BB962C8B-B14F-4D97-AF65-F5344CB8AC3E}">
        <p14:creationId xmlns:p14="http://schemas.microsoft.com/office/powerpoint/2010/main" val="170370072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1" y="1355216"/>
            <a:ext cx="12091480" cy="3207996"/>
          </a:xfrm>
        </p:spPr>
        <p:txBody>
          <a:bodyPr>
            <a:noAutofit/>
          </a:bodyPr>
          <a:lstStyle/>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 Seminal textbook and scores of papers by Ray Carroll and colleagues</a:t>
            </a:r>
          </a:p>
          <a:p>
            <a:pPr lvl="1">
              <a:lnSpc>
                <a:spcPct val="107000"/>
              </a:lnSpc>
              <a:spcBef>
                <a:spcPts val="0"/>
              </a:spcBef>
              <a:spcAft>
                <a:spcPts val="800"/>
              </a:spcAft>
              <a:buFont typeface="Wingdings" panose="05000000000000000000" pitchFamily="2" charset="2"/>
              <a:buChar char="Ø"/>
            </a:pPr>
            <a:r>
              <a:rPr lang="en-US" sz="1600" dirty="0"/>
              <a:t>Carroll, R.J., Ruppert, D., Stefanski, L.A., &amp; </a:t>
            </a:r>
            <a:r>
              <a:rPr lang="en-US" sz="1600" dirty="0" err="1"/>
              <a:t>Crainiceanu</a:t>
            </a:r>
            <a:r>
              <a:rPr lang="en-US" sz="1600" dirty="0"/>
              <a:t>, C.M. (2006). Measurement Error in Nonlinear Models: A Modern Perspective, Second Edition (2nd ed.). Chapman and Hall/CRC. https://doi.org/10.1201/9781420010138</a:t>
            </a:r>
            <a:endParaRPr lang="en-US" sz="16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Three key papers from the Harvard/Yale group:</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Willett, W.C. and Spiegelman, D. (1989), Correction of logistic regression relative risk estimates and confidence intervals for systematic within-person measurement error. Statist. Med., 8: 1051-1069.</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measurement error: the case of multiple covariates measured with error. Am J Epidemiol. 1990 Oct;132(4):734-45. </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random within-person measurement error. Am J Epidemiol. 1992</a:t>
            </a:r>
          </a:p>
          <a:p>
            <a:pPr lvl="1"/>
            <a:r>
              <a:rPr lang="en-US" sz="1600" dirty="0"/>
              <a:t>1,786 citations March 2026 ; 84% were published in non-statistical journals and 16% in statistical journals.</a:t>
            </a:r>
          </a:p>
          <a:p>
            <a:pPr marR="0">
              <a:lnSpc>
                <a:spcPct val="107000"/>
              </a:lnSpc>
              <a:spcBef>
                <a:spcPts val="0"/>
              </a:spcBef>
              <a:spcAft>
                <a:spcPts val="800"/>
              </a:spcAft>
              <a:buFont typeface="Wingdings" panose="05000000000000000000" pitchFamily="2" charset="2"/>
              <a:buChar char="Ø"/>
            </a:pPr>
            <a:r>
              <a:rPr lang="en-US" sz="2000" kern="100" dirty="0">
                <a:effectLst/>
                <a:latin typeface="Arial" panose="020B0604020202020204" pitchFamily="34" charset="0"/>
                <a:ea typeface="Calibri" panose="020F0502020204030204" pitchFamily="34" charset="0"/>
                <a:cs typeface="Arial" panose="020B0604020202020204" pitchFamily="34" charset="0"/>
              </a:rPr>
              <a:t>Other work covers survival data analysis, population attributable risks, principles of modeling, design of MS/VS, misclassification,  risk prediction, changepoint analysis, and a wide range of other topics. </a:t>
            </a:r>
          </a:p>
          <a:p>
            <a:pPr>
              <a:lnSpc>
                <a:spcPct val="107000"/>
              </a:lnSpc>
              <a:spcBef>
                <a:spcPts val="0"/>
              </a:spcBef>
              <a:spcAft>
                <a:spcPts val="800"/>
              </a:spcAft>
              <a:buFont typeface="Wingdings" panose="05000000000000000000" pitchFamily="2" charset="2"/>
              <a:buChar char="Ø"/>
            </a:pPr>
            <a:r>
              <a:rPr lang="en-US" sz="2000" kern="100" dirty="0">
                <a:latin typeface="Arial" panose="020B0604020202020204" pitchFamily="34" charset="0"/>
                <a:ea typeface="Calibri" panose="020F0502020204030204" pitchFamily="34" charset="0"/>
                <a:cs typeface="Arial" panose="020B0604020202020204" pitchFamily="34" charset="0"/>
              </a:rPr>
              <a:t>Software available here https://ysph.yale.edu/cmips/research/software/</a:t>
            </a:r>
            <a:endParaRPr lang="en-US" sz="20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0F8289A-05C7-4F25-A6D2-8828851D98A3}"/>
              </a:ext>
            </a:extLst>
          </p:cNvPr>
          <p:cNvSpPr>
            <a:spLocks noGrp="1"/>
          </p:cNvSpPr>
          <p:nvPr>
            <p:ph type="sldNum" sz="quarter" idx="12"/>
          </p:nvPr>
        </p:nvSpPr>
        <p:spPr/>
        <p:txBody>
          <a:bodyPr/>
          <a:lstStyle/>
          <a:p>
            <a:fld id="{77C6A7FE-225D-49F1-B302-AA37EA92BB49}" type="slidenum">
              <a:rPr lang="en-US" smtClean="0"/>
              <a:t>22</a:t>
            </a:fld>
            <a:endParaRPr lang="en-US" dirty="0"/>
          </a:p>
        </p:txBody>
      </p:sp>
    </p:spTree>
    <p:extLst>
      <p:ext uri="{BB962C8B-B14F-4D97-AF65-F5344CB8AC3E}">
        <p14:creationId xmlns:p14="http://schemas.microsoft.com/office/powerpoint/2010/main" val="24556013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1C6098C-4208-7312-9195-71228CD6BA0F}"/>
                  </a:ext>
                </a:extLst>
              </p14:cNvPr>
              <p14:cNvContentPartPr/>
              <p14:nvPr/>
            </p14:nvContentPartPr>
            <p14:xfrm>
              <a:off x="1340592" y="2633304"/>
              <a:ext cx="360" cy="360"/>
            </p14:xfrm>
          </p:contentPart>
        </mc:Choice>
        <mc:Fallback xmlns="">
          <p:pic>
            <p:nvPicPr>
              <p:cNvPr id="4" name="Ink 3">
                <a:extLst>
                  <a:ext uri="{FF2B5EF4-FFF2-40B4-BE49-F238E27FC236}">
                    <a16:creationId xmlns:a16="http://schemas.microsoft.com/office/drawing/2014/main" id="{71C6098C-4208-7312-9195-71228CD6BA0F}"/>
                  </a:ext>
                </a:extLst>
              </p:cNvPr>
              <p:cNvPicPr/>
              <p:nvPr/>
            </p:nvPicPr>
            <p:blipFill>
              <a:blip r:embed="rId3"/>
              <a:stretch>
                <a:fillRect/>
              </a:stretch>
            </p:blipFill>
            <p:spPr>
              <a:xfrm>
                <a:off x="1331592" y="26246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3A44125-684E-3ED2-44BE-AD6DD1B87F7A}"/>
                  </a:ext>
                </a:extLst>
              </p14:cNvPr>
              <p14:cNvContentPartPr/>
              <p14:nvPr/>
            </p14:nvContentPartPr>
            <p14:xfrm>
              <a:off x="10412370" y="1062810"/>
              <a:ext cx="360" cy="360"/>
            </p14:xfrm>
          </p:contentPart>
        </mc:Choice>
        <mc:Fallback xmlns="">
          <p:pic>
            <p:nvPicPr>
              <p:cNvPr id="10" name="Ink 9">
                <a:extLst>
                  <a:ext uri="{FF2B5EF4-FFF2-40B4-BE49-F238E27FC236}">
                    <a16:creationId xmlns:a16="http://schemas.microsoft.com/office/drawing/2014/main" id="{A3A44125-684E-3ED2-44BE-AD6DD1B87F7A}"/>
                  </a:ext>
                </a:extLst>
              </p:cNvPr>
              <p:cNvPicPr/>
              <p:nvPr/>
            </p:nvPicPr>
            <p:blipFill>
              <a:blip r:embed="rId3"/>
              <a:stretch>
                <a:fillRect/>
              </a:stretch>
            </p:blipFill>
            <p:spPr>
              <a:xfrm>
                <a:off x="10403370" y="10541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4B8ABC8A-2C11-EC63-D088-EAC2A51CF979}"/>
                  </a:ext>
                </a:extLst>
              </p14:cNvPr>
              <p14:cNvContentPartPr/>
              <p14:nvPr/>
            </p14:nvContentPartPr>
            <p14:xfrm>
              <a:off x="627930" y="6241050"/>
              <a:ext cx="360" cy="360"/>
            </p14:xfrm>
          </p:contentPart>
        </mc:Choice>
        <mc:Fallback xmlns="">
          <p:pic>
            <p:nvPicPr>
              <p:cNvPr id="11" name="Ink 10">
                <a:extLst>
                  <a:ext uri="{FF2B5EF4-FFF2-40B4-BE49-F238E27FC236}">
                    <a16:creationId xmlns:a16="http://schemas.microsoft.com/office/drawing/2014/main" id="{4B8ABC8A-2C11-EC63-D088-EAC2A51CF979}"/>
                  </a:ext>
                </a:extLst>
              </p:cNvPr>
              <p:cNvPicPr/>
              <p:nvPr/>
            </p:nvPicPr>
            <p:blipFill>
              <a:blip r:embed="rId3"/>
              <a:stretch>
                <a:fillRect/>
              </a:stretch>
            </p:blipFill>
            <p:spPr>
              <a:xfrm>
                <a:off x="618930" y="6232050"/>
                <a:ext cx="18000" cy="18000"/>
              </a:xfrm>
              <a:prstGeom prst="rect">
                <a:avLst/>
              </a:prstGeom>
            </p:spPr>
          </p:pic>
        </mc:Fallback>
      </mc:AlternateContent>
      <p:sp>
        <p:nvSpPr>
          <p:cNvPr id="6" name="Oval 5">
            <a:extLst>
              <a:ext uri="{FF2B5EF4-FFF2-40B4-BE49-F238E27FC236}">
                <a16:creationId xmlns:a16="http://schemas.microsoft.com/office/drawing/2014/main" id="{963B79CC-CE21-6753-F12F-4D1D3F497376}"/>
              </a:ext>
            </a:extLst>
          </p:cNvPr>
          <p:cNvSpPr/>
          <p:nvPr/>
        </p:nvSpPr>
        <p:spPr>
          <a:xfrm>
            <a:off x="1227736" y="2782277"/>
            <a:ext cx="4704141" cy="45329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B8648F3-BE52-EFA8-724A-EA42BF883669}"/>
              </a:ext>
            </a:extLst>
          </p:cNvPr>
          <p:cNvPicPr>
            <a:picLocks noChangeAspect="1"/>
          </p:cNvPicPr>
          <p:nvPr/>
        </p:nvPicPr>
        <p:blipFill>
          <a:blip r:embed="rId6"/>
          <a:stretch>
            <a:fillRect/>
          </a:stretch>
        </p:blipFill>
        <p:spPr>
          <a:xfrm>
            <a:off x="0" y="0"/>
            <a:ext cx="12192000" cy="6858000"/>
          </a:xfrm>
          <a:prstGeom prst="rect">
            <a:avLst/>
          </a:prstGeom>
        </p:spPr>
      </p:pic>
      <p:sp>
        <p:nvSpPr>
          <p:cNvPr id="9" name="Elipse 8">
            <a:extLst>
              <a:ext uri="{FF2B5EF4-FFF2-40B4-BE49-F238E27FC236}">
                <a16:creationId xmlns:a16="http://schemas.microsoft.com/office/drawing/2014/main" id="{7C3DA3C2-7965-41A5-AE5E-FBB5A692D615}"/>
              </a:ext>
            </a:extLst>
          </p:cNvPr>
          <p:cNvSpPr/>
          <p:nvPr/>
        </p:nvSpPr>
        <p:spPr>
          <a:xfrm>
            <a:off x="1308960" y="459000"/>
            <a:ext cx="4023360" cy="548640"/>
          </a:xfrm>
          <a:prstGeom prst="ellipse">
            <a:avLst/>
          </a:prstGeom>
          <a:solidFill>
            <a:srgbClr val="66CC00">
              <a:alpha val="5000"/>
            </a:srgbClr>
          </a:solidFill>
          <a:ln w="18000">
            <a:solidFill>
              <a:srgbClr val="66CC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s-ES">
              <a:solidFill>
                <a:srgbClr val="66CC00"/>
              </a:solidFill>
            </a:endParaRPr>
          </a:p>
        </p:txBody>
      </p:sp>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304D1C4C-5892-6BFC-0D02-82F9615790D5}"/>
                  </a:ext>
                </a:extLst>
              </p14:cNvPr>
              <p14:cNvContentPartPr/>
              <p14:nvPr/>
            </p14:nvContentPartPr>
            <p14:xfrm>
              <a:off x="1185311" y="2552726"/>
              <a:ext cx="4911840" cy="808200"/>
            </p14:xfrm>
          </p:contentPart>
        </mc:Choice>
        <mc:Fallback xmlns="">
          <p:pic>
            <p:nvPicPr>
              <p:cNvPr id="12" name="Ink 11">
                <a:extLst>
                  <a:ext uri="{FF2B5EF4-FFF2-40B4-BE49-F238E27FC236}">
                    <a16:creationId xmlns:a16="http://schemas.microsoft.com/office/drawing/2014/main" id="{304D1C4C-5892-6BFC-0D02-82F9615790D5}"/>
                  </a:ext>
                </a:extLst>
              </p:cNvPr>
              <p:cNvPicPr/>
              <p:nvPr/>
            </p:nvPicPr>
            <p:blipFill>
              <a:blip r:embed="rId8"/>
              <a:stretch>
                <a:fillRect/>
              </a:stretch>
            </p:blipFill>
            <p:spPr>
              <a:xfrm>
                <a:off x="1179191" y="2546606"/>
                <a:ext cx="4924080" cy="820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BCEDD430-9CF6-27B5-7D35-8C4D5381CB9F}"/>
                  </a:ext>
                </a:extLst>
              </p14:cNvPr>
              <p14:cNvContentPartPr/>
              <p14:nvPr/>
            </p14:nvContentPartPr>
            <p14:xfrm>
              <a:off x="5095631" y="3063206"/>
              <a:ext cx="360" cy="360"/>
            </p14:xfrm>
          </p:contentPart>
        </mc:Choice>
        <mc:Fallback xmlns="">
          <p:pic>
            <p:nvPicPr>
              <p:cNvPr id="18" name="Ink 17">
                <a:extLst>
                  <a:ext uri="{FF2B5EF4-FFF2-40B4-BE49-F238E27FC236}">
                    <a16:creationId xmlns:a16="http://schemas.microsoft.com/office/drawing/2014/main" id="{BCEDD430-9CF6-27B5-7D35-8C4D5381CB9F}"/>
                  </a:ext>
                </a:extLst>
              </p:cNvPr>
              <p:cNvPicPr/>
              <p:nvPr/>
            </p:nvPicPr>
            <p:blipFill>
              <a:blip r:embed="rId10"/>
              <a:stretch>
                <a:fillRect/>
              </a:stretch>
            </p:blipFill>
            <p:spPr>
              <a:xfrm>
                <a:off x="5089511" y="3057086"/>
                <a:ext cx="12600" cy="12600"/>
              </a:xfrm>
              <a:prstGeom prst="rect">
                <a:avLst/>
              </a:prstGeom>
            </p:spPr>
          </p:pic>
        </mc:Fallback>
      </mc:AlternateContent>
      <p:cxnSp>
        <p:nvCxnSpPr>
          <p:cNvPr id="20" name="Straight Arrow Connector 19">
            <a:extLst>
              <a:ext uri="{FF2B5EF4-FFF2-40B4-BE49-F238E27FC236}">
                <a16:creationId xmlns:a16="http://schemas.microsoft.com/office/drawing/2014/main" id="{673082AC-52A2-A37F-6BE8-4A7DF02A764A}"/>
              </a:ext>
            </a:extLst>
          </p:cNvPr>
          <p:cNvCxnSpPr/>
          <p:nvPr/>
        </p:nvCxnSpPr>
        <p:spPr>
          <a:xfrm flipH="1">
            <a:off x="6330462" y="2688492"/>
            <a:ext cx="1727200" cy="289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100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8BC2021-6068-902E-5581-F6ECE87C245E}"/>
                  </a:ext>
                </a:extLst>
              </p14:cNvPr>
              <p14:cNvContentPartPr/>
              <p14:nvPr/>
            </p14:nvContentPartPr>
            <p14:xfrm>
              <a:off x="2171610" y="1279890"/>
              <a:ext cx="360" cy="360"/>
            </p14:xfrm>
          </p:contentPart>
        </mc:Choice>
        <mc:Fallback xmlns="">
          <p:pic>
            <p:nvPicPr>
              <p:cNvPr id="2" name="Ink 1">
                <a:extLst>
                  <a:ext uri="{FF2B5EF4-FFF2-40B4-BE49-F238E27FC236}">
                    <a16:creationId xmlns:a16="http://schemas.microsoft.com/office/drawing/2014/main" id="{88BC2021-6068-902E-5581-F6ECE87C245E}"/>
                  </a:ext>
                </a:extLst>
              </p:cNvPr>
              <p:cNvPicPr/>
              <p:nvPr/>
            </p:nvPicPr>
            <p:blipFill>
              <a:blip r:embed="rId3"/>
              <a:stretch>
                <a:fillRect/>
              </a:stretch>
            </p:blipFill>
            <p:spPr>
              <a:xfrm>
                <a:off x="2162610" y="1270890"/>
                <a:ext cx="18000" cy="18000"/>
              </a:xfrm>
              <a:prstGeom prst="rect">
                <a:avLst/>
              </a:prstGeom>
            </p:spPr>
          </p:pic>
        </mc:Fallback>
      </mc:AlternateContent>
      <p:pic>
        <p:nvPicPr>
          <p:cNvPr id="4" name="Picture 3">
            <a:extLst>
              <a:ext uri="{FF2B5EF4-FFF2-40B4-BE49-F238E27FC236}">
                <a16:creationId xmlns:a16="http://schemas.microsoft.com/office/drawing/2014/main" id="{6E7BDAC5-7318-2C2D-815B-D98E6A425415}"/>
              </a:ext>
            </a:extLst>
          </p:cNvPr>
          <p:cNvPicPr>
            <a:picLocks noChangeAspect="1"/>
          </p:cNvPicPr>
          <p:nvPr/>
        </p:nvPicPr>
        <p:blipFill>
          <a:blip r:embed="rId4"/>
          <a:stretch>
            <a:fillRect/>
          </a:stretch>
        </p:blipFill>
        <p:spPr>
          <a:xfrm>
            <a:off x="0" y="0"/>
            <a:ext cx="12192000" cy="6858000"/>
          </a:xfrm>
          <a:prstGeom prst="rect">
            <a:avLst/>
          </a:prstGeom>
        </p:spPr>
      </p:pic>
      <p:sp>
        <p:nvSpPr>
          <p:cNvPr id="3" name="Oval 2">
            <a:extLst>
              <a:ext uri="{FF2B5EF4-FFF2-40B4-BE49-F238E27FC236}">
                <a16:creationId xmlns:a16="http://schemas.microsoft.com/office/drawing/2014/main" id="{06C1C754-E14E-EF9E-55B7-7B7EE482543C}"/>
              </a:ext>
            </a:extLst>
          </p:cNvPr>
          <p:cNvSpPr/>
          <p:nvPr/>
        </p:nvSpPr>
        <p:spPr>
          <a:xfrm>
            <a:off x="1758462" y="476738"/>
            <a:ext cx="7624215" cy="531087"/>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76985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767</TotalTime>
  <Words>3810</Words>
  <Application>Microsoft Office PowerPoint</Application>
  <PresentationFormat>Widescreen</PresentationFormat>
  <Paragraphs>291</Paragraphs>
  <Slides>24</Slides>
  <Notes>19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Aptos</vt:lpstr>
      <vt:lpstr>Aptos Display</vt:lpstr>
      <vt:lpstr>Arial</vt:lpstr>
      <vt:lpstr>Calibri</vt:lpstr>
      <vt:lpstr>Cambria</vt:lpstr>
      <vt:lpstr>Cambria Math</vt:lpstr>
      <vt:lpstr>Times New Roman</vt:lpstr>
      <vt:lpstr>Wingdings</vt:lpstr>
      <vt:lpstr>Office Theme</vt:lpstr>
      <vt:lpstr>1_Office Theme</vt:lpstr>
      <vt:lpstr>PowerPoint Presentation</vt:lpstr>
      <vt:lpstr>PowerPoint Presentation</vt:lpstr>
      <vt:lpstr>PowerPoint Presentation</vt:lpstr>
      <vt:lpstr>Impact of Measurement Error and Overview of Correction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Spiegelman, Donna</dc:creator>
  <cp:lastModifiedBy>Spiegelman, Donna</cp:lastModifiedBy>
  <cp:revision>34</cp:revision>
  <dcterms:created xsi:type="dcterms:W3CDTF">2026-03-03T22:10:07Z</dcterms:created>
  <dcterms:modified xsi:type="dcterms:W3CDTF">2026-06-23T22:07:24Z</dcterms:modified>
</cp:coreProperties>
</file>