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5"/>
  </p:notesMasterIdLst>
  <p:handoutMasterIdLst>
    <p:handoutMasterId r:id="rId16"/>
  </p:handoutMasterIdLst>
  <p:sldIdLst>
    <p:sldId id="517" r:id="rId2"/>
    <p:sldId id="439" r:id="rId3"/>
    <p:sldId id="506" r:id="rId4"/>
    <p:sldId id="507" r:id="rId5"/>
    <p:sldId id="523" r:id="rId6"/>
    <p:sldId id="522" r:id="rId7"/>
    <p:sldId id="515" r:id="rId8"/>
    <p:sldId id="509" r:id="rId9"/>
    <p:sldId id="510" r:id="rId10"/>
    <p:sldId id="511" r:id="rId11"/>
    <p:sldId id="508" r:id="rId12"/>
    <p:sldId id="516" r:id="rId13"/>
    <p:sldId id="51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">
          <p15:clr>
            <a:srgbClr val="A4A3A4"/>
          </p15:clr>
        </p15:guide>
        <p15:guide id="2" orient="horz" pos="3984">
          <p15:clr>
            <a:srgbClr val="A4A3A4"/>
          </p15:clr>
        </p15:guide>
        <p15:guide id="3" orient="horz" pos="1102">
          <p15:clr>
            <a:srgbClr val="A4A3A4"/>
          </p15:clr>
        </p15:guide>
        <p15:guide id="4" orient="horz" pos="3494">
          <p15:clr>
            <a:srgbClr val="A4A3A4"/>
          </p15:clr>
        </p15:guide>
        <p15:guide id="5" orient="horz" pos="844">
          <p15:clr>
            <a:srgbClr val="A4A3A4"/>
          </p15:clr>
        </p15:guide>
        <p15:guide id="6" pos="816">
          <p15:clr>
            <a:srgbClr val="A4A3A4"/>
          </p15:clr>
        </p15:guide>
        <p15:guide id="7" pos="5622">
          <p15:clr>
            <a:srgbClr val="A4A3A4"/>
          </p15:clr>
        </p15:guide>
        <p15:guide id="8" pos="5402">
          <p15:clr>
            <a:srgbClr val="A4A3A4"/>
          </p15:clr>
        </p15:guide>
        <p15:guide id="9" pos="4498">
          <p15:clr>
            <a:srgbClr val="A4A3A4"/>
          </p15:clr>
        </p15:guide>
        <p15:guide id="10" pos="5056">
          <p15:clr>
            <a:srgbClr val="A4A3A4"/>
          </p15:clr>
        </p15:guide>
        <p15:guide id="11" pos="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40"/>
    <a:srgbClr val="C5D1E0"/>
    <a:srgbClr val="F3F3F3"/>
    <a:srgbClr val="FF1D19"/>
    <a:srgbClr val="FF0000"/>
    <a:srgbClr val="808081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90" autoAdjust="0"/>
    <p:restoredTop sz="94085" autoAdjust="0"/>
  </p:normalViewPr>
  <p:slideViewPr>
    <p:cSldViewPr snapToGrid="0">
      <p:cViewPr varScale="1">
        <p:scale>
          <a:sx n="116" d="100"/>
          <a:sy n="116" d="100"/>
        </p:scale>
        <p:origin x="1016" y="184"/>
      </p:cViewPr>
      <p:guideLst>
        <p:guide orient="horz" pos="624"/>
        <p:guide orient="horz" pos="3984"/>
        <p:guide orient="horz" pos="1102"/>
        <p:guide orient="horz" pos="3494"/>
        <p:guide orient="horz" pos="844"/>
        <p:guide pos="816"/>
        <p:guide pos="5622"/>
        <p:guide pos="5402"/>
        <p:guide pos="4498"/>
        <p:guide pos="5056"/>
        <p:guide pos="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2725D32-1950-4256-3C47-02C0E0F29C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67740351-EB27-6545-4A85-062A59D8374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8" name="Rectangle 4">
            <a:extLst>
              <a:ext uri="{FF2B5EF4-FFF2-40B4-BE49-F238E27FC236}">
                <a16:creationId xmlns:a16="http://schemas.microsoft.com/office/drawing/2014/main" id="{E5EFFF0D-9840-6EFA-F5C0-3CF1A859D83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9" name="Rectangle 5">
            <a:extLst>
              <a:ext uri="{FF2B5EF4-FFF2-40B4-BE49-F238E27FC236}">
                <a16:creationId xmlns:a16="http://schemas.microsoft.com/office/drawing/2014/main" id="{F860D0FC-3571-D8DE-8C66-DBBE5885C9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2C2362A0-830E-450A-9B49-C5DA54E0CC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D8062F-996C-B16F-326D-B363EB7E2A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F0DBD24-000F-5E74-AE06-39085E2A30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AD09B32-D9C7-B256-B2B0-F02DA16ABA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18B8BC6-60C8-E9E0-302A-48FF4BEC2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1D9CD0C-6E4B-D267-1F74-85AC08ADB9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26355A4-6BDB-86F7-CF30-E92F4C9C96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CBAC1EE1-2880-4401-9F3D-D9405615B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5721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09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250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57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113F-78C6-28B2-30CF-80A81B27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16068-212A-9A8C-D5C0-0500FAD3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77567-CCD1-F575-293E-C8D1C8309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sensitive to bias in the eta </a:t>
            </a:r>
            <a:r>
              <a:rPr lang="en-US" dirty="0" err="1"/>
              <a:t>estiamtes</a:t>
            </a:r>
            <a:r>
              <a:rPr lang="en-US" dirty="0"/>
              <a:t>; if </a:t>
            </a:r>
            <a:r>
              <a:rPr lang="en-US" dirty="0" err="1"/>
              <a:t>expance</a:t>
            </a:r>
            <a:r>
              <a:rPr lang="en-US" dirty="0"/>
              <a:t> psi by Taylor expansion at beta0 and eta0, this says that the leading term for eta-eta_0 is zero, so as long as </a:t>
            </a:r>
            <a:r>
              <a:rPr lang="en-US" dirty="0" err="1"/>
              <a:t>eta.hat</a:t>
            </a:r>
            <a:r>
              <a:rPr lang="en-US" dirty="0"/>
              <a:t> is good enough, </a:t>
            </a:r>
            <a:r>
              <a:rPr lang="en-US" dirty="0" err="1"/>
              <a:t>beta.hat</a:t>
            </a:r>
            <a:r>
              <a:rPr lang="en-US" dirty="0"/>
              <a:t>  can still be sqrt(n) </a:t>
            </a:r>
            <a:r>
              <a:rPr lang="en-US" dirty="0" err="1"/>
              <a:t>consister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4D12-7320-F354-E2DB-9B4B2ACD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552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57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𝒌𝒓𝒐𝒏𝒆𝒄𝒊𝒆𝒓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𝒑𝒓𝒐𝒅𝒖𝒄𝒕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i="0">
                    <a:latin typeface="Cambria Math" panose="02040503050406030204" pitchFamily="18" charset="0"/>
                  </a:rPr>
                  <a:t>⊗𝒊𝒔 𝒌𝒓𝒐𝒏𝒆𝒄𝒊𝒆𝒓 𝒑𝒓𝒐𝒅𝒖𝒄𝒕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7126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747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39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3CF0-3CFE-47DE-69EF-78507B865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CCE21-DAC9-CA1A-B6C7-B93EA2BBA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1E5E-F9B1-E4B7-99AC-137DE802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C9B1-6160-9623-609C-B701044C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266D-B81F-383A-EA66-8F4B1296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102BC2-256C-4C41-AAF5-DD24A1FC7493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59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F4E1-7D01-8460-B31C-40A37D2B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BDF4-BE1B-9E2B-466F-20EA26B08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57D64-8ECA-73DD-580B-EF0B1A90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5B904-7EA8-B1E5-811A-DDD178F1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EAF25-68FF-AE9F-67FD-4AD7BF2B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D9702-DF11-4041-85A2-D6743F280F67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8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58FE-C36D-449E-7E9B-4281CC81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653F6-BFC2-B21E-5B75-1666215AA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17539-7AF1-DE10-DD57-028DB16C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7FDBC-A0F4-EDA8-CA0A-99F3CCFC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72A35-2F3A-7B6E-88B9-7BBE03FC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D0414F-87EF-4BD3-829F-6435070674BF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84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7FE3-68AD-DF3A-0655-350DD716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B4EAB-E8C9-5BEE-93A4-968C8D790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B2E28-3230-70DA-08C4-B3D21C5C0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5E34A-C8EB-C1FD-DA35-8F6FF169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2252B-9BA2-4815-F228-9046861B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EEB40-3B70-CB11-55CB-C997279E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F72F98-5D14-4C5C-B6DD-AA5B225D18A1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8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4416-1926-04E5-2F9B-4F4ADF2C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6C5B2-72CB-4419-D41D-7EC8902D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998AA-EB6A-0A21-FABE-EAA10A72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778F4-93FF-B75C-FB17-BF4F6A55E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C606D-681D-187E-9F1A-AED32C650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E6F00-1DB4-3D0A-643A-85C7D839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B36D6-CDA9-B1E3-122E-838368EB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78953-D6B9-A0B6-0528-AA89AB99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90215F-66C4-431B-A729-EF3434EEC949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53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E68B-017D-56D6-D303-F9B6AACB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C34BA-83B1-9B20-669C-B3DAACA8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21D7E-5722-4F98-7465-B30F05D7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33951-5140-F963-8E3C-733619D2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91C700-052B-466D-91CC-A90B5E34DF3C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51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EB0C0-6C72-5FD3-9071-4F8617E6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66DD4-853A-0515-CCA6-0FF865A6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6786B-7A9D-E3E8-0E41-1ACA54AC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DE1CD-49EE-464F-94A9-3FDA5A0C5B70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72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3028-5EC5-E7D3-A6CC-5EDF0762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74A5-C3C8-BD83-99D3-A9F9FE668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44CD7-190E-B240-279F-45101D0A3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8CA0B-2356-67E0-82D1-597F061F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F5E39-00F3-2815-0B44-D0C590F4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40167-9D4D-A2C4-57D8-A93A7C79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0BDCE2-A519-49E5-AA8F-2861E5F7203E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62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4069-2DED-6672-CED1-80E31221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D7132-B93D-B870-E50F-02F1C280C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C900F-D0B0-4B82-BF04-C5F73F426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EEFD5-5B47-B2BD-D547-C966CFFA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D1E41-EC68-B452-42A7-4D4743F7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6F42A-EFCA-B9C2-5720-AE86FA10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5F651-34A5-4A12-A613-FE810678A22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4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106E-2449-4478-A163-7854E8A7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416DF-94ED-7B66-6C1B-B0A723512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56CE4-D3CE-81F4-8269-1CFBFECC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00939-7CF6-D049-B32C-C392A157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28BD7-CC8A-EF88-5A6B-5B4EEEB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1F55B3-3DB8-45FD-878B-DEEB29D06D97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62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BC34A-C7F4-41C6-C853-D123D412F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F9E91-47D8-4335-4B86-C5F6CB537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3AE03-D1BA-1018-DC61-27A3FF45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8619E-69AE-606C-0BDE-03585B6D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5115-A75D-BD97-7241-40F8A712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62303-B3C9-4856-A816-081A4D57B5B0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0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D92DC-DB7E-6345-8CD9-BEED2325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F5A5F-1858-5100-DF0A-D2B2C2291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F79A-CD0A-555C-393E-49C1144E3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9B9B8-8827-4A27-72BD-50CD92CE0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65FF8-20D0-1B5A-8710-A811AC3B6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E3C43C2-3DBB-4E25-AC87-17D66FC327C1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1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wang@hsph.Harvard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52556-9E95-2E6C-16E9-3041F3BA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DE1CD-49EE-464F-94A9-3FDA5A0C5B70}" type="slidenum">
              <a:rPr lang="zh-CN" altLang="en-US" smtClean="0"/>
              <a:pPr>
                <a:defRPr/>
              </a:pPr>
              <a:t>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90509-BA4E-7614-FD1D-050FADC08AE9}"/>
              </a:ext>
            </a:extLst>
          </p:cNvPr>
          <p:cNvSpPr txBox="1"/>
          <p:nvPr/>
        </p:nvSpPr>
        <p:spPr>
          <a:xfrm>
            <a:off x="-110169" y="373284"/>
            <a:ext cx="874255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Advanced Topic 2:</a:t>
            </a:r>
            <a:r>
              <a:rPr lang="en-US" altLang="zh-CN" sz="3200" b="1" dirty="0">
                <a:solidFill>
                  <a:srgbClr val="0000CC"/>
                </a:solidFill>
              </a:rPr>
              <a:t> Double/debiased Machine Learning with Regression Calibration</a:t>
            </a:r>
            <a:endParaRPr lang="en-US" altLang="zh-CN" sz="3200" dirty="0">
              <a:latin typeface="Georgia" panose="02040502050405020303" pitchFamily="18" charset="0"/>
            </a:endParaRPr>
          </a:p>
          <a:p>
            <a:pPr algn="ctr">
              <a:buNone/>
            </a:pPr>
            <a:endParaRPr lang="en-US" altLang="en-US" sz="20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ENAR 2026</a:t>
            </a:r>
          </a:p>
          <a:p>
            <a:pPr algn="ctr"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Indianapolis, IN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altLang="zh-CN" sz="2800" dirty="0"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Molin Wang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CN" dirty="0">
                <a:latin typeface="Georgia" panose="02040502050405020303" pitchFamily="18" charset="0"/>
                <a:hlinkClick r:id="rId3"/>
              </a:rPr>
              <a:t>mwang@hsph.Harvard.edu</a:t>
            </a:r>
            <a:endParaRPr lang="en-US" altLang="zh-CN" dirty="0">
              <a:latin typeface="Georgia" panose="02040502050405020303" pitchFamily="18" charset="0"/>
            </a:endParaRPr>
          </a:p>
          <a:p>
            <a:pPr algn="ctr">
              <a:spcBef>
                <a:spcPts val="0"/>
              </a:spcBef>
              <a:defRPr/>
            </a:pPr>
            <a:endParaRPr lang="en-US" altLang="zh-CN" dirty="0"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Departments of Epidemiology and Biostatistics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Harvard T. H. Chan School of Public Health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Channing Division of Network Medicine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Brigham &amp; Women’s Hospital and Harvard Medical School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altLang="zh-CN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86538-AE55-FC57-1448-A02BFE4EBEF0}"/>
              </a:ext>
            </a:extLst>
          </p:cNvPr>
          <p:cNvSpPr txBox="1"/>
          <p:nvPr/>
        </p:nvSpPr>
        <p:spPr>
          <a:xfrm>
            <a:off x="385590" y="5838385"/>
            <a:ext cx="812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by </a:t>
            </a:r>
            <a:r>
              <a:rPr lang="en-US" b="1" dirty="0"/>
              <a:t>Gang Xu, Xin Zhou, Molin Wang, Boya Zhang, Wenhao Jiang, Francine Laden, Helen Shuh, Adam </a:t>
            </a:r>
            <a:r>
              <a:rPr lang="en-US" b="1" dirty="0" err="1"/>
              <a:t>Szpiro</a:t>
            </a:r>
            <a:r>
              <a:rPr lang="en-US" b="1" dirty="0"/>
              <a:t>, Donna Spiegelman, </a:t>
            </a:r>
            <a:r>
              <a:rPr lang="en-US" b="1" dirty="0" err="1"/>
              <a:t>Zhuoheng</a:t>
            </a:r>
            <a:r>
              <a:rPr lang="en-US" b="1" dirty="0"/>
              <a:t> Wang*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7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008" y="74855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Background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7" y="1036910"/>
            <a:ext cx="8632825" cy="501911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en-US" b="1" dirty="0">
                <a:latin typeface="Georgia" pitchFamily="18" charset="0"/>
              </a:rPr>
              <a:t>Environmental Epidemiology</a:t>
            </a:r>
            <a:endParaRPr lang="en-US" b="1" kern="1200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Assess the impact of air pollution on human health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Multiple chemical constituents in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Estimate the effects of individual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</a:t>
            </a:r>
            <a:endParaRPr lang="en-US" altLang="en-US" dirty="0">
              <a:latin typeface="Georgia" pitchFamily="18" charset="0"/>
            </a:endParaRP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Challenges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 are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correlated</a:t>
            </a:r>
            <a:r>
              <a:rPr lang="en-US" kern="1200" dirty="0">
                <a:latin typeface="Georgia" pitchFamily="18" charset="0"/>
              </a:rPr>
              <a:t>,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confound one another</a:t>
            </a:r>
            <a:r>
              <a:rPr lang="en-US" kern="1200" dirty="0">
                <a:latin typeface="Georgia" pitchFamily="18" charset="0"/>
              </a:rPr>
              <a:t>, and of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high dimension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Exposure measurement error</a:t>
            </a:r>
            <a:r>
              <a:rPr lang="en-US" kern="1200" dirty="0">
                <a:latin typeface="Georgia" pitchFamily="18" charset="0"/>
              </a:rPr>
              <a:t> can lead to bias in environmental epidemiological studies</a:t>
            </a: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solidFill>
                  <a:srgbClr val="0000CC"/>
                </a:solidFill>
                <a:latin typeface="Georgia" pitchFamily="18" charset="0"/>
              </a:rPr>
              <a:t>Research Question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kern="1200" dirty="0">
                <a:latin typeface="Georgia" pitchFamily="18" charset="0"/>
              </a:rPr>
              <a:t>Estimate the effects of correlated multi-pollutant constituents on a health outcome when exposures are measured with error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C9DC7D-9080-FD0E-FD9E-0BB8A788D7B1}"/>
              </a:ext>
            </a:extLst>
          </p:cNvPr>
          <p:cNvSpPr txBox="1"/>
          <p:nvPr/>
        </p:nvSpPr>
        <p:spPr>
          <a:xfrm>
            <a:off x="8448261" y="248478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1182029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Study design and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7988" y="1029753"/>
                <a:ext cx="8581179" cy="5311087"/>
              </a:xfrm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Main Study (MS):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18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External Validation Study (EVS):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+1,…,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18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a continuous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outcome variable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surrogate exposures of 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surrogate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</a:t>
                </a:r>
                <a:r>
                  <a:rPr lang="en-US" sz="1600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of interest</a:t>
                </a:r>
                <a:endParaRPr lang="en-US" sz="1600" b="1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surrogate exposures of other PM</a:t>
                </a:r>
                <a:r>
                  <a:rPr lang="en-US" sz="1600" kern="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confounders measured without error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true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of interest</a:t>
                </a:r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other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sz="1600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988" y="1029753"/>
                <a:ext cx="8581179" cy="5311087"/>
              </a:xfrm>
              <a:blipFill>
                <a:blip r:embed="rId3"/>
                <a:stretch>
                  <a:fillRect l="-740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38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887345"/>
                <a:ext cx="8754257" cy="5535941"/>
              </a:xfrm>
            </p:spPr>
            <p:txBody>
              <a:bodyPr>
                <a:normAutofit lnSpcReduction="10000"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 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 err="1">
                    <a:latin typeface="Georgia" panose="02040502050405020303" pitchFamily="18" charset="0"/>
                    <a:cs typeface="Times New Roman" panose="02020603050405020304" pitchFamily="18" charset="0"/>
                  </a:rPr>
                  <a:t>Chernozhukov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et al., 2018)</a:t>
                </a:r>
                <a:endParaRPr lang="en-US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56616" indent="0">
                  <a:spcBef>
                    <a:spcPts val="600"/>
                  </a:spcBef>
                  <a:buClr>
                    <a:schemeClr val="tx1"/>
                  </a:buClr>
                  <a:buNone/>
                </a:pPr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56616" indent="0">
                  <a:spcBef>
                    <a:spcPts val="600"/>
                  </a:spcBef>
                  <a:buClr>
                    <a:schemeClr val="tx1"/>
                  </a:buClr>
                  <a:buNone/>
                </a:pPr>
                <a:r>
                  <a:rPr lang="en-US" sz="1700" dirty="0" err="1"/>
                  <a:t>Chernozhukov</a:t>
                </a:r>
                <a:r>
                  <a:rPr lang="en-US" sz="1700" dirty="0"/>
                  <a:t>, V., </a:t>
                </a:r>
                <a:r>
                  <a:rPr lang="en-US" sz="1700" dirty="0" err="1"/>
                  <a:t>Chetverikov</a:t>
                </a:r>
                <a:r>
                  <a:rPr lang="en-US" sz="1700" dirty="0"/>
                  <a:t>, D., Demirer, M.</a:t>
                </a:r>
                <a:r>
                  <a:rPr lang="en-US" sz="1700" i="1" dirty="0"/>
                  <a:t>, et al.</a:t>
                </a:r>
                <a:r>
                  <a:rPr lang="en-US" sz="1700" dirty="0"/>
                  <a:t> (2018). Double/debiased machine learning for treatment and structural parameters. </a:t>
                </a:r>
                <a:r>
                  <a:rPr lang="en-US" sz="1700" i="1" dirty="0"/>
                  <a:t>The Econometrics Journal</a:t>
                </a:r>
                <a:r>
                  <a:rPr lang="en-US" sz="1700" dirty="0"/>
                  <a:t> </a:t>
                </a:r>
                <a:r>
                  <a:rPr lang="en-US" sz="1700" b="1" dirty="0"/>
                  <a:t>21</a:t>
                </a:r>
                <a:r>
                  <a:rPr lang="en-US" sz="1700" dirty="0"/>
                  <a:t>, C1-C68.</a:t>
                </a: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887345"/>
                <a:ext cx="8754257" cy="5535941"/>
              </a:xfrm>
              <a:blipFill>
                <a:blip r:embed="rId3"/>
                <a:stretch>
                  <a:fillRect l="-580" t="-2294" r="-725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79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756C65-139F-4636-7AB8-A6BD5BF743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Procedure to estimating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400" b="1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756C65-139F-4636-7AB8-A6BD5BF74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352BA-C1FE-2345-AD31-9BE18458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D9702-DF11-4041-85A2-D6743F280F67}" type="slidenum">
              <a:rPr lang="zh-CN" altLang="en-US" smtClean="0"/>
              <a:pPr>
                <a:defRPr/>
              </a:pPr>
              <a:t>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373A7-EBC2-4F29-7DAB-CA4A834034FC}"/>
              </a:ext>
            </a:extLst>
          </p:cNvPr>
          <p:cNvSpPr txBox="1"/>
          <p:nvPr/>
        </p:nvSpPr>
        <p:spPr>
          <a:xfrm>
            <a:off x="1057619" y="183981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D6D9899-F9CF-AD2F-50ED-D645F583A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8074675" cy="466724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Fit the model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ar-AE" dirty="0"/>
                </a:br>
                <a:r>
                  <a:rPr lang="en-US" dirty="0"/>
                  <a:t>using machine learning methods such as LASSO, ridge regression, and random forest to obtain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/>
              </a:p>
              <a:p>
                <a:r>
                  <a:rPr lang="en-US" dirty="0"/>
                  <a:t>Fit the model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ar-AE" dirty="0"/>
                </a:br>
                <a:r>
                  <a:rPr lang="en-US" dirty="0"/>
                  <a:t>using machine learning methods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/>
              </a:p>
              <a:p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using partial regression: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sepChr m:val=",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sepChr m:val=",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Fit the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using machine learning methods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marL="0" indent="0">
                  <a:buNone/>
                </a:pP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D6D9899-F9CF-AD2F-50ED-D645F583A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8074675" cy="4667249"/>
              </a:xfrm>
              <a:blipFill>
                <a:blip r:embed="rId3"/>
                <a:stretch>
                  <a:fillRect l="-628" t="-1626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35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tx1"/>
                </a:solidFill>
              </a:rPr>
              <a:t>Double/debiased machine learning (DML)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34AE9E1-F7AC-B143-BBF7-A693AFA80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832" y="1524427"/>
            <a:ext cx="8754257" cy="426177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Georgia" panose="02040502050405020303" pitchFamily="18" charset="0"/>
                <a:cs typeface="Times New Roman" panose="02020603050405020304" pitchFamily="18" charset="0"/>
              </a:rPr>
              <a:t>Statistical properties</a:t>
            </a:r>
            <a:endParaRPr lang="en-US" b="1" kern="1200" dirty="0">
              <a:latin typeface="Georgia" panose="02040502050405020303" pitchFamily="18" charset="0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</a:rPr>
              <a:t>Orthogonalization:</a:t>
            </a:r>
            <a:r>
              <a:rPr lang="en-US" dirty="0">
                <a:latin typeface="Georgia" panose="02040502050405020303" pitchFamily="18" charset="0"/>
              </a:rPr>
              <a:t> correct for bias on low-dimensional parameter of interest due to regularization on high-dimensional nuisance parameters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Sample splitting: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reduce bias due to overfitting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Cross-fitting: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gain estimation efficiency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ClrTx/>
              <a:buNone/>
              <a:defRPr/>
            </a:pPr>
            <a:endParaRPr lang="en-US" sz="2400" b="1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      </a:t>
            </a:r>
            <a:endParaRPr lang="en-US" dirty="0">
              <a:latin typeface="Georgia" panose="02040502050405020303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21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AB7F-2A16-2701-C784-E513BBDE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64584DC-6197-7ECA-AE5A-3A9346377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Neyman orthogonality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18841" y="1103802"/>
                <a:ext cx="8692958" cy="5754198"/>
              </a:xfrm>
            </p:spPr>
            <p:txBody>
              <a:bodyPr>
                <a:normAutofit/>
              </a:bodyPr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i="1" dirty="0"/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𝜼</m:t>
                                  </m:r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0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neighborhood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𝜼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Or alternatively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solidFill>
                                                <a:srgbClr val="0000CC"/>
                                              </a:solidFill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𝜼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solidFill>
                                                <a:srgbClr val="0000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CC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rgbClr val="0000CC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CC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lang="en-US" i="1">
                                                  <a:solidFill>
                                                    <a:srgbClr val="0000CC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;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CC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CC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CC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solidFill>
                                                    <a:srgbClr val="0000CC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1" i="1">
                                                  <a:solidFill>
                                                    <a:srgbClr val="0000CC"/>
                                                  </a:solidFill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𝜼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1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𝜼</m:t>
                          </m:r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Note that, by Taylor expansion,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𝜼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𝜼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  <m:r>
                                              <a:rPr lang="en-US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;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𝜼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𝜼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𝜼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841" y="1103802"/>
                <a:ext cx="8692958" cy="5754198"/>
              </a:xfrm>
              <a:blipFill>
                <a:blip r:embed="rId3"/>
                <a:stretch>
                  <a:fillRect l="-729" t="-881" b="-11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35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</p:spPr>
            <p:txBody>
              <a:bodyPr/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𝜕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𝜼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l-GR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  <a:blipFill>
                <a:blip r:embed="rId3"/>
                <a:stretch>
                  <a:fillRect l="-579" t="-13682" b="-3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00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Measurement error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969792"/>
                <a:ext cx="8754257" cy="5353370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Assumptions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</a:rPr>
                  <a:t>Transportability</a:t>
                </a:r>
                <a:endParaRPr lang="en-US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Surrogacy: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conditionally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en-US" dirty="0">
                  <a:latin typeface="Georgia" panose="02040502050405020303" pitchFamily="18" charset="0"/>
                </a:endParaRPr>
              </a:p>
              <a:p>
                <a:pPr eaLnBrk="1" fontAlgn="auto" hangingPunct="1">
                  <a:spcBef>
                    <a:spcPts val="1800"/>
                  </a:spcBef>
                  <a:spcAft>
                    <a:spcPts val="12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inear regression calibration model</a:t>
                </a:r>
              </a:p>
              <a:p>
                <a:pPr marL="0" indent="0" eaLnBrk="1" fontAlgn="auto" hangingPunct="1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Georgia" panose="02040502050405020303" pitchFamily="18" charset="0"/>
                  </a:rPr>
                  <a:t>.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</a:rPr>
                  <a:t>Fit linear regression model in the EVS: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𝐈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Predict true exposures in the MS</a:t>
                </a: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US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969792"/>
                <a:ext cx="8754257" cy="5353370"/>
              </a:xfrm>
              <a:blipFill>
                <a:blip r:embed="rId3"/>
                <a:stretch>
                  <a:fillRect l="-580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80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21" y="76200"/>
            <a:ext cx="781737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849868"/>
                <a:ext cx="8754257" cy="5685843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Modified 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</a:t>
                </a: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𝑅𝐶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𝑅𝐶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849868"/>
                <a:ext cx="8754257" cy="5685843"/>
              </a:xfrm>
              <a:blipFill>
                <a:blip r:embed="rId3"/>
                <a:stretch>
                  <a:fillRect l="-580" t="-1336" r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46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69822" y="1014762"/>
                <a:ext cx="8754257" cy="5266116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Statistical properties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  <m:r>
                      <a:rPr lang="en-US" sz="2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sz="2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consistent and normally distributed</a:t>
                </a:r>
                <a:endParaRPr lang="en-US" sz="2000" dirty="0">
                  <a:latin typeface="Georgia" panose="02040502050405020303" pitchFamily="18" charset="0"/>
                </a:endParaRPr>
              </a:p>
              <a:p>
                <a:pPr marL="0" marR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Asymptotic variance</a:t>
                </a:r>
              </a:p>
              <a:p>
                <a:pPr marL="347472" indent="0" algn="just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600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</m:acc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𝑅𝐶</m:t>
                              </m:r>
                            </m:sub>
                          </m:sSub>
                        </m:e>
                      </m:d>
                      <m:r>
                        <a:rPr lang="en-US" sz="1600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1,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1,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𝑚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p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𝑿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2,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𝑽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𝑚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𝑽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𝑌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𝑔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𝑽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nary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  <m:e>
                                              <m:nary>
                                                <m:naryPr>
                                                  <m:chr m:val="∑"/>
                                                  <m:limLoc m:val="undOvr"/>
                                                  <m:supHide m:val="on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∈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  <m:sup/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𝑫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;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𝛽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𝑅𝐶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𝜽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𝜼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𝑘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num>
                                                    <m:den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</m:den>
                                                  </m:f>
                                                </m:e>
                                              </m:nary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Var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𝑆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𝑫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;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𝜼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b="1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𝜽</m:t>
                                                  </m:r>
                                                </m:den>
                                              </m:f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𝜽</m:t>
                          </m:r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1600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822" y="1014762"/>
                <a:ext cx="8754257" cy="5266116"/>
              </a:xfrm>
              <a:blipFill>
                <a:blip r:embed="rId3"/>
                <a:stretch>
                  <a:fillRect l="-9855" t="-1202" b="-4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45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Illustrative example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7" y="1333040"/>
            <a:ext cx="8632825" cy="4595569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Main Study (Nurses' Health Study (NHS))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Outcome: cognitive function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constituents: </a:t>
            </a:r>
            <a:r>
              <a:rPr lang="en-US" kern="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DengXian" panose="02010600030101010101" pitchFamily="2" charset="-122"/>
              </a:rPr>
              <a:t>Br, Ca, Cu, Fe, Mn, Ni, S, Se, Si, Ti, V, Zn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Covariates: age, BMI, smoking, education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en-US" dirty="0">
                <a:latin typeface="Georgia" panose="02040502050405020303" pitchFamily="18" charset="0"/>
              </a:rPr>
              <a:t>Sample size: 10,110 participants</a:t>
            </a: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External Validation Study (Multi-Ethnic Study of Atherosclerosis (MESA))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True exposures of 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</a:t>
            </a:r>
            <a:endParaRPr lang="en-US" kern="1200" dirty="0">
              <a:solidFill>
                <a:srgbClr val="0000CC"/>
              </a:solidFill>
              <a:latin typeface="Georgia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Surrogate exposures of 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Covariates: age, BMI, smoking, education</a:t>
            </a:r>
            <a:endParaRPr lang="en-US" kern="1200" dirty="0">
              <a:latin typeface="Georgia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en-US" dirty="0">
                <a:latin typeface="Georgia" panose="02040502050405020303" pitchFamily="18" charset="0"/>
              </a:rPr>
              <a:t>Sample size: 117 person-months</a:t>
            </a:r>
            <a:endParaRPr lang="en-US" kern="12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497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NHS results summary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983" y="1429107"/>
            <a:ext cx="8468689" cy="429713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After correcting for exposure measurement error, 4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 showed significant effects.</a:t>
            </a:r>
            <a:endParaRPr lang="en-US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The effects of Br and Ti reversed after exposure measurement error correction and adjusting for other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Multi-pollutant analysis identified more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 affecting 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cognitive function.</a:t>
            </a:r>
          </a:p>
        </p:txBody>
      </p:sp>
    </p:spTree>
    <p:extLst>
      <p:ext uri="{BB962C8B-B14F-4D97-AF65-F5344CB8AC3E}">
        <p14:creationId xmlns:p14="http://schemas.microsoft.com/office/powerpoint/2010/main" val="4164022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17666</TotalTime>
  <Words>1049</Words>
  <Application>Microsoft Macintosh PowerPoint</Application>
  <PresentationFormat>On-screen Show (4:3)</PresentationFormat>
  <Paragraphs>138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Georgia</vt:lpstr>
      <vt:lpstr>Times New Roman</vt:lpstr>
      <vt:lpstr>Wingdings</vt:lpstr>
      <vt:lpstr>Office Theme</vt:lpstr>
      <vt:lpstr>PowerPoint Presentation</vt:lpstr>
      <vt:lpstr>Background</vt:lpstr>
      <vt:lpstr>Study design and notations</vt:lpstr>
      <vt:lpstr>Double/debiased machine learning (DML)</vt:lpstr>
      <vt:lpstr>Procedure to estimating (g^∗ ) ̂(⋅) and (m^∗ ) ̂(⋅) from the training sample I^c </vt:lpstr>
      <vt:lpstr>Double/debiased machine learning (DML)</vt:lpstr>
      <vt:lpstr>Neyman orthogonality</vt:lpstr>
      <vt:lpstr>Double/debiased machine learning (DML)</vt:lpstr>
      <vt:lpstr>Measurement error correction</vt:lpstr>
      <vt:lpstr>DML-RC</vt:lpstr>
      <vt:lpstr>DML-RC</vt:lpstr>
      <vt:lpstr>Illustrative example</vt:lpstr>
      <vt:lpstr>NHS results summary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Yale FBO Communications</dc:title>
  <dc:subject/>
  <dc:creator>Patrick J. Lynch</dc:creator>
  <cp:keywords/>
  <dc:description/>
  <cp:lastModifiedBy>Wang, Molin</cp:lastModifiedBy>
  <cp:revision>1483</cp:revision>
  <cp:lastPrinted>2007-07-16T15:50:51Z</cp:lastPrinted>
  <dcterms:modified xsi:type="dcterms:W3CDTF">2026-03-14T23:28:11Z</dcterms:modified>
  <cp:category/>
</cp:coreProperties>
</file>