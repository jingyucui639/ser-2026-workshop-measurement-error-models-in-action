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6" r:id="rId2"/>
    <p:sldId id="267" r:id="rId3"/>
    <p:sldId id="268" r:id="rId4"/>
    <p:sldId id="256" r:id="rId5"/>
    <p:sldId id="257" r:id="rId6"/>
    <p:sldId id="263" r:id="rId7"/>
    <p:sldId id="265" r:id="rId8"/>
    <p:sldId id="261" r:id="rId9"/>
    <p:sldId id="262" r:id="rId10"/>
    <p:sldId id="264" r:id="rId11"/>
    <p:sldId id="259" r:id="rId12"/>
    <p:sldId id="258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59"/>
    <p:restoredTop sz="82332"/>
  </p:normalViewPr>
  <p:slideViewPr>
    <p:cSldViewPr snapToGrid="0">
      <p:cViewPr varScale="1">
        <p:scale>
          <a:sx n="43" d="100"/>
          <a:sy n="43" d="100"/>
        </p:scale>
        <p:origin x="794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D2E01-F087-034A-B9B0-2DC03B1267C8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4F1DE-95AC-2048-9D6D-05C730A31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36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Shi W, et al. Eur Heart J. 2023;44:2626-2635. Meta-analysis on red meat and CVD.
- Al-Shaar L, et al. BMJ. 2020;371:m4141. Red meat intake and CHD in US men.
- Hidayat K, et al. Nutr Rev. 2022;80:1959-1973. Substitution meta-analysis.
- Lopez-Moreno M, et al. Clin Nutr. 2025;54:12-26. Network meta-analysis on animal vs plant proteins and lipids.
- Wang Z, et al. Eur Heart J. 2019;40:583-594. TMAO feeding trial.
- Lichtenstein AH, et al. Circulation. 2021;144:e472-e487. AHA dietary guidance.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341F0-DC49-EEA7-4EB0-AEB852702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63DF13-1753-DB19-4A64-74959F806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6C6D6-504E-7BAF-35DD-269A3451A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Shi W, et al. Eur Heart J. 2023;44:2626-2635. Meta-analysis on red meat and CVD.
- Al-Shaar L, et al. BMJ. 2020;371:m4141. Red meat intake and CHD in US men.
- Hidayat K, et al. Nutr Rev. 2022;80:1959-1973. Substitution meta-analysis.
- Lopez-Moreno M, et al. Clin Nutr. 2025;54:12-26. Network meta-analysis on animal vs plant proteins and lipids.
- Wang Z, et al. Eur Heart J. 2019;40:583-594. TMAO feeding trial.
- Lichtenstein AH, et al. Circulation. 2021;144:e472-e487. AHA dietary guidance.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D2BC6-93F9-6F07-2EBE-8D323DE33C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70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4F1DE-95AC-2048-9D6D-05C730A31F5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41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4F1DE-95AC-2048-9D6D-05C730A31F5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1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4F1DE-95AC-2048-9D6D-05C730A31F5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89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4F1DE-95AC-2048-9D6D-05C730A31F5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83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23A0-CFC6-FD12-ACF8-63CC9E9FE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AF5AD-1414-7E5D-A22E-0307B9B7A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2C93F-C967-409E-D6C1-81080F846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041B8-12D9-42B0-03B0-DBC066D77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535BF-8138-B83F-B687-B578CD29F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774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F70E5-C6C6-E54F-0906-CD7B71D3A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82AAB-8EA8-560A-67B7-24D4932C1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55437-DF01-D32D-6339-57920A45D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FA018-9248-416D-A42D-93C71C54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997F7-C575-A8BA-C95D-57AEE9122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918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9B3E5-D119-3DA1-D420-51B7C1548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3A819-66F3-84C5-76D0-DAE2B819B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F4143-ECFC-1630-9B6A-7C6B1BC29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9E120-6847-7A49-B07E-BB7F12FED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ECE0C-BE0C-B342-C7F7-8E86F11B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96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4A6CC-F477-79B7-ECCA-A2AEFB3A5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C65AA-9F77-B49E-9472-B76D39F12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941F9-CE95-E08B-E3F5-46CDCC103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9C125-2B40-F5BC-FC1D-4B9F26FD7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26DD5-BCDA-7C45-029D-674D64A88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504D6-DF67-15DF-737C-21E6BE0D2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922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AAFF1-C624-955F-32E7-2140DDB95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E5A19-CEEB-246A-670B-AABC7A620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96D79-52B3-C585-5144-036575AE1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D428B9-3C1E-ADEC-4BB6-7DC52BCD0F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E94CD3-CEFC-46C5-109C-74D793CEF4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34DEB9-7E2E-4F72-B8CB-9034D3BE9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6D214-9098-06E7-CBA5-48DE4C307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EAFE3D-80F2-802A-C94C-6840445F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65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C1DFE-E9BC-136A-0E1D-61F69BDFA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F3D456-5706-5039-85CA-F135E2264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DB718F-7093-0407-E729-C89240063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6C9CDB-1C5B-1F05-2F3A-0C37D0776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376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B9073E-ABF7-0C43-B809-984F5E98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FE4C14-0A18-0A20-E42F-51C14A970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1186E-BA92-90DA-00BA-AFF34D7E9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2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B7AF5-8253-40AE-7728-6760C97A2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940A9-7DDB-EFA2-5270-38583B3A3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8228C-EA7C-D16A-3C1B-A2EF4AE16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6EB31-CD33-CA9C-C1C3-59005D417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6D7CB-6992-6CAD-A13E-4869FFC3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E41660-FF8A-FE9E-1F27-504262202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012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C9617-8747-9314-74A2-E6028D41E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2BFEC7-B601-65ED-7F07-2976D900B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EB059-9BB3-EDA9-97FA-827E2AF9D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2DE5D-B13B-30A3-6C1D-DF8F197B8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57731-A507-4CBD-B6C6-479A5BB9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DBD69-5864-304A-6EC2-2D5054366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3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25673-FA08-8F2D-3E40-68D615444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FF467-2E0E-ED1F-9B4B-B227CA088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E0F03-C350-3271-D3FD-2CE5D9DD5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37B18-0869-1579-D571-2D10F2CF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92450-9214-A62C-C61A-5C12E7F67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520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E7FDCD-BB71-59CD-0DD3-AE205AFE07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A97D8-3C88-C8BE-9DB2-B20232297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7B4BB-5BA7-8739-D3C4-CA0B246DA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4605-EFA3-3841-90B3-773B39989A2D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C2753-0921-145C-DBEB-A2CDD045C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E058E-D090-6789-C69B-946DB95E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95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5220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D06F0-D619-CC23-2471-2A7CFDC45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8B0CD-0524-542C-AEB4-6411295C6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E292B-94F2-216F-7B9A-22BCD6B91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14605-EFA3-3841-90B3-773B39989A2D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94F23-746E-3E30-B1DF-A78BE33DD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BAE4F-0BF6-CA17-4487-E1525D60A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D9229D-FBFA-AD45-92E2-DEDAB28F3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46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0D1396-F69C-8D58-A525-996644D62275}"/>
              </a:ext>
            </a:extLst>
          </p:cNvPr>
          <p:cNvSpPr/>
          <p:nvPr/>
        </p:nvSpPr>
        <p:spPr>
          <a:xfrm>
            <a:off x="0" y="794207"/>
            <a:ext cx="11033967" cy="15938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FE30B0-3984-FBE9-1F79-3842BBD4CC18}"/>
              </a:ext>
            </a:extLst>
          </p:cNvPr>
          <p:cNvSpPr txBox="1"/>
          <p:nvPr/>
        </p:nvSpPr>
        <p:spPr>
          <a:xfrm>
            <a:off x="274932" y="1178206"/>
            <a:ext cx="109277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The Association Between Red Meat Intake and Coronary Heart Disease (CHD) in The Nurses’ Health Study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02E56-1F0E-B18D-37FE-D16F8803494A}"/>
              </a:ext>
            </a:extLst>
          </p:cNvPr>
          <p:cNvSpPr txBox="1"/>
          <p:nvPr/>
        </p:nvSpPr>
        <p:spPr>
          <a:xfrm>
            <a:off x="1455312" y="2605631"/>
            <a:ext cx="928137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Helvetica" pitchFamily="2" charset="0"/>
                <a:ea typeface="Palatino" pitchFamily="2" charset="77"/>
              </a:rPr>
              <a:t>Correcting  for Measurement Error in </a:t>
            </a:r>
          </a:p>
          <a:p>
            <a:pPr algn="ctr"/>
            <a:r>
              <a:rPr lang="en-US" sz="2800" b="1" dirty="0">
                <a:latin typeface="Helvetica" pitchFamily="2" charset="0"/>
                <a:ea typeface="Palatino" pitchFamily="2" charset="77"/>
              </a:rPr>
              <a:t>Baseline and Cumulative Average Assessments with Regression Calibration for Survival 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3DE3F9-81D6-BC1A-2868-742C1991FEC5}"/>
              </a:ext>
            </a:extLst>
          </p:cNvPr>
          <p:cNvSpPr txBox="1"/>
          <p:nvPr/>
        </p:nvSpPr>
        <p:spPr>
          <a:xfrm>
            <a:off x="5738787" y="4252369"/>
            <a:ext cx="549927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/>
            <a:r>
              <a:rPr lang="en-US" sz="2000" dirty="0"/>
              <a:t>Donna Spiegelman, ScD</a:t>
            </a:r>
          </a:p>
          <a:p>
            <a:pPr algn="r" fontAlgn="base"/>
            <a:r>
              <a:rPr lang="en-US" sz="2000" dirty="0"/>
              <a:t>Susan Dwight Bliss Professor of Biostatistics</a:t>
            </a:r>
          </a:p>
          <a:p>
            <a:pPr algn="r" fontAlgn="base"/>
            <a:r>
              <a:rPr lang="en-US" sz="2000" dirty="0"/>
              <a:t>Yale School of Public Health</a:t>
            </a:r>
          </a:p>
          <a:p>
            <a:pPr algn="r" fontAlgn="base"/>
            <a:r>
              <a:rPr lang="en-US" sz="2000" dirty="0"/>
              <a:t>March 15, 2026</a:t>
            </a:r>
          </a:p>
          <a:p>
            <a:pPr algn="r" fontAlgn="base"/>
            <a:endParaRPr lang="en-US" sz="2000" dirty="0"/>
          </a:p>
          <a:p>
            <a:pPr algn="r" fontAlgn="base"/>
            <a:r>
              <a:rPr lang="en-US" sz="2000" dirty="0"/>
              <a:t>Xiao Gu , Molin Wang, Walter Willett</a:t>
            </a:r>
          </a:p>
          <a:p>
            <a:pPr algn="r" fontAlgn="base"/>
            <a:r>
              <a:rPr lang="en-US" sz="2000" dirty="0"/>
              <a:t>Harvard School of Public Health</a:t>
            </a:r>
          </a:p>
          <a:p>
            <a:pPr algn="r" fontAlgn="base"/>
            <a:r>
              <a:rPr lang="en-US" sz="2000" dirty="0"/>
              <a:t>Boston, MA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CF198E-7E0D-A833-9216-5C18CE8E2A02}"/>
              </a:ext>
            </a:extLst>
          </p:cNvPr>
          <p:cNvCxnSpPr/>
          <p:nvPr/>
        </p:nvCxnSpPr>
        <p:spPr>
          <a:xfrm>
            <a:off x="5738787" y="4138393"/>
            <a:ext cx="60960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961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5897880"/>
            <a:ext cx="1280160" cy="1280160"/>
          </a:xfrm>
          <a:prstGeom prst="ellipse">
            <a:avLst/>
          </a:prstGeom>
          <a:solidFill>
            <a:srgbClr val="F1ECE4"/>
          </a:solidFill>
          <a:ln w="12700">
            <a:solidFill>
              <a:srgbClr val="F1E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146216" y="187610"/>
            <a:ext cx="1280160" cy="1280160"/>
          </a:xfrm>
          <a:prstGeom prst="ellipse">
            <a:avLst/>
          </a:prstGeom>
          <a:solidFill>
            <a:srgbClr val="F1ECE4"/>
          </a:solidFill>
          <a:ln w="12700">
            <a:solidFill>
              <a:srgbClr val="F1E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2980" y="2115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3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 Meat Intake and Coronary Heart Disease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  <a:effectLst>
            <a:outerShdw blurRad="2286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0352" y="1078992"/>
            <a:ext cx="11100816" cy="109728"/>
          </a:xfrm>
          <a:prstGeom prst="roundRect">
            <a:avLst>
              <a:gd name="adj" fmla="val 41667"/>
            </a:avLst>
          </a:prstGeom>
          <a:solidFill>
            <a:srgbClr val="A3312D"/>
          </a:solidFill>
          <a:ln w="12700">
            <a:solidFill>
              <a:srgbClr val="A331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9808" y="1335024"/>
            <a:ext cx="530352" cy="530352"/>
          </a:xfrm>
          <a:prstGeom prst="ellipse">
            <a:avLst/>
          </a:prstGeom>
          <a:solidFill>
            <a:srgbClr val="F7E6E3"/>
          </a:solidFill>
          <a:ln w="12700">
            <a:solidFill>
              <a:srgbClr val="F7E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968" y="1425184"/>
            <a:ext cx="350032" cy="3500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353312" y="1335024"/>
            <a:ext cx="530352" cy="530352"/>
          </a:xfrm>
          <a:prstGeom prst="ellipse">
            <a:avLst/>
          </a:prstGeom>
          <a:solidFill>
            <a:srgbClr val="F7E6E3"/>
          </a:solidFill>
          <a:ln w="12700">
            <a:solidFill>
              <a:srgbClr val="F7E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3472" y="1425184"/>
            <a:ext cx="350032" cy="350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1168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3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takeaway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011680" y="1536191"/>
            <a:ext cx="9052560" cy="4893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13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intake of red meat is associated with modestly higher CHD/CVD risk, with the strongest and most consistent association for processed red meat.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02920" y="2487168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21208" y="2505456"/>
            <a:ext cx="3529584" cy="73152"/>
          </a:xfrm>
          <a:prstGeom prst="roundRect">
            <a:avLst>
              <a:gd name="adj" fmla="val 50000"/>
            </a:avLst>
          </a:prstGeom>
          <a:solidFill>
            <a:srgbClr val="F7E6E3"/>
          </a:solidFill>
          <a:ln w="12700">
            <a:solidFill>
              <a:srgbClr val="F7E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49224" y="2596896"/>
            <a:ext cx="512064" cy="512064"/>
          </a:xfrm>
          <a:prstGeom prst="ellipse">
            <a:avLst/>
          </a:prstGeom>
          <a:solidFill>
            <a:srgbClr val="F7E6E3"/>
          </a:solidFill>
          <a:ln w="12700">
            <a:solidFill>
              <a:srgbClr val="F7E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275" y="2683947"/>
            <a:ext cx="337962" cy="33796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52728" y="26334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3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evidence shows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704088" y="3182112"/>
            <a:ext cx="325526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13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and meta-analytic data suggest modestly higher CHD/CVD risk with higher red-meat intake.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13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Processed red meat generally shows the strongest adverse association.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13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Unprocessed red meat shows a smaller but still positive association.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4315968" y="2487168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334256" y="2505456"/>
            <a:ext cx="3529584" cy="73152"/>
          </a:xfrm>
          <a:prstGeom prst="roundRect">
            <a:avLst>
              <a:gd name="adj" fmla="val 50000"/>
            </a:avLst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462272" y="2596896"/>
            <a:ext cx="512064" cy="512064"/>
          </a:xfrm>
          <a:prstGeom prst="ellipse">
            <a:avLst/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49323" y="2683947"/>
            <a:ext cx="337962" cy="33796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065776" y="26334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3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helps most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4517136" y="3182112"/>
            <a:ext cx="325526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13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Replacing red meat with nuts, legumes, soy, and whole grains is associated with lower CHD risk.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13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Replacement appears more important than meat viewed in isolation.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13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Plant-protein replacement also improves LDL-C in trials.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8129016" y="2487168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8147304" y="2505456"/>
            <a:ext cx="3529584" cy="73152"/>
          </a:xfrm>
          <a:prstGeom prst="roundRect">
            <a:avLst>
              <a:gd name="adj" fmla="val 5000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8275320" y="2596896"/>
            <a:ext cx="512064" cy="512064"/>
          </a:xfrm>
          <a:prstGeom prst="ellipse">
            <a:avLst/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62371" y="2683947"/>
            <a:ext cx="337962" cy="33796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878824" y="26334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3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strong is the evidence?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8330184" y="3182112"/>
            <a:ext cx="325526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13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for observational diet-disease associations.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13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by short-term mechanistic and lipid trial data.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13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certainty remains incomplete.</a:t>
            </a:r>
            <a:endParaRPr lang="en-US" sz="1350" dirty="0"/>
          </a:p>
        </p:txBody>
      </p:sp>
      <p:sp>
        <p:nvSpPr>
          <p:cNvPr id="35" name="Shape 28"/>
          <p:cNvSpPr/>
          <p:nvPr/>
        </p:nvSpPr>
        <p:spPr>
          <a:xfrm>
            <a:off x="822960" y="5074920"/>
            <a:ext cx="105613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1078992" y="5276088"/>
            <a:ext cx="402336" cy="402336"/>
          </a:xfrm>
          <a:prstGeom prst="ellipse">
            <a:avLst/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7899" y="5270915"/>
            <a:ext cx="265542" cy="26554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627632" y="523036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3547"/>
                </a:solidFill>
              </a:rPr>
              <a:t>Practical prevention message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1627632" y="5486400"/>
            <a:ext cx="9098280" cy="35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13547"/>
                </a:solidFill>
              </a:rPr>
              <a:t>Replace red meat with plant-based protein sources when possible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566928" y="6355080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Evidence base includes Eur Heart J 2023 meta-analysis; BMJ 2020 cohort; Nutr Rev 2022 substitution meta-analysis; Clin Nutr 2025 network meta-analysis; Eur Heart J 2019 TMAO trial; Circulation 2021 AHA guidance.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60366-BEBF-BFFC-31DC-FE4297074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511158-6F9B-A02B-ED52-F8C600733597}"/>
              </a:ext>
            </a:extLst>
          </p:cNvPr>
          <p:cNvSpPr/>
          <p:nvPr/>
        </p:nvSpPr>
        <p:spPr>
          <a:xfrm>
            <a:off x="-182880" y="5897880"/>
            <a:ext cx="1280160" cy="1280160"/>
          </a:xfrm>
          <a:prstGeom prst="ellipse">
            <a:avLst/>
          </a:prstGeom>
          <a:solidFill>
            <a:srgbClr val="F1ECE4"/>
          </a:solidFill>
          <a:ln w="12700">
            <a:solidFill>
              <a:srgbClr val="F1E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8F850A8-C5FC-235C-522C-C68FE9DF318A}"/>
              </a:ext>
            </a:extLst>
          </p:cNvPr>
          <p:cNvSpPr/>
          <p:nvPr/>
        </p:nvSpPr>
        <p:spPr>
          <a:xfrm>
            <a:off x="11146216" y="187610"/>
            <a:ext cx="1280160" cy="1280160"/>
          </a:xfrm>
          <a:prstGeom prst="ellipse">
            <a:avLst/>
          </a:prstGeom>
          <a:solidFill>
            <a:srgbClr val="F1ECE4"/>
          </a:solidFill>
          <a:ln w="12700">
            <a:solidFill>
              <a:srgbClr val="F1EC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16078A3-FD32-43A8-313B-2F21BE3E201D}"/>
              </a:ext>
            </a:extLst>
          </p:cNvPr>
          <p:cNvSpPr/>
          <p:nvPr/>
        </p:nvSpPr>
        <p:spPr>
          <a:xfrm>
            <a:off x="532980" y="2115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3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 Meat Intake and Coronary Heart Disease</a:t>
            </a: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2BA19B4-C862-A08C-EAF3-522B3AE11A77}"/>
              </a:ext>
            </a:extLst>
          </p:cNvPr>
          <p:cNvSpPr/>
          <p:nvPr/>
        </p:nvSpPr>
        <p:spPr>
          <a:xfrm>
            <a:off x="502920" y="105156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  <a:effectLst>
            <a:outerShdw blurRad="22860" dist="127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327243F-2ECE-FF3A-5F5C-A9F65A237A0D}"/>
              </a:ext>
            </a:extLst>
          </p:cNvPr>
          <p:cNvSpPr/>
          <p:nvPr/>
        </p:nvSpPr>
        <p:spPr>
          <a:xfrm>
            <a:off x="530352" y="1078992"/>
            <a:ext cx="11100816" cy="109728"/>
          </a:xfrm>
          <a:prstGeom prst="roundRect">
            <a:avLst>
              <a:gd name="adj" fmla="val 41667"/>
            </a:avLst>
          </a:prstGeom>
          <a:solidFill>
            <a:srgbClr val="A3312D"/>
          </a:solidFill>
          <a:ln w="12700">
            <a:solidFill>
              <a:srgbClr val="A331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FB36CB4-F624-07D9-EC1B-F1D97270B157}"/>
              </a:ext>
            </a:extLst>
          </p:cNvPr>
          <p:cNvSpPr/>
          <p:nvPr/>
        </p:nvSpPr>
        <p:spPr>
          <a:xfrm>
            <a:off x="749808" y="1335024"/>
            <a:ext cx="530352" cy="530352"/>
          </a:xfrm>
          <a:prstGeom prst="ellipse">
            <a:avLst/>
          </a:prstGeom>
          <a:solidFill>
            <a:srgbClr val="F7E6E3"/>
          </a:solidFill>
          <a:ln w="12700">
            <a:solidFill>
              <a:srgbClr val="F7E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E38DFAD8-03FA-E596-8189-9ED4A26E24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968" y="1425184"/>
            <a:ext cx="350032" cy="350032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99638E62-346F-7F12-4C4B-A38DED5CD436}"/>
              </a:ext>
            </a:extLst>
          </p:cNvPr>
          <p:cNvSpPr/>
          <p:nvPr/>
        </p:nvSpPr>
        <p:spPr>
          <a:xfrm>
            <a:off x="1353312" y="1335024"/>
            <a:ext cx="530352" cy="530352"/>
          </a:xfrm>
          <a:prstGeom prst="ellipse">
            <a:avLst/>
          </a:prstGeom>
          <a:solidFill>
            <a:srgbClr val="F7E6E3"/>
          </a:solidFill>
          <a:ln w="12700">
            <a:solidFill>
              <a:srgbClr val="F7E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5D46AA71-D919-5422-9753-AB6EF36D3E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43472" y="1425184"/>
            <a:ext cx="350032" cy="350032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77902A3B-1843-482A-96C5-C9DB07F843A6}"/>
              </a:ext>
            </a:extLst>
          </p:cNvPr>
          <p:cNvSpPr/>
          <p:nvPr/>
        </p:nvSpPr>
        <p:spPr>
          <a:xfrm>
            <a:off x="201168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3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takeaway</a:t>
            </a:r>
            <a:endParaRPr lang="en-US" sz="1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E6D8415-86E7-4DDB-0F6F-89BABDDAC143}"/>
              </a:ext>
            </a:extLst>
          </p:cNvPr>
          <p:cNvSpPr/>
          <p:nvPr/>
        </p:nvSpPr>
        <p:spPr>
          <a:xfrm>
            <a:off x="2011680" y="1536191"/>
            <a:ext cx="9052560" cy="4893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13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intake of red meat is associated with modestly higher CHD/CVD risk, with the strongest and most consistent association for processed red meat.</a:t>
            </a:r>
            <a:endParaRPr lang="en-US" sz="150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56C73C03-4C37-9778-5572-A4E61B818820}"/>
              </a:ext>
            </a:extLst>
          </p:cNvPr>
          <p:cNvSpPr/>
          <p:nvPr/>
        </p:nvSpPr>
        <p:spPr>
          <a:xfrm>
            <a:off x="502920" y="2487168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55164195-CD70-757A-0EFF-F9A794941081}"/>
              </a:ext>
            </a:extLst>
          </p:cNvPr>
          <p:cNvSpPr/>
          <p:nvPr/>
        </p:nvSpPr>
        <p:spPr>
          <a:xfrm>
            <a:off x="521208" y="2505456"/>
            <a:ext cx="3529584" cy="73152"/>
          </a:xfrm>
          <a:prstGeom prst="roundRect">
            <a:avLst>
              <a:gd name="adj" fmla="val 50000"/>
            </a:avLst>
          </a:prstGeom>
          <a:solidFill>
            <a:srgbClr val="F7E6E3"/>
          </a:solidFill>
          <a:ln w="12700">
            <a:solidFill>
              <a:srgbClr val="F7E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399F61E1-0953-5835-BE1B-1B0A811C9E78}"/>
              </a:ext>
            </a:extLst>
          </p:cNvPr>
          <p:cNvSpPr/>
          <p:nvPr/>
        </p:nvSpPr>
        <p:spPr>
          <a:xfrm>
            <a:off x="649224" y="2596896"/>
            <a:ext cx="512064" cy="512064"/>
          </a:xfrm>
          <a:prstGeom prst="ellipse">
            <a:avLst/>
          </a:prstGeom>
          <a:solidFill>
            <a:srgbClr val="F7E6E3"/>
          </a:solidFill>
          <a:ln w="12700">
            <a:solidFill>
              <a:srgbClr val="F7E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5FE66030-3ADF-6F12-2AF5-EFF9CA68A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275" y="2683947"/>
            <a:ext cx="337962" cy="337962"/>
          </a:xfrm>
          <a:prstGeom prst="rect">
            <a:avLst/>
          </a:prstGeom>
        </p:spPr>
      </p:pic>
      <p:sp>
        <p:nvSpPr>
          <p:cNvPr id="21" name="Text 16">
            <a:extLst>
              <a:ext uri="{FF2B5EF4-FFF2-40B4-BE49-F238E27FC236}">
                <a16:creationId xmlns:a16="http://schemas.microsoft.com/office/drawing/2014/main" id="{F60D0054-FC30-D5DD-988B-01FE34893DAF}"/>
              </a:ext>
            </a:extLst>
          </p:cNvPr>
          <p:cNvSpPr/>
          <p:nvPr/>
        </p:nvSpPr>
        <p:spPr>
          <a:xfrm>
            <a:off x="1252728" y="26334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3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evidence shows</a:t>
            </a:r>
            <a:endParaRPr lang="en-US" sz="18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1C94A69D-8CBC-3714-D356-8C5623FC31B2}"/>
              </a:ext>
            </a:extLst>
          </p:cNvPr>
          <p:cNvSpPr/>
          <p:nvPr/>
        </p:nvSpPr>
        <p:spPr>
          <a:xfrm>
            <a:off x="704088" y="3182112"/>
            <a:ext cx="325526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13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and meta-analytic data suggest modestly higher CHD/CVD risk with higher red-meat intake.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13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Processed red meat generally shows the strongest adverse association.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13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Unprocessed red meat shows a smaller but still positive association.</a:t>
            </a:r>
            <a:endParaRPr lang="en-US" sz="1350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26BC36EF-43A1-57D5-A1AA-15057D46A15B}"/>
              </a:ext>
            </a:extLst>
          </p:cNvPr>
          <p:cNvSpPr/>
          <p:nvPr/>
        </p:nvSpPr>
        <p:spPr>
          <a:xfrm>
            <a:off x="4315968" y="2487168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D61E14C3-01A9-0655-296C-13170B9F7C4A}"/>
              </a:ext>
            </a:extLst>
          </p:cNvPr>
          <p:cNvSpPr/>
          <p:nvPr/>
        </p:nvSpPr>
        <p:spPr>
          <a:xfrm>
            <a:off x="4334256" y="2505456"/>
            <a:ext cx="3529584" cy="73152"/>
          </a:xfrm>
          <a:prstGeom prst="roundRect">
            <a:avLst>
              <a:gd name="adj" fmla="val 50000"/>
            </a:avLst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C9AECCDE-F174-ACAC-5BBE-B380BDE52456}"/>
              </a:ext>
            </a:extLst>
          </p:cNvPr>
          <p:cNvSpPr/>
          <p:nvPr/>
        </p:nvSpPr>
        <p:spPr>
          <a:xfrm>
            <a:off x="4462272" y="2596896"/>
            <a:ext cx="512064" cy="512064"/>
          </a:xfrm>
          <a:prstGeom prst="ellipse">
            <a:avLst/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3E45647C-B4FD-DFEE-3485-B52AE5DF4C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49323" y="2683947"/>
            <a:ext cx="337962" cy="337962"/>
          </a:xfrm>
          <a:prstGeom prst="rect">
            <a:avLst/>
          </a:prstGeom>
        </p:spPr>
      </p:pic>
      <p:sp>
        <p:nvSpPr>
          <p:cNvPr id="27" name="Text 21">
            <a:extLst>
              <a:ext uri="{FF2B5EF4-FFF2-40B4-BE49-F238E27FC236}">
                <a16:creationId xmlns:a16="http://schemas.microsoft.com/office/drawing/2014/main" id="{6252BF78-B358-B100-7561-9BCB0E3D3ABD}"/>
              </a:ext>
            </a:extLst>
          </p:cNvPr>
          <p:cNvSpPr/>
          <p:nvPr/>
        </p:nvSpPr>
        <p:spPr>
          <a:xfrm>
            <a:off x="5065776" y="26334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3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helps most</a:t>
            </a:r>
            <a:endParaRPr lang="en-US" sz="180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809FB9B6-C225-FFB0-2E6A-44AB2FADF18B}"/>
              </a:ext>
            </a:extLst>
          </p:cNvPr>
          <p:cNvSpPr/>
          <p:nvPr/>
        </p:nvSpPr>
        <p:spPr>
          <a:xfrm>
            <a:off x="4517136" y="3182112"/>
            <a:ext cx="325526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13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Replacing red meat with nuts, legumes, soy, and whole grains is associated with lower CHD risk.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13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Replacement appears more important than meat viewed in isolation.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13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Plant-protein replacement also improves LDL-C in trials.</a:t>
            </a:r>
            <a:endParaRPr lang="en-US" sz="1350" dirty="0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E391F34F-2816-5290-0985-9F32262D8156}"/>
              </a:ext>
            </a:extLst>
          </p:cNvPr>
          <p:cNvSpPr/>
          <p:nvPr/>
        </p:nvSpPr>
        <p:spPr>
          <a:xfrm>
            <a:off x="8129016" y="2487168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858B59B1-D03F-B457-D061-285A2AF9E4DD}"/>
              </a:ext>
            </a:extLst>
          </p:cNvPr>
          <p:cNvSpPr/>
          <p:nvPr/>
        </p:nvSpPr>
        <p:spPr>
          <a:xfrm>
            <a:off x="8147304" y="2505456"/>
            <a:ext cx="3529584" cy="73152"/>
          </a:xfrm>
          <a:prstGeom prst="roundRect">
            <a:avLst>
              <a:gd name="adj" fmla="val 5000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C01702A2-F43C-BEA4-4E4D-0165B0F92AC5}"/>
              </a:ext>
            </a:extLst>
          </p:cNvPr>
          <p:cNvSpPr/>
          <p:nvPr/>
        </p:nvSpPr>
        <p:spPr>
          <a:xfrm>
            <a:off x="8275320" y="2596896"/>
            <a:ext cx="512064" cy="512064"/>
          </a:xfrm>
          <a:prstGeom prst="ellipse">
            <a:avLst/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469A17DE-9F94-9E26-B6B1-338694266D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62371" y="2683947"/>
            <a:ext cx="337962" cy="337962"/>
          </a:xfrm>
          <a:prstGeom prst="rect">
            <a:avLst/>
          </a:prstGeom>
        </p:spPr>
      </p:pic>
      <p:sp>
        <p:nvSpPr>
          <p:cNvPr id="33" name="Text 26">
            <a:extLst>
              <a:ext uri="{FF2B5EF4-FFF2-40B4-BE49-F238E27FC236}">
                <a16:creationId xmlns:a16="http://schemas.microsoft.com/office/drawing/2014/main" id="{FF0BCBEE-04D2-0F7B-B429-048094FD3017}"/>
              </a:ext>
            </a:extLst>
          </p:cNvPr>
          <p:cNvSpPr/>
          <p:nvPr/>
        </p:nvSpPr>
        <p:spPr>
          <a:xfrm>
            <a:off x="8878824" y="26334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35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strong is the evidence?</a:t>
            </a:r>
            <a:endParaRPr lang="en-US" sz="180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78D9DE43-4CD8-ECC7-DE60-772B29AB0EE1}"/>
              </a:ext>
            </a:extLst>
          </p:cNvPr>
          <p:cNvSpPr/>
          <p:nvPr/>
        </p:nvSpPr>
        <p:spPr>
          <a:xfrm>
            <a:off x="8330184" y="3182112"/>
            <a:ext cx="3255264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13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for observational diet-disease associations.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13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by short-term mechanistic and lipid trial data.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2135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certainty remains incomplete.</a:t>
            </a:r>
            <a:endParaRPr lang="en-US" sz="1350" dirty="0"/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7B1704C9-5D32-372B-2416-AB599C5FC9B1}"/>
              </a:ext>
            </a:extLst>
          </p:cNvPr>
          <p:cNvSpPr/>
          <p:nvPr/>
        </p:nvSpPr>
        <p:spPr>
          <a:xfrm>
            <a:off x="822960" y="5074920"/>
            <a:ext cx="105613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D2C7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49EF4337-DBF8-8B48-5CCA-3EAE4FBBD2D9}"/>
              </a:ext>
            </a:extLst>
          </p:cNvPr>
          <p:cNvSpPr/>
          <p:nvPr/>
        </p:nvSpPr>
        <p:spPr>
          <a:xfrm>
            <a:off x="1078992" y="5276088"/>
            <a:ext cx="402336" cy="402336"/>
          </a:xfrm>
          <a:prstGeom prst="ellipse">
            <a:avLst/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>
            <a:extLst>
              <a:ext uri="{FF2B5EF4-FFF2-40B4-BE49-F238E27FC236}">
                <a16:creationId xmlns:a16="http://schemas.microsoft.com/office/drawing/2014/main" id="{97E4157F-C372-6C60-7F1E-80F6CFF2E7B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7899" y="5270915"/>
            <a:ext cx="265542" cy="265542"/>
          </a:xfrm>
          <a:prstGeom prst="rect">
            <a:avLst/>
          </a:prstGeom>
        </p:spPr>
      </p:pic>
      <p:sp>
        <p:nvSpPr>
          <p:cNvPr id="38" name="Text 30">
            <a:extLst>
              <a:ext uri="{FF2B5EF4-FFF2-40B4-BE49-F238E27FC236}">
                <a16:creationId xmlns:a16="http://schemas.microsoft.com/office/drawing/2014/main" id="{BB310A02-3878-E3D5-9E05-635A8FC69CC8}"/>
              </a:ext>
            </a:extLst>
          </p:cNvPr>
          <p:cNvSpPr/>
          <p:nvPr/>
        </p:nvSpPr>
        <p:spPr>
          <a:xfrm>
            <a:off x="1627632" y="523036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3547"/>
                </a:solidFill>
              </a:rPr>
              <a:t>Practical prevention message</a:t>
            </a:r>
            <a:endParaRPr lang="en-US" sz="1500" dirty="0"/>
          </a:p>
        </p:txBody>
      </p:sp>
      <p:sp>
        <p:nvSpPr>
          <p:cNvPr id="40" name="Text 32">
            <a:extLst>
              <a:ext uri="{FF2B5EF4-FFF2-40B4-BE49-F238E27FC236}">
                <a16:creationId xmlns:a16="http://schemas.microsoft.com/office/drawing/2014/main" id="{43CCA59F-897E-2D55-2E8F-00A0C8BEB314}"/>
              </a:ext>
            </a:extLst>
          </p:cNvPr>
          <p:cNvSpPr/>
          <p:nvPr/>
        </p:nvSpPr>
        <p:spPr>
          <a:xfrm>
            <a:off x="566928" y="6355080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772"/>
                </a:solidFill>
              </a:rPr>
              <a:t>Evidence base includes Eur Heart J 2023 meta-analysis; BMJ 2020 cohort; Nutr Rev 2022 substitution meta-analysis; Clin Nutr 2025 network meta-analysis; Eur Heart J 2019 TMAO trial; Circulation 2021 AHA guidance.</a:t>
            </a:r>
            <a:endParaRPr lang="en-US" sz="8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C2518A-A46B-9F1E-87E3-D0DBD62156D4}"/>
              </a:ext>
            </a:extLst>
          </p:cNvPr>
          <p:cNvSpPr/>
          <p:nvPr/>
        </p:nvSpPr>
        <p:spPr>
          <a:xfrm>
            <a:off x="1737360" y="2011680"/>
            <a:ext cx="8778240" cy="1645920"/>
          </a:xfrm>
          <a:prstGeom prst="rect">
            <a:avLst/>
          </a:prstGeom>
          <a:solidFill>
            <a:srgbClr val="FFFFFF"/>
          </a:solidFill>
          <a:ln w="31750">
            <a:solidFill>
              <a:srgbClr val="A0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300" b="1" dirty="0">
                <a:solidFill>
                  <a:srgbClr val="780000"/>
                </a:solidFill>
                <a:latin typeface="Arial"/>
              </a:rPr>
              <a:t>How does correcting for measurement error change the interpretation of these data?</a:t>
            </a:r>
          </a:p>
        </p:txBody>
      </p:sp>
      <p:sp>
        <p:nvSpPr>
          <p:cNvPr id="15" name="Text 31">
            <a:extLst>
              <a:ext uri="{FF2B5EF4-FFF2-40B4-BE49-F238E27FC236}">
                <a16:creationId xmlns:a16="http://schemas.microsoft.com/office/drawing/2014/main" id="{D9626DA9-1DD2-A591-2547-7D33650C9132}"/>
              </a:ext>
            </a:extLst>
          </p:cNvPr>
          <p:cNvSpPr/>
          <p:nvPr/>
        </p:nvSpPr>
        <p:spPr>
          <a:xfrm>
            <a:off x="1627632" y="5486400"/>
            <a:ext cx="9098280" cy="35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13547"/>
                </a:solidFill>
              </a:rPr>
              <a:t>Replace red meat with plant-based protein sources when possible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853623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BB9DFB-3FB1-1AE3-8481-1AF76D54E270}"/>
              </a:ext>
            </a:extLst>
          </p:cNvPr>
          <p:cNvSpPr/>
          <p:nvPr/>
        </p:nvSpPr>
        <p:spPr>
          <a:xfrm>
            <a:off x="0" y="0"/>
            <a:ext cx="12192000" cy="76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AD1FC-5771-81FB-F7FE-287A38C7B4B1}"/>
              </a:ext>
            </a:extLst>
          </p:cNvPr>
          <p:cNvSpPr txBox="1"/>
          <p:nvPr/>
        </p:nvSpPr>
        <p:spPr>
          <a:xfrm>
            <a:off x="134600" y="2000455"/>
            <a:ext cx="586083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Main Study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C056A1-C30C-A9D3-8E80-C0050A8E3D02}"/>
              </a:ext>
            </a:extLst>
          </p:cNvPr>
          <p:cNvSpPr txBox="1"/>
          <p:nvPr/>
        </p:nvSpPr>
        <p:spPr>
          <a:xfrm>
            <a:off x="6205834" y="2000455"/>
            <a:ext cx="586083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Validation Study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1C65AF-EAC2-28BC-DD31-C48F299C518E}"/>
              </a:ext>
            </a:extLst>
          </p:cNvPr>
          <p:cNvSpPr txBox="1"/>
          <p:nvPr/>
        </p:nvSpPr>
        <p:spPr>
          <a:xfrm>
            <a:off x="121721" y="2403028"/>
            <a:ext cx="5860834" cy="4170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The Nurses’ Health Study (NHS) recruited 121,700 female registered nurses aged 30 to 55 y in 1976 from 11 US states.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Participants have been followed biennially through mailed questionnaires about diseases and health-related topics.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Dietary intakes were </a:t>
            </a:r>
            <a:r>
              <a:rPr lang="en-US" sz="1600" b="1" dirty="0">
                <a:latin typeface="Helvetica" pitchFamily="2" charset="0"/>
              </a:rPr>
              <a:t>assessed every 2 to 4 y </a:t>
            </a:r>
            <a:r>
              <a:rPr lang="en-US" sz="1600" dirty="0">
                <a:latin typeface="Helvetica" pitchFamily="2" charset="0"/>
              </a:rPr>
              <a:t>using semiquantitative </a:t>
            </a:r>
            <a:r>
              <a:rPr lang="en-US" sz="1600" b="1" dirty="0">
                <a:latin typeface="Helvetica" pitchFamily="2" charset="0"/>
              </a:rPr>
              <a:t>food frequency questionnaires (FFQs).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In this analyses, we start follow-up in 980, the year when the dietary data was first collected.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Participants who reported a baseline history of diabetes, myocardial infarction, angina, stroke, coronary artery bypass grafting, or cancer, and those who had an energy intake of &lt;500 kcal/d or &gt;3500 kcal/d, had missing age or baseline red meat intake were excluded.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The final analytical population included </a:t>
            </a:r>
            <a:r>
              <a:rPr lang="en-US" sz="1600" b="1" dirty="0">
                <a:latin typeface="Helvetica" pitchFamily="2" charset="0"/>
              </a:rPr>
              <a:t>84,354</a:t>
            </a:r>
            <a:r>
              <a:rPr lang="en-US" sz="1600" dirty="0">
                <a:latin typeface="Helvetica" pitchFamily="2" charset="0"/>
              </a:rPr>
              <a:t> women.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45E4FA-FC96-8402-7BC5-A02F5950D4FC}"/>
              </a:ext>
            </a:extLst>
          </p:cNvPr>
          <p:cNvSpPr txBox="1"/>
          <p:nvPr/>
        </p:nvSpPr>
        <p:spPr>
          <a:xfrm>
            <a:off x="6205834" y="2403028"/>
            <a:ext cx="5860834" cy="3140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Participants of the Women’s Lifestyle Validation Study (WLVS) were recruited as subsets of the NHS and NHS II.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Dietary intakes were assessed by both </a:t>
            </a:r>
            <a:r>
              <a:rPr lang="en-US" sz="1600" b="1" dirty="0">
                <a:latin typeface="Helvetica" pitchFamily="2" charset="0"/>
              </a:rPr>
              <a:t>FFQs</a:t>
            </a:r>
            <a:r>
              <a:rPr lang="en-US" sz="1600" dirty="0">
                <a:latin typeface="Helvetica" pitchFamily="2" charset="0"/>
              </a:rPr>
              <a:t> and 7-day weighed diet records (</a:t>
            </a:r>
            <a:r>
              <a:rPr lang="en-US" sz="1600" b="1" dirty="0">
                <a:latin typeface="Helvetica" pitchFamily="2" charset="0"/>
              </a:rPr>
              <a:t>7DDRs</a:t>
            </a:r>
            <a:r>
              <a:rPr lang="en-US" sz="1600" dirty="0">
                <a:latin typeface="Helvetica" pitchFamily="2" charset="0"/>
              </a:rPr>
              <a:t>). FFQs were administered at the baseline and end of the 1-year study period.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Two 7DDRs, as the reference assessments, were collected approximately 6 months apart within the study period.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The current analysis included </a:t>
            </a:r>
            <a:r>
              <a:rPr lang="en-US" sz="1600" b="1" dirty="0">
                <a:latin typeface="Helvetica" pitchFamily="2" charset="0"/>
              </a:rPr>
              <a:t>741</a:t>
            </a:r>
            <a:r>
              <a:rPr lang="en-US" sz="1600" dirty="0">
                <a:latin typeface="Helvetica" pitchFamily="2" charset="0"/>
              </a:rPr>
              <a:t> women from WLVS after excluding participants with unplausible dietary data (e.g., extreme energy intake).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600" dirty="0">
                <a:latin typeface="Helvetica" pitchFamily="2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8C0F51-8F38-8662-B25E-B58B17C60DD7}"/>
              </a:ext>
            </a:extLst>
          </p:cNvPr>
          <p:cNvSpPr txBox="1"/>
          <p:nvPr/>
        </p:nvSpPr>
        <p:spPr>
          <a:xfrm>
            <a:off x="121721" y="846293"/>
            <a:ext cx="12094346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The controversial association between red meat intake and CHD could be attributed to unaccounted measurement errors in dietary data.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lvetica" pitchFamily="2" charset="0"/>
              </a:rPr>
              <a:t>Here, we compare the risks of CHD associated with red meat intakes assessed only at baseline, with repeated assessments over follow-up, and  with each  corrected for measurement error.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A2650A-7893-1A9A-0260-C43A1B2C6352}"/>
              </a:ext>
            </a:extLst>
          </p:cNvPr>
          <p:cNvSpPr txBox="1"/>
          <p:nvPr/>
        </p:nvSpPr>
        <p:spPr>
          <a:xfrm>
            <a:off x="211874" y="153884"/>
            <a:ext cx="10816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2940724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675BE4-4158-F271-B914-2F8DF7D6848A}"/>
              </a:ext>
            </a:extLst>
          </p:cNvPr>
          <p:cNvSpPr/>
          <p:nvPr/>
        </p:nvSpPr>
        <p:spPr>
          <a:xfrm>
            <a:off x="0" y="0"/>
            <a:ext cx="12192000" cy="76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F05E9F-FF7A-7956-544F-1D960622CA1A}"/>
              </a:ext>
            </a:extLst>
          </p:cNvPr>
          <p:cNvSpPr txBox="1"/>
          <p:nvPr/>
        </p:nvSpPr>
        <p:spPr>
          <a:xfrm>
            <a:off x="211874" y="153884"/>
            <a:ext cx="10816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Helvetica" pitchFamily="2" charset="0"/>
              </a:rPr>
              <a:t>The Measurement Error Model Fit in The Validation Study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370C9-24AD-D412-7F93-22D0EE2BCE8C}"/>
              </a:ext>
            </a:extLst>
          </p:cNvPr>
          <p:cNvSpPr txBox="1"/>
          <p:nvPr/>
        </p:nvSpPr>
        <p:spPr>
          <a:xfrm>
            <a:off x="211874" y="864995"/>
            <a:ext cx="11764536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latin typeface="Helvetica" pitchFamily="2" charset="0"/>
              </a:rPr>
              <a:t>Z (error-prone dietary intakes measured by FFQ): </a:t>
            </a:r>
          </a:p>
          <a:p>
            <a:pPr lvl="1">
              <a:spcAft>
                <a:spcPts val="600"/>
              </a:spcAft>
            </a:pPr>
            <a:r>
              <a:rPr lang="en-US" sz="1600" i="1" dirty="0">
                <a:latin typeface="Helvetica" pitchFamily="2" charset="0"/>
              </a:rPr>
              <a:t>t/p/</a:t>
            </a:r>
            <a:r>
              <a:rPr lang="en-US" sz="1600" i="1" dirty="0" err="1">
                <a:latin typeface="Helvetica" pitchFamily="2" charset="0"/>
              </a:rPr>
              <a:t>urmeat_ffq</a:t>
            </a:r>
            <a:r>
              <a:rPr lang="en-US" sz="1600" dirty="0">
                <a:latin typeface="Helvetica" pitchFamily="2" charset="0"/>
              </a:rPr>
              <a:t> (total/processed/unprocessed red meat, serving/day), </a:t>
            </a:r>
            <a:r>
              <a:rPr lang="en-US" sz="1600" i="1" dirty="0" err="1">
                <a:latin typeface="Helvetica" pitchFamily="2" charset="0"/>
              </a:rPr>
              <a:t>calorv_ffq</a:t>
            </a:r>
            <a:r>
              <a:rPr lang="en-US" sz="1600" i="1" dirty="0">
                <a:latin typeface="Helvetica" pitchFamily="2" charset="0"/>
              </a:rPr>
              <a:t> </a:t>
            </a:r>
            <a:r>
              <a:rPr lang="en-US" sz="1600" dirty="0">
                <a:latin typeface="Helvetica" pitchFamily="2" charset="0"/>
              </a:rPr>
              <a:t>(total energy, kcal/day), </a:t>
            </a:r>
            <a:r>
              <a:rPr lang="en-US" sz="1600" i="1" dirty="0" err="1">
                <a:latin typeface="Helvetica" pitchFamily="2" charset="0"/>
              </a:rPr>
              <a:t>aofib_ffq</a:t>
            </a:r>
            <a:r>
              <a:rPr lang="en-US" sz="1600" i="1" dirty="0">
                <a:latin typeface="Helvetica" pitchFamily="2" charset="0"/>
              </a:rPr>
              <a:t> </a:t>
            </a:r>
            <a:r>
              <a:rPr lang="en-US" sz="1600" dirty="0">
                <a:latin typeface="Helvetica" pitchFamily="2" charset="0"/>
              </a:rPr>
              <a:t>(dietary fiber, gram/day), </a:t>
            </a:r>
            <a:r>
              <a:rPr lang="en-US" sz="1600" i="1" dirty="0" err="1">
                <a:latin typeface="Helvetica" pitchFamily="2" charset="0"/>
              </a:rPr>
              <a:t>fruits_ffq</a:t>
            </a:r>
            <a:r>
              <a:rPr lang="en-US" sz="1600" dirty="0">
                <a:latin typeface="Helvetica" pitchFamily="2" charset="0"/>
              </a:rPr>
              <a:t> (fruits, serving/day), </a:t>
            </a:r>
            <a:r>
              <a:rPr lang="en-US" sz="1600" i="1" dirty="0" err="1">
                <a:latin typeface="Helvetica" pitchFamily="2" charset="0"/>
              </a:rPr>
              <a:t>vegeal_ffq</a:t>
            </a:r>
            <a:r>
              <a:rPr lang="en-US" sz="1600" i="1" dirty="0">
                <a:latin typeface="Helvetica" pitchFamily="2" charset="0"/>
              </a:rPr>
              <a:t> </a:t>
            </a:r>
            <a:r>
              <a:rPr lang="en-US" sz="1600" dirty="0">
                <a:latin typeface="Helvetica" pitchFamily="2" charset="0"/>
              </a:rPr>
              <a:t>(vegetables, serving/day)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latin typeface="Helvetica" pitchFamily="2" charset="0"/>
              </a:rPr>
              <a:t>X (reference dietary intakes measured by 7DDR): </a:t>
            </a:r>
          </a:p>
          <a:p>
            <a:pPr lvl="1">
              <a:spcAft>
                <a:spcPts val="600"/>
              </a:spcAft>
            </a:pPr>
            <a:r>
              <a:rPr lang="en-US" sz="1600" i="1" dirty="0">
                <a:latin typeface="Helvetica" pitchFamily="2" charset="0"/>
              </a:rPr>
              <a:t>t/p/</a:t>
            </a:r>
            <a:r>
              <a:rPr lang="en-US" sz="1600" i="1" dirty="0" err="1">
                <a:latin typeface="Helvetica" pitchFamily="2" charset="0"/>
              </a:rPr>
              <a:t>urmeat_drs</a:t>
            </a:r>
            <a:r>
              <a:rPr lang="en-US" sz="1600" dirty="0">
                <a:latin typeface="Helvetica" pitchFamily="2" charset="0"/>
              </a:rPr>
              <a:t> (total/processed/unprocessed red meat, serving/day), </a:t>
            </a:r>
            <a:r>
              <a:rPr lang="en-US" sz="1600" dirty="0" err="1">
                <a:latin typeface="Helvetica" pitchFamily="2" charset="0"/>
              </a:rPr>
              <a:t>calorv_drs</a:t>
            </a:r>
            <a:r>
              <a:rPr lang="en-US" sz="1600" dirty="0">
                <a:latin typeface="Helvetica" pitchFamily="2" charset="0"/>
              </a:rPr>
              <a:t> (total energy, kcal/day), </a:t>
            </a:r>
            <a:r>
              <a:rPr lang="en-US" sz="1600" dirty="0" err="1">
                <a:latin typeface="Helvetica" pitchFamily="2" charset="0"/>
              </a:rPr>
              <a:t>aofib_drs</a:t>
            </a:r>
            <a:r>
              <a:rPr lang="en-US" sz="1600" dirty="0">
                <a:latin typeface="Helvetica" pitchFamily="2" charset="0"/>
              </a:rPr>
              <a:t> (dietary fiber, gram/day), </a:t>
            </a:r>
            <a:r>
              <a:rPr lang="en-US" sz="1600" dirty="0" err="1">
                <a:latin typeface="Helvetica" pitchFamily="2" charset="0"/>
              </a:rPr>
              <a:t>fruits_drs</a:t>
            </a:r>
            <a:r>
              <a:rPr lang="en-US" sz="1600" dirty="0">
                <a:latin typeface="Helvetica" pitchFamily="2" charset="0"/>
              </a:rPr>
              <a:t> (fruits, serving/day), </a:t>
            </a:r>
            <a:r>
              <a:rPr lang="en-US" sz="1600" dirty="0" err="1">
                <a:latin typeface="Helvetica" pitchFamily="2" charset="0"/>
              </a:rPr>
              <a:t>vegeal_drs</a:t>
            </a:r>
            <a:r>
              <a:rPr lang="en-US" sz="1600" dirty="0">
                <a:latin typeface="Helvetica" pitchFamily="2" charset="0"/>
              </a:rPr>
              <a:t> (vegetables, serving/day)</a:t>
            </a:r>
          </a:p>
          <a:p>
            <a:pPr>
              <a:spcAft>
                <a:spcPts val="600"/>
              </a:spcAft>
            </a:pPr>
            <a:r>
              <a:rPr lang="en-US" sz="1600" b="1" dirty="0">
                <a:latin typeface="Helvetica" pitchFamily="2" charset="0"/>
              </a:rPr>
              <a:t>W (error-free covariates):</a:t>
            </a:r>
            <a:r>
              <a:rPr lang="en-US" sz="1600" dirty="0">
                <a:latin typeface="Helvetica" pitchFamily="2" charset="0"/>
              </a:rPr>
              <a:t> </a:t>
            </a:r>
          </a:p>
          <a:p>
            <a:pPr lvl="1">
              <a:spcAft>
                <a:spcPts val="600"/>
              </a:spcAft>
            </a:pPr>
            <a:r>
              <a:rPr lang="en-US" sz="1600" i="1" dirty="0">
                <a:latin typeface="Helvetica" pitchFamily="2" charset="0"/>
              </a:rPr>
              <a:t>white2</a:t>
            </a:r>
            <a:r>
              <a:rPr lang="en-US" sz="1600" dirty="0">
                <a:latin typeface="Helvetica" pitchFamily="2" charset="0"/>
              </a:rPr>
              <a:t> (white: yes/no), </a:t>
            </a:r>
            <a:r>
              <a:rPr lang="en-US" sz="1600" i="1" dirty="0" err="1">
                <a:latin typeface="Helvetica" pitchFamily="2" charset="0"/>
              </a:rPr>
              <a:t>catsmkf</a:t>
            </a:r>
            <a:r>
              <a:rPr lang="en-US" sz="1600" dirty="0">
                <a:latin typeface="Helvetica" pitchFamily="2" charset="0"/>
              </a:rPr>
              <a:t> (current smoker: yes/no), </a:t>
            </a:r>
            <a:r>
              <a:rPr lang="en-US" sz="1600" i="1" dirty="0" err="1">
                <a:latin typeface="Helvetica" pitchFamily="2" charset="0"/>
              </a:rPr>
              <a:t>catact</a:t>
            </a:r>
            <a:r>
              <a:rPr lang="en-US" sz="1600" i="1" dirty="0">
                <a:latin typeface="Helvetica" pitchFamily="2" charset="0"/>
              </a:rPr>
              <a:t> </a:t>
            </a:r>
            <a:r>
              <a:rPr lang="en-US" sz="1600" dirty="0">
                <a:latin typeface="Helvetica" pitchFamily="2" charset="0"/>
              </a:rPr>
              <a:t>(physical activity: 5 categories), </a:t>
            </a:r>
            <a:r>
              <a:rPr lang="en-US" sz="1600" i="1" dirty="0">
                <a:latin typeface="Helvetica" pitchFamily="2" charset="0"/>
              </a:rPr>
              <a:t>hormone </a:t>
            </a:r>
            <a:r>
              <a:rPr lang="en-US" sz="1600" dirty="0">
                <a:latin typeface="Helvetica" pitchFamily="2" charset="0"/>
              </a:rPr>
              <a:t>(post-menopausal hormone use: 5 categories), </a:t>
            </a:r>
            <a:r>
              <a:rPr lang="en-US" sz="1600" i="1" dirty="0" err="1">
                <a:latin typeface="Helvetica" pitchFamily="2" charset="0"/>
              </a:rPr>
              <a:t>mlvit</a:t>
            </a:r>
            <a:r>
              <a:rPr lang="en-US" sz="1600" dirty="0">
                <a:latin typeface="Helvetica" pitchFamily="2" charset="0"/>
              </a:rPr>
              <a:t> (multivitamin use: yes/no), </a:t>
            </a:r>
            <a:r>
              <a:rPr lang="en-US" sz="1600" i="1" dirty="0" err="1">
                <a:latin typeface="Helvetica" pitchFamily="2" charset="0"/>
              </a:rPr>
              <a:t>chdfh</a:t>
            </a:r>
            <a:r>
              <a:rPr lang="en-US" sz="1600" dirty="0">
                <a:latin typeface="Helvetica" pitchFamily="2" charset="0"/>
              </a:rPr>
              <a:t> (family history of CHD: yes/no), </a:t>
            </a:r>
            <a:r>
              <a:rPr lang="en-US" sz="1600" i="1" dirty="0">
                <a:latin typeface="Helvetica" pitchFamily="2" charset="0"/>
              </a:rPr>
              <a:t>aspirin</a:t>
            </a:r>
            <a:r>
              <a:rPr lang="en-US" sz="1600" dirty="0">
                <a:latin typeface="Helvetica" pitchFamily="2" charset="0"/>
              </a:rPr>
              <a:t> (aspirin use: yes/no), </a:t>
            </a:r>
            <a:r>
              <a:rPr lang="en-US" sz="1600" i="1" dirty="0" err="1">
                <a:latin typeface="Helvetica" pitchFamily="2" charset="0"/>
              </a:rPr>
              <a:t>nSES</a:t>
            </a:r>
            <a:r>
              <a:rPr lang="en-US" sz="1600" i="1" dirty="0">
                <a:latin typeface="Helvetica" pitchFamily="2" charset="0"/>
              </a:rPr>
              <a:t> </a:t>
            </a:r>
            <a:r>
              <a:rPr lang="en-US" sz="1600" dirty="0">
                <a:latin typeface="Helvetica" pitchFamily="2" charset="0"/>
              </a:rPr>
              <a:t>(neighborhood social-economic status: 5 categories), </a:t>
            </a:r>
            <a:r>
              <a:rPr lang="en-US" sz="1600" i="1" dirty="0" err="1">
                <a:latin typeface="Helvetica" pitchFamily="2" charset="0"/>
              </a:rPr>
              <a:t>alcc</a:t>
            </a:r>
            <a:r>
              <a:rPr lang="en-US" sz="1600" i="1" dirty="0">
                <a:latin typeface="Helvetica" pitchFamily="2" charset="0"/>
              </a:rPr>
              <a:t> </a:t>
            </a:r>
            <a:r>
              <a:rPr lang="en-US" sz="1600" dirty="0">
                <a:latin typeface="Helvetica" pitchFamily="2" charset="0"/>
              </a:rPr>
              <a:t>(alcohol intake: 6 categories).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5FAE70-4FFD-54DE-D839-7D7D13B97838}"/>
                  </a:ext>
                </a:extLst>
              </p:cNvPr>
              <p:cNvSpPr txBox="1"/>
              <p:nvPr/>
            </p:nvSpPr>
            <p:spPr>
              <a:xfrm>
                <a:off x="4306201" y="4733327"/>
                <a:ext cx="3393750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en-US" sz="2200" b="1" i="0" smtClean="0"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0" smtClean="0">
                              <a:latin typeface="Cambria Math" panose="02040503050406030204" pitchFamily="18" charset="0"/>
                            </a:rPr>
                            <m:t>𝛄</m:t>
                          </m:r>
                        </m:e>
                        <m:sub>
                          <m:r>
                            <a:rPr lang="en-US" sz="2200" b="1" i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>
                                  <a:latin typeface="Cambria Math" panose="02040503050406030204" pitchFamily="18" charset="0"/>
                                </a:rPr>
                                <m:t>𝐙</m:t>
                              </m:r>
                            </m:e>
                            <m:sub>
                              <m:r>
                                <a:rPr lang="en-US" sz="2200" b="1"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  <m:r>
                            <a:rPr lang="en-US" sz="2200" b="1" i="0" smtClean="0">
                              <a:latin typeface="Cambria Math" panose="02040503050406030204" pitchFamily="18" charset="0"/>
                            </a:rPr>
                            <m:t>𝛄</m:t>
                          </m:r>
                        </m:e>
                        <m:sub>
                          <m:r>
                            <a:rPr lang="en-US" sz="2200" b="1" i="0" smtClean="0">
                              <a:latin typeface="Cambria Math" panose="02040503050406030204" pitchFamily="18" charset="0"/>
                            </a:rPr>
                            <m:t>𝐳</m:t>
                          </m:r>
                        </m:sub>
                      </m:sSub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lang="en-US" sz="2200" b="1"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</m:sSub>
                          <m:r>
                            <a:rPr lang="en-US" sz="2200" b="1" i="0" smtClean="0">
                              <a:latin typeface="Cambria Math" panose="02040503050406030204" pitchFamily="18" charset="0"/>
                            </a:rPr>
                            <m:t>𝛄</m:t>
                          </m:r>
                        </m:e>
                        <m:sub>
                          <m:r>
                            <a:rPr lang="en-US" sz="2200" b="1" i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sub>
                      </m:sSub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n-US" sz="2200" b="1" i="0" smtClean="0"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</m:oMath>
                  </m:oMathPara>
                </a14:m>
                <a:endParaRPr lang="en-US" sz="22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5FAE70-4FFD-54DE-D839-7D7D13B97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6201" y="4733327"/>
                <a:ext cx="3393750" cy="338554"/>
              </a:xfrm>
              <a:prstGeom prst="rect">
                <a:avLst/>
              </a:prstGeom>
              <a:blipFill>
                <a:blip r:embed="rId3"/>
                <a:stretch>
                  <a:fillRect l="-1115" r="-372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A0D500-1609-9B85-1AF9-7DE31660A0E7}"/>
                  </a:ext>
                </a:extLst>
              </p:cNvPr>
              <p:cNvSpPr txBox="1"/>
              <p:nvPr/>
            </p:nvSpPr>
            <p:spPr>
              <a:xfrm>
                <a:off x="211874" y="5152932"/>
                <a:ext cx="8756569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</m:oMath>
                </a14:m>
                <a:r>
                  <a:rPr lang="en-US" dirty="0"/>
                  <a:t> is a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1×5</m:t>
                    </m:r>
                  </m:oMath>
                </a14:m>
                <a:r>
                  <a:rPr lang="en-US" dirty="0"/>
                  <a:t> vector of the reference dietary intakes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</m:oMath>
                </a14:m>
                <a:r>
                  <a:rPr lang="en-US" dirty="0"/>
                  <a:t> is a </a:t>
                </a:r>
                <a14:m>
                  <m:oMath xmlns:m="http://schemas.openxmlformats.org/officeDocument/2006/math">
                    <m:r>
                      <a:rPr lang="en-US" i="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vector of error-prone dietary intakes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</m:oMath>
                </a14:m>
                <a:r>
                  <a:rPr lang="en-US" dirty="0"/>
                  <a:t> is a </a:t>
                </a:r>
                <a14:m>
                  <m:oMath xmlns:m="http://schemas.openxmlformats.org/officeDocument/2006/math">
                    <m:r>
                      <a:rPr lang="en-US" i="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lang="en-US" dirty="0"/>
                  <a:t> vector of error-free covariates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𝜺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 is a </a:t>
                </a:r>
                <a14:m>
                  <m:oMath xmlns:m="http://schemas.openxmlformats.org/officeDocument/2006/math">
                    <m:r>
                      <a:rPr lang="en-US" i="0">
                        <a:latin typeface="Cambria Math" panose="02040503050406030204" pitchFamily="18" charset="0"/>
                      </a:rPr>
                      <m:t>1×5</m:t>
                    </m:r>
                  </m:oMath>
                </a14:m>
                <a:r>
                  <a:rPr lang="en-US" dirty="0"/>
                  <a:t> vector of residual errors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A0D500-1609-9B85-1AF9-7DE31660A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874" y="5152932"/>
                <a:ext cx="8756569" cy="1754326"/>
              </a:xfrm>
              <a:prstGeom prst="rect">
                <a:avLst/>
              </a:prstGeom>
              <a:blipFill>
                <a:blip r:embed="rId4"/>
                <a:stretch>
                  <a:fillRect l="-579" t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607266B-03C2-CD59-443D-5E11AE98A7D8}"/>
              </a:ext>
            </a:extLst>
          </p:cNvPr>
          <p:cNvSpPr txBox="1"/>
          <p:nvPr/>
        </p:nvSpPr>
        <p:spPr>
          <a:xfrm>
            <a:off x="211873" y="3993067"/>
            <a:ext cx="11387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We used </a:t>
            </a:r>
            <a:r>
              <a:rPr lang="en-US" b="1" dirty="0">
                <a:latin typeface="Helvetica" pitchFamily="2" charset="0"/>
              </a:rPr>
              <a:t>multivariate linear regression</a:t>
            </a:r>
            <a:r>
              <a:rPr lang="en-US" dirty="0">
                <a:latin typeface="Helvetica" pitchFamily="2" charset="0"/>
              </a:rPr>
              <a:t> to calibrate dietary intakes by regressing 7DDRs (X) on FFQs (Z) and the same error-free covariates (W) used in the disease model.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467656-F668-B322-3146-610146489E98}"/>
              </a:ext>
            </a:extLst>
          </p:cNvPr>
          <p:cNvCxnSpPr>
            <a:cxnSpLocks/>
          </p:cNvCxnSpPr>
          <p:nvPr/>
        </p:nvCxnSpPr>
        <p:spPr>
          <a:xfrm>
            <a:off x="270456" y="3855777"/>
            <a:ext cx="116544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415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6EE0BBB-8F83-27EB-9F65-4037C676E3AC}"/>
              </a:ext>
            </a:extLst>
          </p:cNvPr>
          <p:cNvSpPr txBox="1"/>
          <p:nvPr/>
        </p:nvSpPr>
        <p:spPr>
          <a:xfrm>
            <a:off x="8716174" y="5364736"/>
            <a:ext cx="276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Gu, Wang &amp; Willett, Unpublished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07687D1-6F0C-0155-4683-DD2DE4F87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893235"/>
              </p:ext>
            </p:extLst>
          </p:nvPr>
        </p:nvGraphicFramePr>
        <p:xfrm>
          <a:off x="851216" y="1493263"/>
          <a:ext cx="10489568" cy="38714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1196">
                  <a:extLst>
                    <a:ext uri="{9D8B030D-6E8A-4147-A177-3AD203B41FA5}">
                      <a16:colId xmlns:a16="http://schemas.microsoft.com/office/drawing/2014/main" val="177991185"/>
                    </a:ext>
                  </a:extLst>
                </a:gridCol>
                <a:gridCol w="1311196">
                  <a:extLst>
                    <a:ext uri="{9D8B030D-6E8A-4147-A177-3AD203B41FA5}">
                      <a16:colId xmlns:a16="http://schemas.microsoft.com/office/drawing/2014/main" val="1526555727"/>
                    </a:ext>
                  </a:extLst>
                </a:gridCol>
                <a:gridCol w="1311196">
                  <a:extLst>
                    <a:ext uri="{9D8B030D-6E8A-4147-A177-3AD203B41FA5}">
                      <a16:colId xmlns:a16="http://schemas.microsoft.com/office/drawing/2014/main" val="3699443763"/>
                    </a:ext>
                  </a:extLst>
                </a:gridCol>
                <a:gridCol w="1311196">
                  <a:extLst>
                    <a:ext uri="{9D8B030D-6E8A-4147-A177-3AD203B41FA5}">
                      <a16:colId xmlns:a16="http://schemas.microsoft.com/office/drawing/2014/main" val="2605946802"/>
                    </a:ext>
                  </a:extLst>
                </a:gridCol>
                <a:gridCol w="1311196">
                  <a:extLst>
                    <a:ext uri="{9D8B030D-6E8A-4147-A177-3AD203B41FA5}">
                      <a16:colId xmlns:a16="http://schemas.microsoft.com/office/drawing/2014/main" val="1331009956"/>
                    </a:ext>
                  </a:extLst>
                </a:gridCol>
                <a:gridCol w="1311196">
                  <a:extLst>
                    <a:ext uri="{9D8B030D-6E8A-4147-A177-3AD203B41FA5}">
                      <a16:colId xmlns:a16="http://schemas.microsoft.com/office/drawing/2014/main" val="3842868801"/>
                    </a:ext>
                  </a:extLst>
                </a:gridCol>
                <a:gridCol w="1311196">
                  <a:extLst>
                    <a:ext uri="{9D8B030D-6E8A-4147-A177-3AD203B41FA5}">
                      <a16:colId xmlns:a16="http://schemas.microsoft.com/office/drawing/2014/main" val="443077929"/>
                    </a:ext>
                  </a:extLst>
                </a:gridCol>
                <a:gridCol w="1311196">
                  <a:extLst>
                    <a:ext uri="{9D8B030D-6E8A-4147-A177-3AD203B41FA5}">
                      <a16:colId xmlns:a16="http://schemas.microsoft.com/office/drawing/2014/main" val="1051084198"/>
                    </a:ext>
                  </a:extLst>
                </a:gridCol>
              </a:tblGrid>
              <a:tr h="509865">
                <a:tc gridSpan="8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Spearman Correlation Coefficients between X and Z</a:t>
                      </a: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93919638"/>
                  </a:ext>
                </a:extLst>
              </a:tr>
              <a:tr h="420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trmeat_ffq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prmeat_ffq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urmeat_ffq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calorv_ffq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aofib_ffq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fruits_ffq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vegeal_ffq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9637834"/>
                  </a:ext>
                </a:extLst>
              </a:tr>
              <a:tr h="420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trmeat_drs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0.57240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0.47284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0.50666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0.05063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-0.17847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-0.22295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-0.04139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31440157"/>
                  </a:ext>
                </a:extLst>
              </a:tr>
              <a:tr h="420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prmeat_drs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0.36522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0.48530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0.24340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0.07439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-0.08320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-0.13390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-0.03798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153696"/>
                  </a:ext>
                </a:extLst>
              </a:tr>
              <a:tr h="420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urmeat_drs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0.53998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0.33345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0.53557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0.03074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-0.17989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-0.21151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-0.01743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3435450"/>
                  </a:ext>
                </a:extLst>
              </a:tr>
              <a:tr h="420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calorv_drs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0.15602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0.09939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0.14934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0.27031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0.09682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-0.01738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0.04656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47285618"/>
                  </a:ext>
                </a:extLst>
              </a:tr>
              <a:tr h="420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aofib_drs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-0.21741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-0.27050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-0.15209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0.19054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0.50353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0.39099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0.33588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2364285"/>
                  </a:ext>
                </a:extLst>
              </a:tr>
              <a:tr h="420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fruits_drs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-0.18714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-0.23391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-0.13279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0.14741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0.43058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0.61059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0.24933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1787543"/>
                  </a:ext>
                </a:extLst>
              </a:tr>
              <a:tr h="4202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vegeal_drs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-0.09883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-0.14786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-0.06062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0.15485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0.35136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0.25469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0.50473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0798094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209BF548-6CC9-98B1-108A-EFF010D93F0D}"/>
              </a:ext>
            </a:extLst>
          </p:cNvPr>
          <p:cNvSpPr/>
          <p:nvPr/>
        </p:nvSpPr>
        <p:spPr>
          <a:xfrm>
            <a:off x="0" y="0"/>
            <a:ext cx="12192000" cy="76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22EC26-7BA9-4CCC-DFFE-A8C1A47730FC}"/>
              </a:ext>
            </a:extLst>
          </p:cNvPr>
          <p:cNvSpPr txBox="1"/>
          <p:nvPr/>
        </p:nvSpPr>
        <p:spPr>
          <a:xfrm>
            <a:off x="211874" y="153884"/>
            <a:ext cx="10816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How Much Measurement Error Is There?</a:t>
            </a:r>
          </a:p>
        </p:txBody>
      </p:sp>
    </p:spTree>
    <p:extLst>
      <p:ext uri="{BB962C8B-B14F-4D97-AF65-F5344CB8AC3E}">
        <p14:creationId xmlns:p14="http://schemas.microsoft.com/office/powerpoint/2010/main" val="1570601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967B9-0450-6C5A-9D7B-7F0F0C4BC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483760-8C9A-3704-5D99-3C1484308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777078"/>
              </p:ext>
            </p:extLst>
          </p:nvPr>
        </p:nvGraphicFramePr>
        <p:xfrm>
          <a:off x="182323" y="1725772"/>
          <a:ext cx="11827353" cy="32838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1138">
                  <a:extLst>
                    <a:ext uri="{9D8B030D-6E8A-4147-A177-3AD203B41FA5}">
                      <a16:colId xmlns:a16="http://schemas.microsoft.com/office/drawing/2014/main" val="684533200"/>
                    </a:ext>
                  </a:extLst>
                </a:gridCol>
                <a:gridCol w="675353">
                  <a:extLst>
                    <a:ext uri="{9D8B030D-6E8A-4147-A177-3AD203B41FA5}">
                      <a16:colId xmlns:a16="http://schemas.microsoft.com/office/drawing/2014/main" val="538342723"/>
                    </a:ext>
                  </a:extLst>
                </a:gridCol>
                <a:gridCol w="675353">
                  <a:extLst>
                    <a:ext uri="{9D8B030D-6E8A-4147-A177-3AD203B41FA5}">
                      <a16:colId xmlns:a16="http://schemas.microsoft.com/office/drawing/2014/main" val="871456725"/>
                    </a:ext>
                  </a:extLst>
                </a:gridCol>
                <a:gridCol w="1300848">
                  <a:extLst>
                    <a:ext uri="{9D8B030D-6E8A-4147-A177-3AD203B41FA5}">
                      <a16:colId xmlns:a16="http://schemas.microsoft.com/office/drawing/2014/main" val="3395866836"/>
                    </a:ext>
                  </a:extLst>
                </a:gridCol>
                <a:gridCol w="665419">
                  <a:extLst>
                    <a:ext uri="{9D8B030D-6E8A-4147-A177-3AD203B41FA5}">
                      <a16:colId xmlns:a16="http://schemas.microsoft.com/office/drawing/2014/main" val="1830968443"/>
                    </a:ext>
                  </a:extLst>
                </a:gridCol>
                <a:gridCol w="665419">
                  <a:extLst>
                    <a:ext uri="{9D8B030D-6E8A-4147-A177-3AD203B41FA5}">
                      <a16:colId xmlns:a16="http://schemas.microsoft.com/office/drawing/2014/main" val="1780450319"/>
                    </a:ext>
                  </a:extLst>
                </a:gridCol>
                <a:gridCol w="1320716">
                  <a:extLst>
                    <a:ext uri="{9D8B030D-6E8A-4147-A177-3AD203B41FA5}">
                      <a16:colId xmlns:a16="http://schemas.microsoft.com/office/drawing/2014/main" val="3601215970"/>
                    </a:ext>
                  </a:extLst>
                </a:gridCol>
                <a:gridCol w="694516">
                  <a:extLst>
                    <a:ext uri="{9D8B030D-6E8A-4147-A177-3AD203B41FA5}">
                      <a16:colId xmlns:a16="http://schemas.microsoft.com/office/drawing/2014/main" val="2574410935"/>
                    </a:ext>
                  </a:extLst>
                </a:gridCol>
                <a:gridCol w="694516">
                  <a:extLst>
                    <a:ext uri="{9D8B030D-6E8A-4147-A177-3AD203B41FA5}">
                      <a16:colId xmlns:a16="http://schemas.microsoft.com/office/drawing/2014/main" val="3952211955"/>
                    </a:ext>
                  </a:extLst>
                </a:gridCol>
                <a:gridCol w="1262522">
                  <a:extLst>
                    <a:ext uri="{9D8B030D-6E8A-4147-A177-3AD203B41FA5}">
                      <a16:colId xmlns:a16="http://schemas.microsoft.com/office/drawing/2014/main" val="1528800291"/>
                    </a:ext>
                  </a:extLst>
                </a:gridCol>
                <a:gridCol w="662280">
                  <a:extLst>
                    <a:ext uri="{9D8B030D-6E8A-4147-A177-3AD203B41FA5}">
                      <a16:colId xmlns:a16="http://schemas.microsoft.com/office/drawing/2014/main" val="4153261726"/>
                    </a:ext>
                  </a:extLst>
                </a:gridCol>
                <a:gridCol w="662280">
                  <a:extLst>
                    <a:ext uri="{9D8B030D-6E8A-4147-A177-3AD203B41FA5}">
                      <a16:colId xmlns:a16="http://schemas.microsoft.com/office/drawing/2014/main" val="3983990997"/>
                    </a:ext>
                  </a:extLst>
                </a:gridCol>
                <a:gridCol w="1326993">
                  <a:extLst>
                    <a:ext uri="{9D8B030D-6E8A-4147-A177-3AD203B41FA5}">
                      <a16:colId xmlns:a16="http://schemas.microsoft.com/office/drawing/2014/main" val="4222043250"/>
                    </a:ext>
                  </a:extLst>
                </a:gridCol>
              </a:tblGrid>
              <a:tr h="46912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15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6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Baseline only</a:t>
                      </a:r>
                      <a:endParaRPr lang="en-US" sz="14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Cumulative average</a:t>
                      </a:r>
                      <a:endParaRPr lang="en-US" sz="14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472528"/>
                  </a:ext>
                </a:extLst>
              </a:tr>
              <a:tr h="46912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Uncorrected</a:t>
                      </a:r>
                      <a:endParaRPr lang="en-US" sz="1400" b="1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Corrected</a:t>
                      </a:r>
                      <a:endParaRPr lang="en-US" sz="1400" b="1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Uncorrected</a:t>
                      </a:r>
                      <a:endParaRPr lang="en-US" sz="1400" b="1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Corrected</a:t>
                      </a:r>
                      <a:endParaRPr lang="en-US" sz="1400" b="1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879815"/>
                  </a:ext>
                </a:extLst>
              </a:tr>
              <a:tr h="46912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Est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HR per serving (95% CI)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Est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HR per serving (95% CI)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Est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HR per serving (95% CI)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Est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HR per serving (95% CI)</a:t>
                      </a: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04659175"/>
                  </a:ext>
                </a:extLst>
              </a:tr>
              <a:tr h="46912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# of cases</a:t>
                      </a:r>
                    </a:p>
                  </a:txBody>
                  <a:tcPr marL="68580" marR="68580" marT="0" marB="0" anchor="ctr"/>
                </a:tc>
                <a:tc gridSpan="1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5,067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20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90209857"/>
                  </a:ext>
                </a:extLst>
              </a:tr>
              <a:tr h="46912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Total Red meat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0.055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0.023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i="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1.06 (1.01, 1.11)</a:t>
                      </a:r>
                      <a:endParaRPr lang="en-US" sz="1200" b="1" i="0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0.085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0.045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1.09 (1.00, 1.19)</a:t>
                      </a:r>
                      <a:endParaRPr lang="en-US" sz="1200" b="1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0.151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0.031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1.16 (1.09, 1.24)</a:t>
                      </a:r>
                      <a:endParaRPr lang="en-US" sz="1200" b="1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0.407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0.104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1.50 (1.22, 1.84)</a:t>
                      </a:r>
                      <a:endParaRPr lang="en-US" sz="1200" b="1" kern="100" dirty="0"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80795803"/>
                  </a:ext>
                </a:extLst>
              </a:tr>
              <a:tr h="46912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Processed Red Meat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0.123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0.038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i="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1.13 (1.05, 1.22)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0.205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0.082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1.23 (1.04, 1.44)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0.209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0.055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1.23 (1.11, 1.37)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0.501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0.164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1.65 (1.20, 2.28)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58140122"/>
                  </a:ext>
                </a:extLst>
              </a:tr>
              <a:tr h="469122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Unprocessed Red Meat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0.015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0.028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i="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1.02 (0.96, 1.07)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0.012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0.067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1.01 (0.89, 1.15)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0.136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0.039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1.15 (1.06, 1.24)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0.493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0.164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200" b="1" kern="100" dirty="0"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1.64 (1.19, 2.26)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90775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91E9595-66A6-AFCC-01E1-F9DB51A8E91B}"/>
              </a:ext>
            </a:extLst>
          </p:cNvPr>
          <p:cNvSpPr txBox="1"/>
          <p:nvPr/>
        </p:nvSpPr>
        <p:spPr>
          <a:xfrm>
            <a:off x="9426532" y="4957934"/>
            <a:ext cx="2765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Gu, Wang &amp; Willett, Unpublished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77F1CC-CFF8-AD36-9486-514A8368D3A0}"/>
              </a:ext>
            </a:extLst>
          </p:cNvPr>
          <p:cNvSpPr/>
          <p:nvPr/>
        </p:nvSpPr>
        <p:spPr>
          <a:xfrm>
            <a:off x="0" y="0"/>
            <a:ext cx="12192000" cy="76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63B2AF-5E27-8F86-AE91-223B275F93BF}"/>
              </a:ext>
            </a:extLst>
          </p:cNvPr>
          <p:cNvSpPr txBox="1"/>
          <p:nvPr/>
        </p:nvSpPr>
        <p:spPr>
          <a:xfrm>
            <a:off x="211874" y="153884"/>
            <a:ext cx="11585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Impact of Measurement Error Correction on Red Meat &amp; CHD Associations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599D20-B94A-C631-8327-ACBE85C7B50F}"/>
              </a:ext>
            </a:extLst>
          </p:cNvPr>
          <p:cNvSpPr txBox="1"/>
          <p:nvPr/>
        </p:nvSpPr>
        <p:spPr>
          <a:xfrm>
            <a:off x="182323" y="5266371"/>
            <a:ext cx="11827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" pitchFamily="2" charset="0"/>
              </a:rPr>
              <a:t>*Cox proportional hazards models were used to estimate the associations of red meats with CHD, adjusted for dietary and other potential confounders. </a:t>
            </a:r>
          </a:p>
        </p:txBody>
      </p:sp>
    </p:spTree>
    <p:extLst>
      <p:ext uri="{BB962C8B-B14F-4D97-AF65-F5344CB8AC3E}">
        <p14:creationId xmlns:p14="http://schemas.microsoft.com/office/powerpoint/2010/main" val="1025202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96C133-001B-6773-C2DC-6B2F909A7713}"/>
              </a:ext>
            </a:extLst>
          </p:cNvPr>
          <p:cNvSpPr/>
          <p:nvPr/>
        </p:nvSpPr>
        <p:spPr>
          <a:xfrm>
            <a:off x="0" y="0"/>
            <a:ext cx="12192000" cy="76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72F630-0EA2-F5B2-7C78-FD1CDC7DC566}"/>
              </a:ext>
            </a:extLst>
          </p:cNvPr>
          <p:cNvSpPr txBox="1"/>
          <p:nvPr/>
        </p:nvSpPr>
        <p:spPr>
          <a:xfrm>
            <a:off x="211874" y="153884"/>
            <a:ext cx="10816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Correction for Baseline Red Meat and CHD – %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ea typeface="Palatino" pitchFamily="2" charset="77"/>
                <a:cs typeface="Courier New" panose="02070309020205020404" pitchFamily="49" charset="0"/>
              </a:rPr>
              <a:t>BLINPLUS</a:t>
            </a:r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 Call</a:t>
            </a:r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EFAF6E2-73BD-2262-9E93-6D0D16B3B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09" y="1060953"/>
            <a:ext cx="8770328" cy="32633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5B400FFC-B6C0-4FFB-77F6-530505F1A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402" y="1060953"/>
            <a:ext cx="1739689" cy="52643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 descr="A text on a white background&#10;&#10;AI-generated content may be incorrect.">
            <a:extLst>
              <a:ext uri="{FF2B5EF4-FFF2-40B4-BE49-F238E27FC236}">
                <a16:creationId xmlns:a16="http://schemas.microsoft.com/office/drawing/2014/main" id="{C1AFBA93-B5FC-ED85-6E50-0966ADAAE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09" y="4615849"/>
            <a:ext cx="9469957" cy="16390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D0748A6-8AF9-0768-1515-D63BF9967ECF}"/>
              </a:ext>
            </a:extLst>
          </p:cNvPr>
          <p:cNvSpPr/>
          <p:nvPr/>
        </p:nvSpPr>
        <p:spPr>
          <a:xfrm>
            <a:off x="1943100" y="4094629"/>
            <a:ext cx="578224" cy="154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61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6F83B3-1E36-01E3-367F-A4F47E2DDC5F}"/>
              </a:ext>
            </a:extLst>
          </p:cNvPr>
          <p:cNvSpPr txBox="1"/>
          <p:nvPr/>
        </p:nvSpPr>
        <p:spPr>
          <a:xfrm>
            <a:off x="259401" y="1348545"/>
            <a:ext cx="5691696" cy="4385816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Main study regression </a:t>
            </a:r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coeffiecients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: Uncorrected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 ________   _______________________________________________________________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WT        B          SE         OR            95% CI             p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 ________   _______________________________________________________________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trmeat_f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 0.05459    0.02312    1.05611    1.00931  -  1.10507   0.01823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calorv_f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 0.00006    0.00004    1.00006    0.99997  -  1.00015   0.17940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aofib_ff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-0.00701    0.00448    0.99301    0.98433  -  1.00176   0.11720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fruits_f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 0.01475    0.01673    1.01486    0.98212  -  1.04869   0.37797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vegeal_f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 0.01506    0.01778    1.01518    0.98041  -  1.05118   0.39686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white2         1.00   0.16960    0.09672    1.18483    0.98023  -  1.43213   0.07951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catsmkf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1.00   0.84709    0.03676    2.33286    2.17071  -  2.50712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catact2        1.00  -0.25056    0.03687    0.77836    0.72409  -  0.83670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catact3        1.00  -0.35745    0.04241    0.69946    0.64366  -  0.76009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catact4        1.00  -0.36285    0.05122    0.69569    0.62924  -  0.76916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catact5        1.00  -0.61674    0.04751    0.53970    0.49171  -  0.59238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hormone2       1.00   0.32160    0.09354    1.37933    1.14828  -  1.65689   0.00059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hormone3       1.00   0.20076    0.09543    1.22234    1.01382  -  1.47373   0.03539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hormone4       1.00   0.25203    0.09605    1.28664    1.06586  -  1.55314   0.00869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hormonem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 0.49876    0.09927    1.64668    1.35553  -  2.00035   0.00000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mlvit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1.00  -0.10755    0.03009    0.89803    0.84661  -  0.95259   0.00035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chdfh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1.00   0.46720    0.03063    1.59552    1.50255  -  1.69423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aspirin        1.00   0.05260    0.02919    1.05401    0.99539  -  1.11608   0.07156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qnSES1         1.00  -0.03141    0.04327    0.96908    0.89029  -  1.05484   0.46789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qnSES2         1.00  -0.07255    0.04396    0.93002    0.85325  -  1.01370   0.09884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qnSES3         1.00  -0.10169    0.04424    0.90331    0.82828  -  0.98514   0.02153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qnSES4         1.00  -0.21219    0.04616    0.80881    0.73884  -  0.88540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alcc2          1.00  -0.05706    0.03441    0.94454    0.88294  -  1.01043   0.09724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alcc3          1.00  -0.15967    0.05077    0.85243    0.77169  -  0.94161   0.00166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alcc4          1.00  -0.22633    0.05011    0.79746    0.72286  -  0.87975   0.00001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alcc5          1.00  -0.22632    0.06195    0.79747    0.70628  -  0.90042   0.00026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alcc6          1.00  -0.16177    0.06718    0.85064    0.74569  -  0.97036   0.01605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FB64ED-4BB9-D063-D8F2-B44EFF22E6C3}"/>
              </a:ext>
            </a:extLst>
          </p:cNvPr>
          <p:cNvSpPr txBox="1"/>
          <p:nvPr/>
        </p:nvSpPr>
        <p:spPr>
          <a:xfrm>
            <a:off x="259400" y="901986"/>
            <a:ext cx="569169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Uncorrected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A4814B-B710-AF3F-7021-D1863D32377B}"/>
              </a:ext>
            </a:extLst>
          </p:cNvPr>
          <p:cNvSpPr txBox="1"/>
          <p:nvPr/>
        </p:nvSpPr>
        <p:spPr>
          <a:xfrm>
            <a:off x="6239072" y="901986"/>
            <a:ext cx="569169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Corrected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F7B941-D7F3-F93E-4CE9-F8F142339D45}"/>
              </a:ext>
            </a:extLst>
          </p:cNvPr>
          <p:cNvSpPr txBox="1"/>
          <p:nvPr/>
        </p:nvSpPr>
        <p:spPr>
          <a:xfrm>
            <a:off x="6239072" y="1348545"/>
            <a:ext cx="5691696" cy="4385816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Main study regression coefficients: Corrected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 ________   _______________________________________________________________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WT        B          SE         OR            95% CI             p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 ________   _______________________________________________________________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trmeat_f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 0.08461    0.04490    1.08830    0.99661  -  1.18842   0.05951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calorv_f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 0.00021    0.00018    1.00021    0.99984  -  1.00057   0.26635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aofib_ff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-0.00988    0.00885    0.99017    0.97315  -  1.00749   0.26401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fruits_f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 0.03340    0.03426    1.03397    0.96682  -  1.10578   0.32956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vegeal_f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 0.03357    0.05985    1.03414    0.91967  -  1.16286   0.57488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white2         1.00   0.18166    0.10011    1.19920    0.98554  -  1.45919   0.06960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catsmkf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1.00   0.83686    0.04729    2.30911    2.10469  -  2.53339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catact2        1.00  -0.27959    0.05010    0.75610    0.68538  -  0.83411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catact3        1.00  -0.39944    0.05673    0.67070    0.60011  -  0.74958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catact4        1.00  -0.40176    0.06479    0.66914    0.58934  -  0.75974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catact5        1.00  -0.64079    0.06183    0.52688    0.46675  -  0.59476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hormone2       1.00   0.32490    0.09443    1.38389    1.15005  -  1.66528   0.00058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hormone3       1.00   0.20050    0.09641    1.22201    1.01161  -  1.47617   0.03755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hormone4       1.00   0.26910    0.09763    1.30879    1.08085  -  1.58479   0.00584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hormonem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1.00   0.49959    0.10307    1.64804    1.34658  -  2.01699   0.00000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mlvit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1.00  -0.08887    0.03179    0.91497    0.85970  -  0.97379   0.00518 </a:t>
            </a:r>
          </a:p>
          <a:p>
            <a:r>
              <a:rPr lang="en-US" sz="900" dirty="0" err="1">
                <a:latin typeface="Consolas" panose="020B0609020204030204" pitchFamily="49" charset="0"/>
                <a:cs typeface="Consolas" panose="020B0609020204030204" pitchFamily="49" charset="0"/>
              </a:rPr>
              <a:t>chdfh</a:t>
            </a:r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          1.00   0.47968    0.03290    1.61556    1.51467  -  1.72317   0.00000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aspirin        1.00   0.04315    0.03033    1.04410    0.98384  -  1.10804   0.15480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qnSES1         1.00  -0.02259    0.04521    0.97766    0.89476  -  1.06824   0.61726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qnSES2         1.00  -0.05987    0.04607    0.94189    0.86057  -  1.03089   0.19376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qnSES3         1.00  -0.09834    0.04642    0.90634    0.82753  -  0.99266   0.03412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qnSES4         1.00  -0.21049    0.04754    0.81019    0.73811  -  0.88931   0.00001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alcc2          1.00  -0.05378    0.03647    0.94764    0.88227  -  1.01786   0.14030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alcc3          1.00  -0.14742    0.05229    0.86293    0.77888  -  0.95606   0.00481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alcc4          1.00  -0.23425    0.05457    0.79116    0.71091  -  0.88047   0.00002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alcc5          1.00  -0.23839    0.06743    0.78789    0.69036  -  0.89921   0.00041 </a:t>
            </a:r>
          </a:p>
          <a:p>
            <a:r>
              <a:rPr lang="en-US" sz="900" dirty="0">
                <a:latin typeface="Consolas" panose="020B0609020204030204" pitchFamily="49" charset="0"/>
                <a:cs typeface="Consolas" panose="020B0609020204030204" pitchFamily="49" charset="0"/>
              </a:rPr>
              <a:t>alcc6          1.00  -0.18096    0.07548    0.83447    0.71972  -  0.96753   0.01651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6DA47D-0BB6-FDAA-1EAF-D2433E09C5DB}"/>
              </a:ext>
            </a:extLst>
          </p:cNvPr>
          <p:cNvSpPr/>
          <p:nvPr/>
        </p:nvSpPr>
        <p:spPr>
          <a:xfrm>
            <a:off x="0" y="0"/>
            <a:ext cx="12192000" cy="76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4CE09-BBEF-3063-14A2-97269F5C0E30}"/>
              </a:ext>
            </a:extLst>
          </p:cNvPr>
          <p:cNvSpPr txBox="1"/>
          <p:nvPr/>
        </p:nvSpPr>
        <p:spPr>
          <a:xfrm>
            <a:off x="211874" y="153884"/>
            <a:ext cx="10816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Correction for Baseline Red Meat and CHD –  %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ea typeface="Palatino" pitchFamily="2" charset="77"/>
                <a:cs typeface="Courier New" panose="02070309020205020404" pitchFamily="49" charset="0"/>
              </a:rPr>
              <a:t>BLINPLUS</a:t>
            </a:r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29F435-221F-DD0B-C6FF-776FFB5E1E14}"/>
              </a:ext>
            </a:extLst>
          </p:cNvPr>
          <p:cNvSpPr txBox="1"/>
          <p:nvPr/>
        </p:nvSpPr>
        <p:spPr>
          <a:xfrm>
            <a:off x="259400" y="5786536"/>
            <a:ext cx="115526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en-US" sz="1400" dirty="0">
                <a:latin typeface="Helvetica" pitchFamily="2" charset="0"/>
              </a:rPr>
              <a:t>Hazard ratios (HR) and 95% confidence intervals (CI) for total red meat, fruits, and vegetables intake are for per 1 serving/day increment.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400" dirty="0">
                <a:latin typeface="Helvetica" pitchFamily="2" charset="0"/>
              </a:rPr>
              <a:t>Total energy intake is expressed per 1 kcal/day increment, and dietary fiber is expressed per 1 gram/day increment.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400" dirty="0">
                <a:latin typeface="Helvetica" pitchFamily="2" charset="0"/>
              </a:rPr>
              <a:t>Categorical covariates, including physical activity (</a:t>
            </a:r>
            <a:r>
              <a:rPr lang="en-US" sz="1400" dirty="0" err="1">
                <a:latin typeface="Helvetica" pitchFamily="2" charset="0"/>
              </a:rPr>
              <a:t>catact</a:t>
            </a:r>
            <a:r>
              <a:rPr lang="en-US" sz="1400" dirty="0">
                <a:latin typeface="Helvetica" pitchFamily="2" charset="0"/>
              </a:rPr>
              <a:t>), post-menopausal hormone use (hormone), and neighborhood socio-economic status (</a:t>
            </a:r>
            <a:r>
              <a:rPr lang="en-US" sz="1400" dirty="0" err="1">
                <a:latin typeface="Helvetica" pitchFamily="2" charset="0"/>
              </a:rPr>
              <a:t>nSES</a:t>
            </a:r>
            <a:r>
              <a:rPr lang="en-US" sz="1400" dirty="0">
                <a:latin typeface="Helvetica" pitchFamily="2" charset="0"/>
              </a:rPr>
              <a:t>), and alcohol intake (</a:t>
            </a:r>
            <a:r>
              <a:rPr lang="en-US" sz="1400" dirty="0" err="1">
                <a:latin typeface="Helvetica" pitchFamily="2" charset="0"/>
              </a:rPr>
              <a:t>alcc</a:t>
            </a:r>
            <a:r>
              <a:rPr lang="en-US" sz="1400" dirty="0">
                <a:latin typeface="Helvetica" pitchFamily="2" charset="0"/>
              </a:rPr>
              <a:t>) are represented as dummy-coded variables.</a:t>
            </a:r>
          </a:p>
        </p:txBody>
      </p:sp>
    </p:spTree>
    <p:extLst>
      <p:ext uri="{BB962C8B-B14F-4D97-AF65-F5344CB8AC3E}">
        <p14:creationId xmlns:p14="http://schemas.microsoft.com/office/powerpoint/2010/main" val="3829822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56550F-A39D-EC3F-3C6F-642CC2FB4E08}"/>
              </a:ext>
            </a:extLst>
          </p:cNvPr>
          <p:cNvSpPr/>
          <p:nvPr/>
        </p:nvSpPr>
        <p:spPr>
          <a:xfrm>
            <a:off x="0" y="-1"/>
            <a:ext cx="12192000" cy="1082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48392-EE15-4226-D54B-15500906547D}"/>
              </a:ext>
            </a:extLst>
          </p:cNvPr>
          <p:cNvSpPr txBox="1"/>
          <p:nvPr/>
        </p:nvSpPr>
        <p:spPr>
          <a:xfrm>
            <a:off x="122146" y="130774"/>
            <a:ext cx="11871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How to divide up the validation data into age groups with relatively constant measurement error for risk set regression calibration?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E9B3872-28D3-D4C8-352E-4F736D999E15}"/>
              </a:ext>
            </a:extLst>
          </p:cNvPr>
          <p:cNvGrpSpPr/>
          <p:nvPr/>
        </p:nvGrpSpPr>
        <p:grpSpPr>
          <a:xfrm>
            <a:off x="7089732" y="1826885"/>
            <a:ext cx="4903902" cy="3460374"/>
            <a:chOff x="6830416" y="3142617"/>
            <a:chExt cx="4903902" cy="3460374"/>
          </a:xfrm>
        </p:grpSpPr>
        <p:pic>
          <p:nvPicPr>
            <p:cNvPr id="4" name="Picture 3" descr="A graph showing a number of g&#10;&#10;AI-generated content may be incorrect.">
              <a:extLst>
                <a:ext uri="{FF2B5EF4-FFF2-40B4-BE49-F238E27FC236}">
                  <a16:creationId xmlns:a16="http://schemas.microsoft.com/office/drawing/2014/main" id="{0A518A7B-68AF-585D-DBFE-37AE2F130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0416" y="3142617"/>
              <a:ext cx="4903902" cy="346037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7AC5C3F-3631-AC18-AEB5-B44608409D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5376" y="3142617"/>
              <a:ext cx="0" cy="3460374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C6A8234-F2B8-5E60-844B-266B4C665BEF}"/>
              </a:ext>
            </a:extLst>
          </p:cNvPr>
          <p:cNvSpPr txBox="1"/>
          <p:nvPr/>
        </p:nvSpPr>
        <p:spPr>
          <a:xfrm>
            <a:off x="5642975" y="2968668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ECD2E8-3BE4-DC79-4E6B-1D02D98A6531}"/>
                  </a:ext>
                </a:extLst>
              </p:cNvPr>
              <p:cNvSpPr txBox="1"/>
              <p:nvPr/>
            </p:nvSpPr>
            <p:spPr>
              <a:xfrm>
                <a:off x="122146" y="1226157"/>
                <a:ext cx="6967586" cy="5254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0000"/>
                  </a:lnSpc>
                  <a:spcAft>
                    <a:spcPts val="600"/>
                  </a:spcAft>
                </a:pPr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The “</a:t>
                </a:r>
                <a:r>
                  <a:rPr lang="en-US" sz="1600" b="1" dirty="0" err="1">
                    <a:latin typeface="Helvetica" pitchFamily="2" charset="0"/>
                    <a:cs typeface="Arial" panose="020B0604020202020204" pitchFamily="34" charset="0"/>
                  </a:rPr>
                  <a:t>groupnum</a:t>
                </a:r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” option in  %</a:t>
                </a:r>
                <a:r>
                  <a:rPr lang="en-US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RRC</a:t>
                </a:r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 allows setting the minimum number of subjects in each risk set. If “</a:t>
                </a:r>
                <a:r>
                  <a:rPr lang="en-US" sz="1600" dirty="0" err="1">
                    <a:latin typeface="Helvetica" pitchFamily="2" charset="0"/>
                    <a:cs typeface="Arial" panose="020B0604020202020204" pitchFamily="34" charset="0"/>
                  </a:rPr>
                  <a:t>groupnum</a:t>
                </a:r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” is too small and there are few subjects in each risk set, results could be instable. We should find the optimal “</a:t>
                </a:r>
                <a:r>
                  <a:rPr lang="en-US" sz="1600" dirty="0" err="1">
                    <a:latin typeface="Helvetica" pitchFamily="2" charset="0"/>
                    <a:cs typeface="Arial" panose="020B0604020202020204" pitchFamily="34" charset="0"/>
                  </a:rPr>
                  <a:t>groupnum</a:t>
                </a:r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” before using %</a:t>
                </a:r>
                <a:r>
                  <a:rPr lang="en-US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RRC</a:t>
                </a:r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:</a:t>
                </a:r>
              </a:p>
              <a:p>
                <a:pPr marL="342900" indent="-342900">
                  <a:lnSpc>
                    <a:spcPct val="110000"/>
                  </a:lnSpc>
                  <a:spcAft>
                    <a:spcPts val="600"/>
                  </a:spcAft>
                  <a:buFontTx/>
                  <a:buAutoNum type="arabicPeriod"/>
                </a:pPr>
                <a:r>
                  <a:rPr lang="en-US" sz="1600" b="1" dirty="0">
                    <a:latin typeface="Helvetica" pitchFamily="2" charset="0"/>
                    <a:cs typeface="Arial" panose="020B0604020202020204" pitchFamily="34" charset="0"/>
                  </a:rPr>
                  <a:t>Systematic Iterative Testing:</a:t>
                </a:r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 </a:t>
                </a:r>
              </a:p>
              <a:p>
                <a:pPr marL="800100" lvl="1" indent="-342900">
                  <a:lnSpc>
                    <a:spcPct val="110000"/>
                  </a:lnSpc>
                  <a:spcAft>
                    <a:spcPts val="600"/>
                  </a:spcAft>
                  <a:buFontTx/>
                  <a:buAutoNum type="arabicPeriod"/>
                </a:pPr>
                <a:r>
                  <a:rPr lang="en-US" sz="1600" dirty="0">
                    <a:latin typeface="Helvetica" pitchFamily="2" charset="0"/>
                  </a:rPr>
                  <a:t>In the validation study, we perform an empirical search across a range of values for </a:t>
                </a:r>
                <a:r>
                  <a:rPr lang="en-US" sz="1600" dirty="0" err="1">
                    <a:latin typeface="Helvetica" pitchFamily="2" charset="0"/>
                    <a:cs typeface="Arial" panose="020B0604020202020204" pitchFamily="34" charset="0"/>
                  </a:rPr>
                  <a:t>groupnum</a:t>
                </a:r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,</a:t>
                </a:r>
                <a:r>
                  <a:rPr lang="en-US" sz="1600" dirty="0"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Helvetica" pitchFamily="2" charset="0"/>
                  </a:rPr>
                  <a:t>, to estimate the bias-variance trade-off. As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Helvetica" pitchFamily="2" charset="0"/>
                  </a:rPr>
                  <a:t> decreases, the model gains the flexibility to capture subtle age-specific variation in the measurement error model, but we prevent overfitting to control random noise. </a:t>
                </a:r>
              </a:p>
              <a:p>
                <a:pPr marL="800100" lvl="1" indent="-342900">
                  <a:lnSpc>
                    <a:spcPct val="110000"/>
                  </a:lnSpc>
                  <a:spcAft>
                    <a:spcPts val="600"/>
                  </a:spcAft>
                  <a:buFontTx/>
                  <a:buAutoNum type="arabicPeriod"/>
                </a:pPr>
                <a:r>
                  <a:rPr lang="en-US" sz="1600" dirty="0">
                    <a:latin typeface="Helvetica" pitchFamily="2" charset="0"/>
                  </a:rPr>
                  <a:t>By testing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Helvetica" pitchFamily="2" charset="0"/>
                  </a:rPr>
                  <a:t> in fixed increments (e.g., from 5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latin typeface="Helvetica" pitchFamily="2" charset="0"/>
                  </a:rPr>
                  <a:t> in increments of 25), we identify the optimal threshold where the model captures essential data patterns while maintaining predictive stability.</a:t>
                </a:r>
                <a:endParaRPr lang="en-US" sz="1600" dirty="0">
                  <a:latin typeface="Helvetica" pitchFamily="2" charset="0"/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10000"/>
                  </a:lnSpc>
                  <a:spcAft>
                    <a:spcPts val="600"/>
                  </a:spcAft>
                  <a:buFontTx/>
                  <a:buAutoNum type="arabicPeriod"/>
                </a:pPr>
                <a:r>
                  <a:rPr lang="en-US" sz="1600" b="1" dirty="0">
                    <a:latin typeface="Helvetica" pitchFamily="2" charset="0"/>
                    <a:cs typeface="Arial" panose="020B0604020202020204" pitchFamily="34" charset="0"/>
                  </a:rPr>
                  <a:t>Out-of-Sample Validation:</a:t>
                </a:r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 We use 5-fold cross-validation to assess the model's generalizability and predictive performance on new data. The optimal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 is identified as the value that minimizes the MSE, representing the point where the model predicts the reference dietary intake (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sz="1600" dirty="0">
                    <a:latin typeface="Helvetica" pitchFamily="2" charset="0"/>
                    <a:cs typeface="Arial" panose="020B0604020202020204" pitchFamily="34" charset="0"/>
                  </a:rPr>
                  <a:t>) with the highest accuracy for independent observations.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ECD2E8-3BE4-DC79-4E6B-1D02D98A6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46" y="1226157"/>
                <a:ext cx="6967586" cy="5254259"/>
              </a:xfrm>
              <a:prstGeom prst="rect">
                <a:avLst/>
              </a:prstGeom>
              <a:blipFill>
                <a:blip r:embed="rId4"/>
                <a:stretch>
                  <a:fillRect l="-364" r="-1091" b="-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5704B2-3C2F-EE57-F3AE-6F3C7B5EF8B4}"/>
                  </a:ext>
                </a:extLst>
              </p:cNvPr>
              <p:cNvSpPr txBox="1"/>
              <p:nvPr/>
            </p:nvSpPr>
            <p:spPr>
              <a:xfrm>
                <a:off x="7089732" y="5366398"/>
                <a:ext cx="46095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*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at the minimum out-of-sample MSE is 455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5704B2-3C2F-EE57-F3AE-6F3C7B5EF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732" y="5366398"/>
                <a:ext cx="4609575" cy="369332"/>
              </a:xfrm>
              <a:prstGeom prst="rect">
                <a:avLst/>
              </a:prstGeom>
              <a:blipFill>
                <a:blip r:embed="rId5"/>
                <a:stretch>
                  <a:fillRect l="-1099" t="-6667" r="-82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3499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8CE0E5-CCAE-725F-470A-FD5F4D08CBA7}"/>
              </a:ext>
            </a:extLst>
          </p:cNvPr>
          <p:cNvSpPr/>
          <p:nvPr/>
        </p:nvSpPr>
        <p:spPr>
          <a:xfrm>
            <a:off x="0" y="0"/>
            <a:ext cx="12192000" cy="76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2309C3-0183-D9D9-4662-84A9130C80AF}"/>
              </a:ext>
            </a:extLst>
          </p:cNvPr>
          <p:cNvSpPr txBox="1"/>
          <p:nvPr/>
        </p:nvSpPr>
        <p:spPr>
          <a:xfrm>
            <a:off x="211874" y="153884"/>
            <a:ext cx="10816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Correction for Cumulative Average Red Meat and CHD – %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ea typeface="Palatino" pitchFamily="2" charset="77"/>
                <a:cs typeface="Courier New" panose="02070309020205020404" pitchFamily="49" charset="0"/>
              </a:rPr>
              <a:t>RRC</a:t>
            </a:r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 Call</a:t>
            </a:r>
          </a:p>
        </p:txBody>
      </p:sp>
      <p:pic>
        <p:nvPicPr>
          <p:cNvPr id="6" name="Picture 5" descr="A computer screen shot of a computer error&#10;&#10;AI-generated content may be incorrect.">
            <a:extLst>
              <a:ext uri="{FF2B5EF4-FFF2-40B4-BE49-F238E27FC236}">
                <a16:creationId xmlns:a16="http://schemas.microsoft.com/office/drawing/2014/main" id="{90FB506C-5C1F-0EEE-6076-6FBCDF778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313" y="1361199"/>
            <a:ext cx="10487374" cy="47691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2773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37429-554D-29DD-58D3-C401D551FCB3}"/>
              </a:ext>
            </a:extLst>
          </p:cNvPr>
          <p:cNvSpPr/>
          <p:nvPr/>
        </p:nvSpPr>
        <p:spPr>
          <a:xfrm>
            <a:off x="0" y="0"/>
            <a:ext cx="12192000" cy="7694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130E46-F5F2-A884-9F62-16F328C4B4DE}"/>
              </a:ext>
            </a:extLst>
          </p:cNvPr>
          <p:cNvSpPr txBox="1"/>
          <p:nvPr/>
        </p:nvSpPr>
        <p:spPr>
          <a:xfrm>
            <a:off x="211874" y="153884"/>
            <a:ext cx="10816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Correction for Cumulative Average Red Meat and CHD – %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ea typeface="Palatino" pitchFamily="2" charset="77"/>
                <a:cs typeface="Courier New" panose="02070309020205020404" pitchFamily="49" charset="0"/>
              </a:rPr>
              <a:t>RRC</a:t>
            </a:r>
            <a:r>
              <a:rPr lang="en-US" sz="2400" b="1" dirty="0">
                <a:solidFill>
                  <a:schemeClr val="bg1"/>
                </a:solidFill>
                <a:latin typeface="Helvetica" pitchFamily="2" charset="0"/>
                <a:ea typeface="Palatino" pitchFamily="2" charset="77"/>
              </a:rPr>
              <a:t>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05D17-93E6-E65D-4A84-1691AB46BBE0}"/>
              </a:ext>
            </a:extLst>
          </p:cNvPr>
          <p:cNvSpPr txBox="1"/>
          <p:nvPr/>
        </p:nvSpPr>
        <p:spPr>
          <a:xfrm>
            <a:off x="606866" y="1221017"/>
            <a:ext cx="10978267" cy="5078313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%%%%%%%%%%%%%%%%%%%%%%%%%%%%%%%%%%%%%%%%%%%%%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This analysis is for cumulatively average updated exposure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with general linear measurement error model.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The increment for each exposure is:   1.0000000000000000        1.0000000000000000        1.0000000000000000        1.0000000000000000        1.0000000000000000    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# of subjects in the main study:       84354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# of person-year observations in the main study:     1306905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# of cases in the main study:        5067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# of unique failure time:          58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# of subjects in the validation study:         741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# of person-year observations in the validation study:         741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# of risk sets in the validation study:           1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----------------------------------------------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Information about the measurement error model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fitting in the validation study: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----------------------------------------------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Risk_set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Age_low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Age_up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Person_year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Intercept  slope     R^2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1        39.0    96.0       741        0.761    0.587   -0.000   -0.013   -0.001    0.049    0.331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*******    0.875    0.238   -3.640  -18.317  -11.798    0.069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 11.066   -0.773   -0.005    0.701   -0.319   -0.579    0.263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  0.205   -0.060   -0.000    0.027    0.438   -0.034    0.371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  0.655   -0.026   -0.000    0.025    0.024    0.262    0.217</a:t>
            </a:r>
          </a:p>
        </p:txBody>
      </p:sp>
    </p:spTree>
    <p:extLst>
      <p:ext uri="{BB962C8B-B14F-4D97-AF65-F5344CB8AC3E}">
        <p14:creationId xmlns:p14="http://schemas.microsoft.com/office/powerpoint/2010/main" val="3059885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18FF50-7024-E8F0-71E5-27D59E147297}"/>
              </a:ext>
            </a:extLst>
          </p:cNvPr>
          <p:cNvSpPr txBox="1"/>
          <p:nvPr/>
        </p:nvSpPr>
        <p:spPr>
          <a:xfrm>
            <a:off x="463991" y="606185"/>
            <a:ext cx="5489134" cy="5632311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----------------------------------------------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Uncorrected result: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Variable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Para_es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S.E.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p_val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H.R.        95% C.I.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trmeat_ffq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0.151   0.031  0.000  1.163  [  1.09,  1.24]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calorv_ffq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-0.000   0.000  0.929  1.000  [  1.00,  1.00]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aofib_ffq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-0.018   0.006  0.002  0.982  [  0.97,  0.99]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fruits_ffq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0.110   0.021  0.000  1.116  [  1.07,  1.16]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vegeal_ffq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0.041   0.019  0.028  1.042  [  1.00,  1.08]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white2         0.210   0.097  0.030  1.234  [  1.02,  1.49]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catsmkf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0.890   0.037  0.000  2.436  [  2.27,  2.62]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catact2       -0.249   0.037  0.000  0.780  [  0.73,  0.84]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catact3       -0.359   0.043  0.000  0.699  [  0.64,  0.76]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catact4       -0.378   0.051  0.000  0.685  [  0.62,  0.76]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catact5       -0.669   0.048  0.000  0.512  [  0.47,  0.56]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hormone2       0.355   0.093  0.000  1.427  [  1.19,  1.71]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hormone3       0.267   0.095  0.005  1.307  [  1.08,  1.57]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hormone4       0.149   0.095  0.119  1.161  [  0.96,  1.40]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hormonem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0.413   0.099  0.000  1.512  [  1.25,  1.84]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mlvit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-0.105   0.030  0.000  0.900  [  0.85,  0.95]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chdfh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0.460   0.031  0.000  1.584  [  1.49,  1.68]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aspirin        0.078   0.029  0.007  1.081  [  1.02,  1.14]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qnSES1        -0.035   0.043  0.421  0.966  [  0.89,  1.05]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qnSES2        -0.103   0.044  0.019  0.903  [  0.83,  0.98]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qnSES3        -0.114   0.044  0.010  0.893  [  0.82,  0.97]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qnSES4        -0.262   0.046  0.000  0.770  [  0.70,  0.84]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alcc2         -0.085   0.036  0.019  0.919  [  0.86,  0.99]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alcc3         -0.176   0.050  0.000  0.839  [  0.76,  0.92]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alcc4         -0.269   0.060  0.000  0.764  [  0.68,  0.86]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alcc5         -0.313   0.061  0.000  0.731  [  0.65,  0.82]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alcc6         -0.246   0.084  0.003  0.782  [  0.66,  0.92]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B140D0-D3BF-5FAE-3293-D102204E1981}"/>
              </a:ext>
            </a:extLst>
          </p:cNvPr>
          <p:cNvSpPr txBox="1"/>
          <p:nvPr/>
        </p:nvSpPr>
        <p:spPr>
          <a:xfrm>
            <a:off x="6274241" y="606185"/>
            <a:ext cx="5489134" cy="5632311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----------------------------------------------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RRC result (Zhou):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Variable    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Para_es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S.E. 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p_val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H.R.        95% C.I.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trmeat_ffq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0.407   0.104  0.000  1.503  [  1.22,  1.84]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calorv_ffq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-0.001   0.001  0.278  0.999  [  1.00,  1.00]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aofib_ffq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-0.005   0.025  0.851  0.995  [  0.95,  1.05]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fruits_ffq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0.177   0.073  0.016  1.194  [  1.03,  1.38]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vegeal_ffq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-0.106   0.157  0.500  0.900  [  0.66,  1.22]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white2         0.337   0.120  0.005  1.401  [  1.11,  1.77]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catsmkf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0.858   0.067  0.000  2.359  [  2.07,  2.69]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catact2       -0.259   0.062  0.000  0.772  [  0.68,  0.87]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catact3       -0.355   0.073  0.000  0.701  [  0.61,  0.81]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catact4       -0.370   0.083  0.000  0.691  [  0.59,  0.81]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catact5       -0.647   0.085  0.000  0.524  [  0.44,  0.62]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hormone2       0.337   0.100  0.001  1.401  [  1.15,  1.70]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hormone3       0.251   0.099  0.011  1.286  [  1.06,  1.56]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hormone4       0.123   0.103  0.232  1.131  [  0.92,  1.38]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hormonem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0.394   0.114  0.001  1.483  [  1.19,  1.85]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mlvit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-0.101   0.032  0.002  0.904  [  0.85,  0.96]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chdfh</a:t>
            </a:r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         0.479   0.045  0.000  1.614  [  1.48,  1.76]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aspirin        0.065   0.030  0.032  1.067  [  1.01,  1.13]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qnSES1        -0.027   0.048  0.580  0.974  [  0.89,  1.07]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qnSES2        -0.102   0.055  0.063  0.903  [  0.81,  1.01]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qnSES3        -0.091   0.051  0.075  0.913  [  0.83,  1.01]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qnSES4        -0.236   0.054  0.000  0.790  [  0.71,  0.88]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alcc2         -0.060   0.047  0.201  0.941  [  0.86,  1.03]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alcc3         -0.142   0.060  0.019  0.868  [  0.77,  0.98]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alcc4         -0.224   0.084  0.007  0.799  [  0.68,  0.94]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alcc5         -0.246   0.098  0.012  0.782  [  0.65,  0.95]</a:t>
            </a:r>
          </a:p>
          <a:p>
            <a:r>
              <a:rPr 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alcc6         -0.166   0.130  0.204  0.847  [  0.66,  1.09]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578064-E7BF-58C2-7FA9-80240DA95213}"/>
              </a:ext>
            </a:extLst>
          </p:cNvPr>
          <p:cNvSpPr txBox="1"/>
          <p:nvPr/>
        </p:nvSpPr>
        <p:spPr>
          <a:xfrm>
            <a:off x="463991" y="197852"/>
            <a:ext cx="548913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Uncorrected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E9D0FA-7634-3367-8F74-4C2259D8CEEE}"/>
              </a:ext>
            </a:extLst>
          </p:cNvPr>
          <p:cNvSpPr txBox="1"/>
          <p:nvPr/>
        </p:nvSpPr>
        <p:spPr>
          <a:xfrm>
            <a:off x="6274241" y="197852"/>
            <a:ext cx="548913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Corrected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8AF7E-72FF-D4BE-D0A7-815C5D2F462E}"/>
              </a:ext>
            </a:extLst>
          </p:cNvPr>
          <p:cNvSpPr txBox="1"/>
          <p:nvPr/>
        </p:nvSpPr>
        <p:spPr>
          <a:xfrm>
            <a:off x="463991" y="6277497"/>
            <a:ext cx="11552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en-US" sz="1200" dirty="0"/>
              <a:t>Hazard ratios (HR) and 95% confidence intervals (CI) for total red meat, fruits, and vegetables intake are for per 1 serving/day increment.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200" dirty="0"/>
              <a:t>Total energy intake is expressed per 1 kcal/day increment, and dietary fiber is expressed per 1 gram/day increment.</a:t>
            </a:r>
          </a:p>
        </p:txBody>
      </p:sp>
    </p:spTree>
    <p:extLst>
      <p:ext uri="{BB962C8B-B14F-4D97-AF65-F5344CB8AC3E}">
        <p14:creationId xmlns:p14="http://schemas.microsoft.com/office/powerpoint/2010/main" val="52394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1858</TotalTime>
  <Words>3586</Words>
  <Application>Microsoft Office PowerPoint</Application>
  <PresentationFormat>Widescreen</PresentationFormat>
  <Paragraphs>382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Consolas</vt:lpstr>
      <vt:lpstr>Courier New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Gu, Xiao</dc:creator>
  <cp:lastModifiedBy>Spiegelman, Donna</cp:lastModifiedBy>
  <cp:revision>15</cp:revision>
  <dcterms:created xsi:type="dcterms:W3CDTF">2026-03-10T19:19:47Z</dcterms:created>
  <dcterms:modified xsi:type="dcterms:W3CDTF">2026-03-13T17:38:30Z</dcterms:modified>
</cp:coreProperties>
</file>