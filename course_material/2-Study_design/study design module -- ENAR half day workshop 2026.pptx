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20F_0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472" r:id="rId2"/>
    <p:sldId id="517" r:id="rId3"/>
    <p:sldId id="518" r:id="rId4"/>
    <p:sldId id="534" r:id="rId5"/>
    <p:sldId id="535" r:id="rId6"/>
    <p:sldId id="536" r:id="rId7"/>
    <p:sldId id="547" r:id="rId8"/>
    <p:sldId id="537" r:id="rId9"/>
    <p:sldId id="538" r:id="rId10"/>
    <p:sldId id="539" r:id="rId11"/>
    <p:sldId id="540" r:id="rId12"/>
    <p:sldId id="525" r:id="rId13"/>
    <p:sldId id="526" r:id="rId14"/>
    <p:sldId id="548" r:id="rId15"/>
    <p:sldId id="527" r:id="rId16"/>
    <p:sldId id="484" r:id="rId17"/>
    <p:sldId id="515" r:id="rId18"/>
    <p:sldId id="485" r:id="rId19"/>
    <p:sldId id="541" r:id="rId20"/>
    <p:sldId id="542" r:id="rId21"/>
    <p:sldId id="488" r:id="rId22"/>
    <p:sldId id="545" r:id="rId23"/>
    <p:sldId id="490" r:id="rId24"/>
    <p:sldId id="543" r:id="rId25"/>
    <p:sldId id="544" r:id="rId26"/>
    <p:sldId id="528" r:id="rId27"/>
    <p:sldId id="546" r:id="rId28"/>
    <p:sldId id="494" r:id="rId29"/>
    <p:sldId id="531" r:id="rId30"/>
    <p:sldId id="493" r:id="rId31"/>
    <p:sldId id="495" r:id="rId32"/>
    <p:sldId id="529" r:id="rId33"/>
    <p:sldId id="530" r:id="rId34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8F6193-681F-F1F6-03A8-65DBBA4C0AEE}" name="Spiegelman, Donna" initials="DS" userId="S::donna.spiegelman@yale.edu::fb7e3339-209c-474a-bdc4-68157e32c0ce" providerId="AD"/>
  <p188:author id="{91D50BA4-E401-72C3-06DA-FCD0F42526CB}" name="Zelazny, Elly" initials="EZ" userId="S::ellyze.zelazny@yale.edu::839a032b-897d-41b8-9a1c-4b2088b57a8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onna" initials="DL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7633" autoAdjust="0"/>
  </p:normalViewPr>
  <p:slideViewPr>
    <p:cSldViewPr>
      <p:cViewPr varScale="1">
        <p:scale>
          <a:sx n="53" d="100"/>
          <a:sy n="53" d="100"/>
        </p:scale>
        <p:origin x="116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0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omments/modernComment_2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EF24F8-43D2-4035-9804-B3207F2F8F49}" authorId="{5F8F6193-681F-F1F6-03A8-65DBBA4C0AEE}" created="2026-03-02T18:51:21.671">
    <pc:sldMkLst xmlns:pc="http://schemas.microsoft.com/office/powerpoint/2013/main/command">
      <pc:docMk/>
      <pc:sldMk cId="0" sldId="483"/>
    </pc:sldMkLst>
    <p188:txBody>
      <a:bodyPr/>
      <a:lstStyle/>
      <a:p>
        <a:r>
          <a:rPr lang="en-US"/>
          <a:t>Does the converse hold – if misclassification is non-differential, the matrix method will be more efficient (or the MLE with a revised non-differential misclassification likelihood).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86" y="0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487B62C1-4971-480C-BA99-2F71DB031E37}" type="datetimeFigureOut">
              <a:rPr lang="zh-CN" altLang="en-US"/>
              <a:pPr>
                <a:defRPr/>
              </a:pPr>
              <a:t>2026/3/15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128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86" y="8917128"/>
            <a:ext cx="3078383" cy="469744"/>
          </a:xfrm>
          <a:prstGeom prst="rect">
            <a:avLst/>
          </a:prstGeom>
        </p:spPr>
        <p:txBody>
          <a:bodyPr vert="horz" wrap="square" lIns="92461" tIns="46230" rIns="92461" bIns="4623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C7E07EA-57FE-4E01-B310-55735D9ED4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4334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86" y="0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1C4F636-5479-48D5-B40F-0FA34FC072AC}" type="datetimeFigureOut">
              <a:rPr lang="zh-CN" altLang="en-US"/>
              <a:pPr>
                <a:defRPr/>
              </a:pPr>
              <a:t>2026/3/15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3263"/>
            <a:ext cx="469265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17" tIns="47109" rIns="94217" bIns="4710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1" y="4460168"/>
            <a:ext cx="5680694" cy="4224494"/>
          </a:xfrm>
          <a:prstGeom prst="rect">
            <a:avLst/>
          </a:prstGeom>
        </p:spPr>
        <p:txBody>
          <a:bodyPr vert="horz" lIns="94217" tIns="47109" rIns="94217" bIns="4710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128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86" y="8917128"/>
            <a:ext cx="3078383" cy="469744"/>
          </a:xfrm>
          <a:prstGeom prst="rect">
            <a:avLst/>
          </a:prstGeom>
        </p:spPr>
        <p:txBody>
          <a:bodyPr vert="horz" wrap="square" lIns="94217" tIns="47109" rIns="94217" bIns="4710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9627C84-8AE2-40B3-ADCC-5404386393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44298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1241" indent="-28893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55756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18058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80361" indent="-231151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42663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04965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67268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29570" indent="-231151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193383E-A9FB-46F0-BE6B-39682A23AF1A}" type="slidenum">
              <a:rPr lang="en-US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329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11F667D-7CBB-45E3-9EF2-9BEE7BBB07B0}" type="slidenum">
              <a:rPr lang="zh-CN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101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8CEDD61-1DA1-456B-AB83-9AB04A631EAE}" type="slidenum">
              <a:rPr lang="zh-CN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1591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12EC-5347-1760-B743-FADD6A23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">
            <a:extLst>
              <a:ext uri="{FF2B5EF4-FFF2-40B4-BE49-F238E27FC236}">
                <a16:creationId xmlns:a16="http://schemas.microsoft.com/office/drawing/2014/main" id="{CDCB1CBF-2F8E-84E4-C434-478C08A316E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1BE271-8753-4D9E-A70C-7ABA3DE47F8B}" type="slidenum">
              <a:rPr lang="zh-CN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57F3BE5-DC5B-F01F-B43C-0BCCC96CA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7F2614E8-52F3-3C08-8330-E2D92C246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72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A10F2-76D7-22CA-3E0C-616E8902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>
            <a:extLst>
              <a:ext uri="{FF2B5EF4-FFF2-40B4-BE49-F238E27FC236}">
                <a16:creationId xmlns:a16="http://schemas.microsoft.com/office/drawing/2014/main" id="{1DD3F9E6-6A46-3F6F-9D2C-8F7B9EB95D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24FB59-341D-498C-B56E-DAEA69B48DF4}" type="slidenum">
              <a:rPr lang="zh-CN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57A1677-D524-E409-346F-CDC4257A8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F2A83AF-A168-B7CE-9C98-7F73AAC5B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619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A802-6010-15F8-4314-AB67FAAF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>
            <a:extLst>
              <a:ext uri="{FF2B5EF4-FFF2-40B4-BE49-F238E27FC236}">
                <a16:creationId xmlns:a16="http://schemas.microsoft.com/office/drawing/2014/main" id="{039ECF2D-E256-7239-BA17-7E0A1D8C490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EB8E9D8-DBA0-4081-BF6A-5C5FBEB5F246}" type="slidenum">
              <a:rPr lang="zh-CN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B32BF50-F76F-3832-62F6-D1FC23973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8E1D27B-ED78-41B8-4B9E-D21DDF92DB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31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0B56-1ADC-E611-CF39-569A2E22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>
            <a:extLst>
              <a:ext uri="{FF2B5EF4-FFF2-40B4-BE49-F238E27FC236}">
                <a16:creationId xmlns:a16="http://schemas.microsoft.com/office/drawing/2014/main" id="{4B128DDA-91BA-A725-973B-C18C91F2C1D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46EA7F-6CC4-45E7-9B61-16A1CB81C906}" type="slidenum">
              <a:rPr lang="zh-CN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03B8DA0-F08D-3A27-40EF-935E5C479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FBFD50E-761C-BD6C-57C3-D9A371C66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7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7C440-843D-90A7-3EA4-91DDF194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5">
            <a:extLst>
              <a:ext uri="{FF2B5EF4-FFF2-40B4-BE49-F238E27FC236}">
                <a16:creationId xmlns:a16="http://schemas.microsoft.com/office/drawing/2014/main" id="{0DCDB515-0FFD-5B1E-34DA-46DB37C6556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900DFF7-6D98-4B60-AAE7-4F047A34CED7}" type="slidenum">
              <a:rPr lang="zh-CN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55D5B97-1A11-9A94-8346-81CEC4D13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7CCBBBF-ABAF-054A-A08B-C25FEE116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13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E8E13-C7EC-7253-532B-683A0F97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>
            <a:extLst>
              <a:ext uri="{FF2B5EF4-FFF2-40B4-BE49-F238E27FC236}">
                <a16:creationId xmlns:a16="http://schemas.microsoft.com/office/drawing/2014/main" id="{0F2513CE-2102-8A58-31B7-7C8C9C5494A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7177024-4A6F-4272-B775-9A00F89C9F5D}" type="slidenum">
              <a:rPr lang="zh-CN" altLang="en-US">
                <a:solidFill>
                  <a:prstClr val="black"/>
                </a:solidFill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1469C01-1065-233E-46E0-B020A36E21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1841127-60E7-0281-34E6-4E86971B8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292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1F46-266C-F22B-48E2-A843E5B5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>
            <a:extLst>
              <a:ext uri="{FF2B5EF4-FFF2-40B4-BE49-F238E27FC236}">
                <a16:creationId xmlns:a16="http://schemas.microsoft.com/office/drawing/2014/main" id="{9EC19BCA-2A1E-39F1-A632-EC9FC52956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39F5547-5AD7-4444-868A-FCD5C2D9A2F9}" type="slidenum">
              <a:rPr lang="zh-CN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29DCEBDD-DCB0-AB1C-CA71-37D763A2C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25A3B9F5-5615-32A5-CC84-BDD5A7491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456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8FC2B3-F161-4B65-8362-68BD88A456E3}" type="slidenum">
              <a:rPr lang="zh-CN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129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1ECEFF3-1834-42F5-BE49-05A8B238DDA1}" type="slidenum">
              <a:rPr lang="zh-CN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368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896A4D9-C062-4037-BA04-C708C742A081}" type="slidenum">
              <a:rPr lang="zh-CN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93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35FDF8-3891-4874-BAFB-78CDE46945B8}" type="slidenum">
              <a:rPr lang="zh-CN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685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8EFC927-6ADC-433F-BBE5-7205AF56410B}" type="slidenum">
              <a:rPr lang="zh-CN" altLang="en-US"/>
              <a:pPr algn="r" eaLnBrk="1" hangingPunct="1"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95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CF86-BD6A-C441-6BB3-7D73E9A1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>
            <a:extLst>
              <a:ext uri="{FF2B5EF4-FFF2-40B4-BE49-F238E27FC236}">
                <a16:creationId xmlns:a16="http://schemas.microsoft.com/office/drawing/2014/main" id="{AA8B44EF-C3FF-0ACD-698E-01B0A4E44A3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8650FA7-8025-4CEE-BA5E-5B17CB8CF68C}" type="slidenum">
              <a:rPr lang="zh-CN" altLang="en-US"/>
              <a:pPr algn="r" eaLnBrk="1" hangingPunct="1">
                <a:spcBef>
                  <a:spcPct val="0"/>
                </a:spcBef>
              </a:pPr>
              <a:t>19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518AA835-3A38-2639-D8B7-6DF074478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1AE662F-175B-9992-F454-FA9BB67AE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756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34B5C-0839-7EF1-AFA6-7BB4446E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>
            <a:extLst>
              <a:ext uri="{FF2B5EF4-FFF2-40B4-BE49-F238E27FC236}">
                <a16:creationId xmlns:a16="http://schemas.microsoft.com/office/drawing/2014/main" id="{4F6DB9E2-C366-7783-5F83-1587313A777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6756E50-16BF-434F-8366-B2C1479C6735}" type="slidenum">
              <a:rPr lang="zh-CN" altLang="en-US"/>
              <a:pPr algn="r" eaLnBrk="1" hangingPunct="1">
                <a:spcBef>
                  <a:spcPct val="0"/>
                </a:spcBef>
              </a:pPr>
              <a:t>20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6BE2A203-8A4C-1D8C-2F78-4FED3F8229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63CBA39-F689-CF5B-F3EE-9D44C63E1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4419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E5A3CA-74B0-4A38-8553-4485077D8F88}" type="slidenum">
              <a:rPr lang="zh-CN" altLang="en-US"/>
              <a:pPr algn="r" eaLnBrk="1" hangingPunct="1">
                <a:spcBef>
                  <a:spcPct val="0"/>
                </a:spcBef>
              </a:pPr>
              <a:t>21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411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779551E-9770-4691-A19A-DD941BA6C626}" type="slidenum">
              <a:rPr lang="zh-CN" altLang="en-US"/>
              <a:pPr algn="r" eaLnBrk="1" hangingPunct="1">
                <a:spcBef>
                  <a:spcPct val="0"/>
                </a:spcBef>
              </a:pPr>
              <a:t>23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256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8560D-A84A-E9C6-92F5-8381ADD3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>
            <a:extLst>
              <a:ext uri="{FF2B5EF4-FFF2-40B4-BE49-F238E27FC236}">
                <a16:creationId xmlns:a16="http://schemas.microsoft.com/office/drawing/2014/main" id="{551BF649-6464-D1E0-913C-4A0F4B3DC0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8A85F82-E012-41AC-A87C-4EB21CE8FE5E}" type="slidenum">
              <a:rPr lang="zh-CN" altLang="en-US"/>
              <a:pPr algn="r" eaLnBrk="1" hangingPunct="1">
                <a:spcBef>
                  <a:spcPct val="0"/>
                </a:spcBef>
              </a:pPr>
              <a:t>25</a:t>
            </a:fld>
            <a:endParaRPr lang="en-US" altLang="zh-CN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E559A210-5D16-DE06-D97D-4B4D6595F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CFDFBF9-AEB1-E441-ED97-54C693F12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64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752B-9B23-2695-CAC7-8D948C57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D60E6574-6D7B-96C0-7A74-B9B79444C6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B770B4-DE4C-45D2-B6FE-29FC978B00BD}" type="slidenum">
              <a:rPr lang="zh-CN" altLang="en-US"/>
              <a:pPr algn="r" eaLnBrk="1" hangingPunct="1"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ED2DC32-641E-B272-39CC-AA8FF330C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8B27033-3837-2BEF-AB18-943E108D3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924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488DF69-8B13-40FB-9CB3-3DB107F06B13}" type="slidenum">
              <a:rPr lang="zh-CN" altLang="en-US"/>
              <a:pPr algn="r" eaLnBrk="1" hangingPunct="1"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401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04B3955-FBD6-4EBF-B59D-C10D0E71CC13}" type="slidenum">
              <a:rPr lang="zh-CN" altLang="en-US"/>
              <a:pPr algn="r" eaLnBrk="1" hangingPunct="1"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81830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/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300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9848-E334-3A17-ED30-BF569203B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726BC9FC-D42F-8D50-C8F3-6489B8447C2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20AFA69-A081-D690-307A-8A76824DBB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BBA2B9E-D7C8-BC4A-EE98-3ADEA61A74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711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B001-96C9-AE59-DA84-7AEF767E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5">
            <a:extLst>
              <a:ext uri="{FF2B5EF4-FFF2-40B4-BE49-F238E27FC236}">
                <a16:creationId xmlns:a16="http://schemas.microsoft.com/office/drawing/2014/main" id="{BC08E4FC-A259-0404-8071-FD4E9EE505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486" y="8917128"/>
            <a:ext cx="3078383" cy="469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17" tIns="47109" rIns="94217" bIns="47109" anchor="b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5C6023D-AF22-4F2D-BE80-0264F9422D9E}" type="slidenum">
              <a:rPr lang="zh-CN" altLang="en-US"/>
              <a:pPr algn="r" eaLnBrk="1" hangingPunct="1"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C64C0C3-C0E4-B409-B6E8-2C230DFF89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14438" y="711200"/>
            <a:ext cx="4673600" cy="3506788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B41D3D66-670C-3063-1CCA-4207CF2B5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81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99983-69C2-4AE9-8DA8-BCD522A328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08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98F7EC-1B42-4AC7-B340-E18A20251A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7208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1D5E1-8459-4E83-9704-73D3CC5E19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5093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56EABF-3110-422C-99BF-CB4BBD64661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78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971AE-3E59-47F1-B82E-43B22E8A8CA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22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EEE5B-925D-4B2E-B20B-10DD6A7336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2F25A-7C19-4DC2-ACB6-9E5283462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563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379B6-EF1F-44DC-B70A-40D11DFF90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88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50223-696C-400D-A343-0CC962F884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89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A3A718-5AEA-41FB-9FEC-7C13AE29D6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8511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1618A-A291-4210-91F0-4FBF5DB783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4767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722313"/>
            <a:ext cx="8637588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8613" y="1941513"/>
            <a:ext cx="4027487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0" y="1941513"/>
            <a:ext cx="4029075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25DF84-257F-4C45-966B-C0EA4E1475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F6B171A-01DB-4B39-A277-6E8A2BD9AE8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3" Type="http://schemas.openxmlformats.org/officeDocument/2006/relationships/image" Target="../media/image16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10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9.png"/><Relationship Id="rId5" Type="http://schemas.openxmlformats.org/officeDocument/2006/relationships/image" Target="../media/image18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17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190.png"/><Relationship Id="rId7" Type="http://schemas.openxmlformats.org/officeDocument/2006/relationships/image" Target="../media/image6.jpeg"/><Relationship Id="rId12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emf"/><Relationship Id="rId9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0F_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29.png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.w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34.png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oleObject" Target="../embeddings/oleObject11.bin"/><Relationship Id="rId5" Type="http://schemas.openxmlformats.org/officeDocument/2006/relationships/image" Target="../media/image1.wmf"/><Relationship Id="rId10" Type="http://schemas.openxmlformats.org/officeDocument/2006/relationships/image" Target="../media/image13.emf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15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44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11" Type="http://schemas.openxmlformats.org/officeDocument/2006/relationships/image" Target="../media/image20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19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22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70.png"/><Relationship Id="rId3" Type="http://schemas.openxmlformats.org/officeDocument/2006/relationships/image" Target="../media/image22.emf"/><Relationship Id="rId7" Type="http://schemas.openxmlformats.org/officeDocument/2006/relationships/image" Target="../media/image12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68.png"/><Relationship Id="rId5" Type="http://schemas.openxmlformats.org/officeDocument/2006/relationships/image" Target="../media/image1.wmf"/><Relationship Id="rId10" Type="http://schemas.openxmlformats.org/officeDocument/2006/relationships/image" Target="../media/image67.png"/><Relationship Id="rId4" Type="http://schemas.openxmlformats.org/officeDocument/2006/relationships/oleObject" Target="../embeddings/oleObject22.bin"/><Relationship Id="rId9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228600"/>
            <a:ext cx="8610600" cy="6400800"/>
          </a:xfrm>
        </p:spPr>
        <p:txBody>
          <a:bodyPr lIns="92075" tIns="46038" rIns="92075" bIns="46038"/>
          <a:lstStyle/>
          <a:p>
            <a:pPr algn="ctr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Measurement Error Models in Action: </a:t>
            </a:r>
          </a:p>
          <a:p>
            <a:pPr algn="ctr" eaLnBrk="1" hangingPunct="1">
              <a:buNone/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</a:rPr>
              <a:t>The Latest Methods and Their Applications in Nutrition and Environmental Health</a:t>
            </a:r>
          </a:p>
          <a:p>
            <a:pPr algn="ctr" eaLnBrk="1" hangingPunct="1">
              <a:buNone/>
            </a:pPr>
            <a:endParaRPr lang="en-US" altLang="en-US" sz="2400" b="1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ENAR 2026</a:t>
            </a: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Indianapolis, IN</a:t>
            </a:r>
          </a:p>
          <a:p>
            <a:pPr algn="ctr" eaLnBrk="1" hangingPunct="1">
              <a:buNone/>
            </a:pPr>
            <a:endParaRPr lang="en-US" altLang="en-US" sz="2400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Donna Spiegelman</a:t>
            </a:r>
          </a:p>
          <a:p>
            <a:pPr algn="ctr" eaLnBrk="1" hangingPunct="1">
              <a:buNone/>
            </a:pPr>
            <a:r>
              <a:rPr lang="en-US" altLang="en-US" sz="2400" dirty="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rPr>
              <a:t>Donna.spiegelman@yale.edu</a:t>
            </a:r>
          </a:p>
          <a:p>
            <a:pPr algn="ctr" eaLnBrk="1" hangingPunct="1">
              <a:buFont typeface="Arial" charset="0"/>
              <a:buNone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Arial" charset="0"/>
              <a:buNone/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Study Design in the Presence of Exposure Misclassification or Measurement Error</a:t>
            </a:r>
          </a:p>
          <a:p>
            <a:pPr algn="ctr">
              <a:buFont typeface="Arial" charset="0"/>
              <a:buNone/>
            </a:pPr>
            <a:endParaRPr lang="en-US" altLang="en-US" sz="1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Font typeface="Arial" charset="0"/>
              <a:buNone/>
            </a:pPr>
            <a:endParaRPr lang="en-US" altLang="en-US" sz="28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algn="ctr" eaLnBrk="1" hangingPunct="1"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buFont typeface="Arial" charset="0"/>
              <a:buNone/>
            </a:pPr>
            <a:endParaRPr lang="en-US" altLang="en-US" dirty="0">
              <a:latin typeface="Times New Roman" pitchFamily="18" charset="0"/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0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ea typeface="宋体" pitchFamily="2" charset="-122"/>
              </a:rPr>
              <a:t>                                                            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solidFill>
                <a:srgbClr val="000000"/>
              </a:solidFill>
              <a:ea typeface="宋体" pitchFamily="2" charset="-12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  <a:ea typeface="宋体" pitchFamily="2" charset="-122"/>
              </a:rPr>
              <a:t>         </a:t>
            </a:r>
            <a:endParaRPr lang="en-US" altLang="en-US" sz="1800" dirty="0">
              <a:solidFill>
                <a:srgbClr val="000000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3075" name="AutoShape 3"/>
          <p:cNvCxnSpPr>
            <a:cxnSpLocks noChangeShapeType="1"/>
            <a:stCxn id="3074" idx="3"/>
            <a:endCxn id="3074" idx="3"/>
          </p:cNvCxnSpPr>
          <p:nvPr/>
        </p:nvCxnSpPr>
        <p:spPr bwMode="auto">
          <a:xfrm>
            <a:off x="8839200" y="34290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076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3077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Slide Number Placeholder 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D9C0FEE-A46A-4D1E-92E1-FDDDDF4C2937}" type="slidenum">
              <a:rPr lang="en-US" altLang="en-US" sz="1200" smtClean="0">
                <a:solidFill>
                  <a:srgbClr val="898989"/>
                </a:solidFill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0" y="2278117"/>
            <a:ext cx="259715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u="sng" dirty="0">
                    <a:latin typeface="Times New Roman" pitchFamily="18" charset="0"/>
                    <a:cs typeface="Times New Roman" pitchFamily="18" charset="0"/>
                  </a:rPr>
                  <a:t>Study design in the presence of misclassification</a:t>
                </a: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Fully validated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design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,=1,...,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a binary outcome variable,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exposure measured without error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Easy to analyze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no questions about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validity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in terms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 transportability, form of the measurement error/misclassification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model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May be unethical or unfeasible; even when not,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cost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may be prohibitive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  <a:blipFill>
                <a:blip r:embed="rId3"/>
                <a:stretch>
                  <a:fillRect l="-1164" t="-790" r="-1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9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43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0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4101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02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410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410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2D8EB9-E1ED-496E-9928-E64EB0777B10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457200" y="326711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Main study/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internal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validation study design  </a:t>
                </a: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;(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+1,...,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surrogate exposure,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sample size of the main study,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is the sample size of the validation study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: Guaranteed to be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transportable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more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efficient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than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main study / external validation study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Almost always needs to be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planned in advance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although there are exceptions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457200" y="326711"/>
                <a:ext cx="8382000" cy="6172200"/>
              </a:xfrm>
              <a:blipFill>
                <a:blip r:embed="rId3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2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39200" y="3412811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5125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126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512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512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899678-B307-4980-8F0D-F8252D66EFD3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5072-F272-903B-D07E-E6B9C561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569C113A-271F-728A-DFCC-CB0537EB6572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Main study/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external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validation study design 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=1,...,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;(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+1,...,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Advantages: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Often,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the only option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valid analysis of studies in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which there is measurement error or misclassification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i="1" dirty="0">
                    <a:latin typeface="Times New Roman" pitchFamily="18" charset="0"/>
                    <a:cs typeface="Times New Roman" pitchFamily="18" charset="0"/>
                  </a:rPr>
                  <a:t>Disadvantages: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Transportability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may be questionable, and cannot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be empirically verified;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less efficient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than the main study/internal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validation study design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569C113A-271F-728A-DFCC-CB0537EB65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1000" y="457200"/>
                <a:ext cx="8382000" cy="6172200"/>
              </a:xfrm>
              <a:blipFill>
                <a:blip r:embed="rId3"/>
                <a:stretch>
                  <a:fillRect l="-1164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47" name="AutoShape 3">
            <a:extLst>
              <a:ext uri="{FF2B5EF4-FFF2-40B4-BE49-F238E27FC236}">
                <a16:creationId xmlns:a16="http://schemas.microsoft.com/office/drawing/2014/main" id="{52E989E3-18B3-087D-53FA-F01C605319DF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43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48" name="Rectangle 11">
            <a:extLst>
              <a:ext uri="{FF2B5EF4-FFF2-40B4-BE49-F238E27FC236}">
                <a16:creationId xmlns:a16="http://schemas.microsoft.com/office/drawing/2014/main" id="{BBC07E84-A3CA-26FA-B93D-75C4DAA5D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6149" name="Object 10">
            <a:extLst>
              <a:ext uri="{FF2B5EF4-FFF2-40B4-BE49-F238E27FC236}">
                <a16:creationId xmlns:a16="http://schemas.microsoft.com/office/drawing/2014/main" id="{238BFEB5-519B-E9B7-5CAF-49C53502467F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6150" name="Object 13">
            <a:extLst>
              <a:ext uri="{FF2B5EF4-FFF2-40B4-BE49-F238E27FC236}">
                <a16:creationId xmlns:a16="http://schemas.microsoft.com/office/drawing/2014/main" id="{24A6C14E-F145-1D96-1D38-4FCF87EFBF5C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6151" name="Rectangle 15">
            <a:extLst>
              <a:ext uri="{FF2B5EF4-FFF2-40B4-BE49-F238E27FC236}">
                <a16:creationId xmlns:a16="http://schemas.microsoft.com/office/drawing/2014/main" id="{18721F82-09CC-11F0-453A-4E2F4CD80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6152" name="Slide Number Placeholder 18">
            <a:extLst>
              <a:ext uri="{FF2B5EF4-FFF2-40B4-BE49-F238E27FC236}">
                <a16:creationId xmlns:a16="http://schemas.microsoft.com/office/drawing/2014/main" id="{484ABF43-9A61-C85F-E3AE-1A08B1CF5A6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63603EB-4BC9-4324-B705-AAA7B84AFF20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88165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88DB-83A7-BE9D-DFCF-614FC4F0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B7A3A91-018D-166E-2D3A-C4324C65C1C7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23353" y="113137"/>
                <a:ext cx="8839200" cy="6264275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Two design problems are most important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200" dirty="0">
                  <a:latin typeface="Times New Roman" panose="02020603050405020304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	a.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Minimize the cost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of the study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subject to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a minimum acceptable pow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er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b.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Maximize the power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of the study as a function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subject to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itchFamily="18" charset="0"/>
                  </a:rPr>
                  <a:t>a fixed total cost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 A closely related, but less useful, problem is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c. Minimize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subject to a fixed total cost.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For a case-control study,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itchFamily="18" charset="0"/>
                  </a:rPr>
                  <a:t> is substituted with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𝑅𝑅</m:t>
                    </m:r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 b="0" i="0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l-GR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=0)</m:t>
                        </m:r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the relative risk, </a:t>
                </a:r>
                <a:endParaRPr lang="en-US" sz="2400" i="1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a:rPr lang="en-US" sz="2400" i="1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𝑂𝑅</m:t>
                    </m:r>
                  </m:oMath>
                </a14:m>
                <a:r>
                  <a:rPr lang="en-US" sz="2400" dirty="0">
                    <a:highlight>
                      <a:srgbClr val="FFFF00"/>
                    </a:highlight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b="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dirty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400" b="0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𝑃𝑟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=1|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=0)</m:t>
                        </m:r>
                        <m:r>
                          <m:rPr>
                            <m:sty m:val="p"/>
                          </m:rPr>
                          <a:rPr lang="en-US" sz="24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Pr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⁡(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=0|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=1)</m:t>
                        </m:r>
                      </m:den>
                    </m:f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400" b="0" i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odds ratio,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meaningful increment 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binary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B7A3A91-018D-166E-2D3A-C4324C65C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23353" y="113137"/>
                <a:ext cx="8839200" cy="6264275"/>
              </a:xfrm>
              <a:blipFill>
                <a:blip r:embed="rId3"/>
                <a:stretch>
                  <a:fillRect l="-1034" t="-779" r="-4276" b="-3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71" name="AutoShape 3">
            <a:extLst>
              <a:ext uri="{FF2B5EF4-FFF2-40B4-BE49-F238E27FC236}">
                <a16:creationId xmlns:a16="http://schemas.microsoft.com/office/drawing/2014/main" id="{C809F1AE-205E-7D8B-4E37-EEC4B03C9AB7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62553" y="324527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2" name="Rectangle 11">
            <a:extLst>
              <a:ext uri="{FF2B5EF4-FFF2-40B4-BE49-F238E27FC236}">
                <a16:creationId xmlns:a16="http://schemas.microsoft.com/office/drawing/2014/main" id="{EBED61E6-509F-D873-CA71-6DDBEC10E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7173" name="Object 10">
            <a:extLst>
              <a:ext uri="{FF2B5EF4-FFF2-40B4-BE49-F238E27FC236}">
                <a16:creationId xmlns:a16="http://schemas.microsoft.com/office/drawing/2014/main" id="{6872877E-FA32-E48D-D668-791812E97174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7174" name="Object 13">
            <a:extLst>
              <a:ext uri="{FF2B5EF4-FFF2-40B4-BE49-F238E27FC236}">
                <a16:creationId xmlns:a16="http://schemas.microsoft.com/office/drawing/2014/main" id="{041C7B40-2D0D-BE86-F2C2-FCCB995F63A3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7175" name="Rectangle 15">
            <a:extLst>
              <a:ext uri="{FF2B5EF4-FFF2-40B4-BE49-F238E27FC236}">
                <a16:creationId xmlns:a16="http://schemas.microsoft.com/office/drawing/2014/main" id="{CF9F0441-72DB-4C2E-BB8E-8505B1847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7176" name="Slide Number Placeholder 18">
            <a:extLst>
              <a:ext uri="{FF2B5EF4-FFF2-40B4-BE49-F238E27FC236}">
                <a16:creationId xmlns:a16="http://schemas.microsoft.com/office/drawing/2014/main" id="{E2DC273C-649D-A4AD-CEBD-9231D645B9E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72F671D-67E8-41FE-8570-8DA62472B94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200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229F-6B33-B0B2-4BDB-C91C7061D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EB4F8F2-6C90-AF60-E651-74C6E4E95438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23850" y="136525"/>
                <a:ext cx="86106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can be rewritten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400" dirty="0">
                  <a:highlight>
                    <a:srgbClr val="FFFF00"/>
                  </a:highlight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Greenland (Greenland, 1988) addressed problem (c) in detail for </a:t>
                </a:r>
              </a:p>
              <a:p>
                <a:pPr marL="0" indent="0">
                  <a:buFont typeface="Arial" charset="0"/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case-control studies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with the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matrix method estimator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and, in his Appendix, provides the formulas to address problem (c) in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cohort studies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Greenland S. (1988) Statistical uncertainty due to misclassification- implications for validation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substudies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Journal Of Clinical Epidemiology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41:1167-1174.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EB4F8F2-6C90-AF60-E651-74C6E4E95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23850" y="136525"/>
                <a:ext cx="8610600" cy="6172200"/>
              </a:xfrm>
              <a:blipFill>
                <a:blip r:embed="rId3"/>
                <a:stretch>
                  <a:fillRect l="-1062" r="-10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95" name="AutoShape 3">
            <a:extLst>
              <a:ext uri="{FF2B5EF4-FFF2-40B4-BE49-F238E27FC236}">
                <a16:creationId xmlns:a16="http://schemas.microsoft.com/office/drawing/2014/main" id="{3B094CB9-D762-14A9-E5B9-54B3F6AADFEA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34450" y="32226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196" name="Rectangle 11">
            <a:extLst>
              <a:ext uri="{FF2B5EF4-FFF2-40B4-BE49-F238E27FC236}">
                <a16:creationId xmlns:a16="http://schemas.microsoft.com/office/drawing/2014/main" id="{697CBF10-4217-7106-36E8-08420523F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8197" name="Object 10">
            <a:extLst>
              <a:ext uri="{FF2B5EF4-FFF2-40B4-BE49-F238E27FC236}">
                <a16:creationId xmlns:a16="http://schemas.microsoft.com/office/drawing/2014/main" id="{B462B7A6-75CB-DF6B-EA97-0EE8998EA168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8198" name="Object 13">
            <a:extLst>
              <a:ext uri="{FF2B5EF4-FFF2-40B4-BE49-F238E27FC236}">
                <a16:creationId xmlns:a16="http://schemas.microsoft.com/office/drawing/2014/main" id="{9351BAB4-D4A1-FA6D-2416-2DE33D0AC1FC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8199" name="Rectangle 15">
            <a:extLst>
              <a:ext uri="{FF2B5EF4-FFF2-40B4-BE49-F238E27FC236}">
                <a16:creationId xmlns:a16="http://schemas.microsoft.com/office/drawing/2014/main" id="{F57B4231-04C7-5DC0-1E31-236515283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8200" name="Slide Number Placeholder 18">
            <a:extLst>
              <a:ext uri="{FF2B5EF4-FFF2-40B4-BE49-F238E27FC236}">
                <a16:creationId xmlns:a16="http://schemas.microsoft.com/office/drawing/2014/main" id="{11485C6B-D10A-941F-7AAA-F7364E50B1F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22360E9-9F4A-4A02-9D3E-33244382855C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7121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7B7C1-6011-2F3C-B533-848BD3D4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8FB7CA-D847-906F-090D-14EF9973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9131450-709A-72E7-0DB9-F617CB14FB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4452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9131450-709A-72E7-0DB9-F617CB14FB3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44452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632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47F6B-B4ED-095F-7813-7A246D41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4926C2-58A6-2DFE-A8C6-F5C96AB6F82B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8233" y="48960"/>
                <a:ext cx="9009298" cy="6760079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Greenland S. (1988)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To solve this problem for </a:t>
                </a: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case-control studies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additional features of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 study must be specified. These include:</a:t>
                </a:r>
              </a:p>
              <a:p>
                <a:pPr marL="857250" lvl="1" indent="-457200"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sensitivity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857250" lvl="1" indent="-457200">
                  <a:buAutoNum type="arabicPeriod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 ,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specificity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 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>
                  <a:buNone/>
                  <a:defRPr/>
                </a:pP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(Of course, it can be assumed  (or empirically verified given validation or reliability data) that misclassification is non-differential),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, 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</m:t>
                        </m:r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marL="857250" lvl="1" indent="-457200">
                  <a:buFont typeface="+mj-lt"/>
                  <a:buAutoNum type="arabicPeriod" startAt="3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), 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              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Or, although Greenland didn’t provide the formulas in these terms,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Bayes theorem can be used to solve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as a function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Alternatively, the problem could be re-parameterized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then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  <m:d>
                      <m:dPr>
                        <m:begChr m:val="|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=0,1,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                                    can be solved for.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/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4926C2-58A6-2DFE-A8C6-F5C96AB6F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8233" y="48960"/>
                <a:ext cx="9009298" cy="6760079"/>
              </a:xfrm>
              <a:blipFill>
                <a:blip r:embed="rId3"/>
                <a:stretch>
                  <a:fillRect l="-1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19" name="AutoShape 3">
            <a:extLst>
              <a:ext uri="{FF2B5EF4-FFF2-40B4-BE49-F238E27FC236}">
                <a16:creationId xmlns:a16="http://schemas.microsoft.com/office/drawing/2014/main" id="{C4753E43-45DA-BE1B-E247-58B72F80D1AC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047531" y="34290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0" name="Rectangle 11">
            <a:extLst>
              <a:ext uri="{FF2B5EF4-FFF2-40B4-BE49-F238E27FC236}">
                <a16:creationId xmlns:a16="http://schemas.microsoft.com/office/drawing/2014/main" id="{CCE0F01E-74F9-4DDE-79CD-CAF677831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9221" name="Object 10">
            <a:extLst>
              <a:ext uri="{FF2B5EF4-FFF2-40B4-BE49-F238E27FC236}">
                <a16:creationId xmlns:a16="http://schemas.microsoft.com/office/drawing/2014/main" id="{0E5B3FA0-F30D-9CC1-9AC6-FDFCBCAEAF53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9222" name="Object 13">
            <a:extLst>
              <a:ext uri="{FF2B5EF4-FFF2-40B4-BE49-F238E27FC236}">
                <a16:creationId xmlns:a16="http://schemas.microsoft.com/office/drawing/2014/main" id="{34F7B4DC-B0E9-1D94-3BBA-74A5168D814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9223" name="Rectangle 15">
            <a:extLst>
              <a:ext uri="{FF2B5EF4-FFF2-40B4-BE49-F238E27FC236}">
                <a16:creationId xmlns:a16="http://schemas.microsoft.com/office/drawing/2014/main" id="{75EF0180-BB7D-C032-9586-3518732B6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9224" name="Slide Number Placeholder 18">
            <a:extLst>
              <a:ext uri="{FF2B5EF4-FFF2-40B4-BE49-F238E27FC236}">
                <a16:creationId xmlns:a16="http://schemas.microsoft.com/office/drawing/2014/main" id="{443E28B5-9DD7-4744-89A0-D4EB9C8C60CF}"/>
              </a:ext>
            </a:extLst>
          </p:cNvPr>
          <p:cNvSpPr txBox="1">
            <a:spLocks noGrp="1"/>
          </p:cNvSpPr>
          <p:nvPr/>
        </p:nvSpPr>
        <p:spPr bwMode="auto">
          <a:xfrm>
            <a:off x="6934200" y="6471154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4BBCDC2-3DAD-4B61-A0F8-EB7B0CFA1399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200" dirty="0">
              <a:solidFill>
                <a:srgbClr val="898989"/>
              </a:solidFill>
            </a:endParaRPr>
          </a:p>
        </p:txBody>
      </p:sp>
      <p:sp>
        <p:nvSpPr>
          <p:cNvPr id="9228" name="Object 12">
            <a:extLst>
              <a:ext uri="{FF2B5EF4-FFF2-40B4-BE49-F238E27FC236}">
                <a16:creationId xmlns:a16="http://schemas.microsoft.com/office/drawing/2014/main" id="{10A71DA2-7350-9DA0-995D-9F44A5C7F256}"/>
              </a:ext>
            </a:extLst>
          </p:cNvPr>
          <p:cNvSpPr txBox="1"/>
          <p:nvPr/>
        </p:nvSpPr>
        <p:spPr bwMode="auto">
          <a:xfrm>
            <a:off x="9186671" y="3428999"/>
            <a:ext cx="3733800" cy="33013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endParaRPr lang="en-US" sz="2400" dirty="0"/>
          </a:p>
        </p:txBody>
      </p:sp>
      <p:sp>
        <p:nvSpPr>
          <p:cNvPr id="9233" name="Object 2">
            <a:extLst>
              <a:ext uri="{FF2B5EF4-FFF2-40B4-BE49-F238E27FC236}">
                <a16:creationId xmlns:a16="http://schemas.microsoft.com/office/drawing/2014/main" id="{0D8FC272-6CAD-F897-B0EA-3B841E79FF4C}"/>
              </a:ext>
            </a:extLst>
          </p:cNvPr>
          <p:cNvSpPr txBox="1"/>
          <p:nvPr/>
        </p:nvSpPr>
        <p:spPr bwMode="auto">
          <a:xfrm>
            <a:off x="1878641" y="6386511"/>
            <a:ext cx="1281907" cy="39528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27640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EF962-3D72-F258-22A8-5040E41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3" name="AutoShape 3">
            <a:extLst>
              <a:ext uri="{FF2B5EF4-FFF2-40B4-BE49-F238E27FC236}">
                <a16:creationId xmlns:a16="http://schemas.microsoft.com/office/drawing/2014/main" id="{2BC20A20-A0D3-CD65-386B-3AF5E1A1C3C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4" name="Rectangle 11">
            <a:extLst>
              <a:ext uri="{FF2B5EF4-FFF2-40B4-BE49-F238E27FC236}">
                <a16:creationId xmlns:a16="http://schemas.microsoft.com/office/drawing/2014/main" id="{6D02BD20-D952-27B3-BC0D-06F2EE1CB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245" name="Object 10">
            <a:extLst>
              <a:ext uri="{FF2B5EF4-FFF2-40B4-BE49-F238E27FC236}">
                <a16:creationId xmlns:a16="http://schemas.microsoft.com/office/drawing/2014/main" id="{CB52C97A-A52E-E63B-EACD-97B3A8D5BE28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246" name="Object 13">
            <a:extLst>
              <a:ext uri="{FF2B5EF4-FFF2-40B4-BE49-F238E27FC236}">
                <a16:creationId xmlns:a16="http://schemas.microsoft.com/office/drawing/2014/main" id="{67B087C8-7871-7D87-7618-FD0802D7E20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0247" name="Rectangle 15">
            <a:extLst>
              <a:ext uri="{FF2B5EF4-FFF2-40B4-BE49-F238E27FC236}">
                <a16:creationId xmlns:a16="http://schemas.microsoft.com/office/drawing/2014/main" id="{3374C019-5B36-D0D0-10DB-3CB4F69E8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0248" name="Slide Number Placeholder 18">
            <a:extLst>
              <a:ext uri="{FF2B5EF4-FFF2-40B4-BE49-F238E27FC236}">
                <a16:creationId xmlns:a16="http://schemas.microsoft.com/office/drawing/2014/main" id="{6B051635-290D-42C7-F22D-B8F211707F2A}"/>
              </a:ext>
            </a:extLst>
          </p:cNvPr>
          <p:cNvSpPr txBox="1">
            <a:spLocks noGrp="1"/>
          </p:cNvSpPr>
          <p:nvPr/>
        </p:nvSpPr>
        <p:spPr bwMode="auto">
          <a:xfrm>
            <a:off x="2438400" y="5596969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zh-CN" sz="1400" dirty="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5" name="Object 1">
                <a:extLst>
                  <a:ext uri="{FF2B5EF4-FFF2-40B4-BE49-F238E27FC236}">
                    <a16:creationId xmlns:a16="http://schemas.microsoft.com/office/drawing/2014/main" id="{85AFA037-6514-DBA1-5955-90966927FFE5}"/>
                  </a:ext>
                </a:extLst>
              </p:cNvPr>
              <p:cNvSpPr txBox="1"/>
              <p:nvPr/>
            </p:nvSpPr>
            <p:spPr bwMode="auto">
              <a:xfrm>
                <a:off x="4876800" y="5410200"/>
                <a:ext cx="339725" cy="3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255" name="Object 1">
                <a:extLst>
                  <a:ext uri="{FF2B5EF4-FFF2-40B4-BE49-F238E27FC236}">
                    <a16:creationId xmlns:a16="http://schemas.microsoft.com/office/drawing/2014/main" id="{525D65D6-0845-B48D-3283-D6229BF5D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5410200"/>
                <a:ext cx="339725" cy="317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78D98B4-EBEF-35A0-9BD3-8E0CB112F289}"/>
              </a:ext>
            </a:extLst>
          </p:cNvPr>
          <p:cNvSpPr txBox="1"/>
          <p:nvPr/>
        </p:nvSpPr>
        <p:spPr>
          <a:xfrm>
            <a:off x="3962400" y="5029200"/>
            <a:ext cx="37753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                     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B9E46-0F2A-4D1F-A30B-B4E45B305678}"/>
              </a:ext>
            </a:extLst>
          </p:cNvPr>
          <p:cNvSpPr txBox="1"/>
          <p:nvPr/>
        </p:nvSpPr>
        <p:spPr>
          <a:xfrm>
            <a:off x="533400" y="5410200"/>
            <a:ext cx="51219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                                  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81D67-45FA-6171-8196-2118F4C2B4E8}"/>
                  </a:ext>
                </a:extLst>
              </p:cNvPr>
              <p:cNvSpPr txBox="1"/>
              <p:nvPr/>
            </p:nvSpPr>
            <p:spPr>
              <a:xfrm>
                <a:off x="190500" y="613648"/>
                <a:ext cx="8763000" cy="684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2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2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  <m:e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</m:d>
                          </m:e>
                        </m:func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sz="22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200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  <m:e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2200" i="1" dirty="0">
                                    <a:highlight>
                                      <a:srgbClr val="FFFF00"/>
                                    </a:highlight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𝑃𝑟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=0)</m:t>
                        </m:r>
                        <m:r>
                          <m:rPr>
                            <m:sty m:val="p"/>
                          </m:rPr>
                          <a:rPr lang="en-US" sz="2200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=0|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200" i="1" dirty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=1)</m:t>
                        </m:r>
                      </m:den>
                    </m:f>
                    <m:r>
                      <a:rPr lang="en-US" sz="2200" i="1" dirty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B81D67-45FA-6171-8196-2118F4C2B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613648"/>
                <a:ext cx="8763000" cy="684996"/>
              </a:xfrm>
              <a:prstGeom prst="rect">
                <a:avLst/>
              </a:prstGeom>
              <a:blipFill>
                <a:blip r:embed="rId4"/>
                <a:stretch>
                  <a:fillRect l="-1043"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20F678-AD67-BA70-E0D1-5D0D067083F0}"/>
                  </a:ext>
                </a:extLst>
              </p:cNvPr>
              <p:cNvSpPr txBox="1"/>
              <p:nvPr/>
            </p:nvSpPr>
            <p:spPr>
              <a:xfrm>
                <a:off x="931236" y="2037739"/>
                <a:ext cx="65568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The case-control ratio in the main study, and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20F678-AD67-BA70-E0D1-5D0D06708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2037739"/>
                <a:ext cx="6556870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B6207-1BFD-AD53-34A4-24C872560A93}"/>
                  </a:ext>
                </a:extLst>
              </p:cNvPr>
              <p:cNvSpPr txBox="1"/>
              <p:nvPr/>
            </p:nvSpPr>
            <p:spPr>
              <a:xfrm>
                <a:off x="931236" y="3007667"/>
                <a:ext cx="63667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The case-control ratio in the validation study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B6207-1BFD-AD53-34A4-24C872560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3007667"/>
                <a:ext cx="6366783" cy="461665"/>
              </a:xfrm>
              <a:prstGeom prst="rect">
                <a:avLst/>
              </a:prstGeom>
              <a:blipFill>
                <a:blip r:embed="rId6"/>
                <a:stretch>
                  <a:fillRect t="-10526" r="-105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2EDEE-0B5B-B92D-8CFB-DCE0675839D3}"/>
                  </a:ext>
                </a:extLst>
              </p:cNvPr>
              <p:cNvSpPr txBox="1"/>
              <p:nvPr/>
            </p:nvSpPr>
            <p:spPr>
              <a:xfrm>
                <a:off x="931236" y="3878491"/>
                <a:ext cx="30115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Unit cost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A72EDEE-0B5B-B92D-8CFB-DCE067583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3878491"/>
                <a:ext cx="3011548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64A1B-0B35-E5BE-3A10-7C27DFACB557}"/>
                  </a:ext>
                </a:extLst>
              </p:cNvPr>
              <p:cNvSpPr txBox="1"/>
              <p:nvPr/>
            </p:nvSpPr>
            <p:spPr>
              <a:xfrm>
                <a:off x="931236" y="4782726"/>
                <a:ext cx="43355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Unit cost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64A1B-0B35-E5BE-3A10-7C27DFACB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236" y="4782726"/>
                <a:ext cx="4335557" cy="461665"/>
              </a:xfrm>
              <a:prstGeom prst="rect">
                <a:avLst/>
              </a:prstGeom>
              <a:blipFill>
                <a:blip r:embed="rId8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66997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E4E0-7136-96CE-01EC-53C730EC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7B96D3-CEA7-F119-787F-8D0FFDDDC80B}"/>
              </a:ext>
            </a:extLst>
          </p:cNvPr>
          <p:cNvSpPr txBox="1"/>
          <p:nvPr/>
        </p:nvSpPr>
        <p:spPr>
          <a:xfrm>
            <a:off x="152400" y="-50603"/>
            <a:ext cx="883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Greenland S. (1988)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9F8D4-C218-26E4-3EDF-C0059C55C171}"/>
                  </a:ext>
                </a:extLst>
              </p:cNvPr>
              <p:cNvSpPr txBox="1"/>
              <p:nvPr/>
            </p:nvSpPr>
            <p:spPr>
              <a:xfrm>
                <a:off x="148800" y="668861"/>
                <a:ext cx="9144000" cy="6443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the odds ratio estimated in the validation study without bias using data 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+1,...,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𝑀𝑋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odds ratio from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matrix method </a:t>
                </a:r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Bross, I. “Misclassification in 2x2 tables” </a:t>
                </a:r>
                <a:r>
                  <a:rPr lang="en-US" altLang="zh-CN" sz="1600" i="1" dirty="0">
                    <a:latin typeface="Times New Roman" pitchFamily="18" charset="0"/>
                    <a:cs typeface="Times New Roman" pitchFamily="18" charset="0"/>
                  </a:rPr>
                  <a:t>Biometrics</a:t>
                </a:r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1954; 10:478-486). </a:t>
                </a:r>
              </a:p>
              <a:p>
                <a:endParaRPr lang="en-US" altLang="zh-CN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1"/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This method uses the observed cell counts in the 2x2 table for outcome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with a binary surrogate exposure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</m:oMath>
                </a14:m>
                <a:r>
                  <a:rPr lang="en-US" altLang="zh-CN" sz="1600" dirty="0">
                    <a:latin typeface="Times New Roman" pitchFamily="18" charset="0"/>
                    <a:cs typeface="Times New Roman" pitchFamily="18" charset="0"/>
                  </a:rPr>
                  <a:t> along with estimate of the sensitivity and specificities for misclassification to produce a bias-corrected estimate of the odds ratio.</a:t>
                </a:r>
              </a:p>
              <a:p>
                <a:pPr lvl="1"/>
                <a:endParaRPr lang="en-US" altLang="zh-C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Then, in a 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MS/IVS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the value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gives the study design which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provides the minimum variance estimate of the bias-corrected odds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  is the solution to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𝑀𝑖𝑛</m:t>
                        </m:r>
                      </m:e>
                      <m:lim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)],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)]}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 to the constraint that </a:t>
                </a:r>
              </a:p>
              <a:p>
                <a:endParaRPr 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primary measurement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always necessary </a:t>
                </a:r>
              </a:p>
              <a:p>
                <a:pPr algn="ctr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&lt;1)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=1)</m:t>
                            </m:r>
                          </m:sup>
                        </m:sSup>
                      </m:e>
                    </m:d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eliminated fully validated design, 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∈(0,1]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sz="2000" dirty="0">
                  <a:solidFill>
                    <a:prstClr val="black"/>
                  </a:solidFill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79F8D4-C218-26E4-3EDF-C0059C55C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00" y="668861"/>
                <a:ext cx="9144000" cy="6443239"/>
              </a:xfrm>
              <a:prstGeom prst="rect">
                <a:avLst/>
              </a:prstGeom>
              <a:blipFill>
                <a:blip r:embed="rId3"/>
                <a:stretch>
                  <a:fillRect l="-667" t="-473" r="-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69373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A4A4-8712-8F24-2F63-8BE1C25B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44E9A625-97D2-2AEA-C0F3-34BA45DE8C7A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14300" y="1066800"/>
                <a:ext cx="8641439" cy="5259388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Note: The fully validated design is given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the fully validated design isn’t an option for ethical or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feasibility reasons, the problem is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𝑀𝑖𝑛</m:t>
                          </m:r>
                        </m:e>
                        <m:li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𝑂𝑅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)]}</m:t>
                      </m:r>
                    </m:oMath>
                  </m:oMathPara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subject to the constraint that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𝐶𝑜𝑠𝑡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It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solved to find the optimal  MS/IVS design.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44E9A625-97D2-2AEA-C0F3-34BA45DE8C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14300" y="1066800"/>
                <a:ext cx="8641439" cy="5259388"/>
              </a:xfrm>
              <a:blipFill>
                <a:blip r:embed="rId3"/>
                <a:stretch>
                  <a:fillRect l="-1129" t="-1043" r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91" name="AutoShape 3">
            <a:extLst>
              <a:ext uri="{FF2B5EF4-FFF2-40B4-BE49-F238E27FC236}">
                <a16:creationId xmlns:a16="http://schemas.microsoft.com/office/drawing/2014/main" id="{E4318D8A-D9BF-8597-D014-15EA82DDA35E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55739" y="3696494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2" name="Rectangle 11">
            <a:extLst>
              <a:ext uri="{FF2B5EF4-FFF2-40B4-BE49-F238E27FC236}">
                <a16:creationId xmlns:a16="http://schemas.microsoft.com/office/drawing/2014/main" id="{FF3D6E69-A70F-B1DA-BF09-CADD02BAC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Object 10">
                <a:extLst>
                  <a:ext uri="{FF2B5EF4-FFF2-40B4-BE49-F238E27FC236}">
                    <a16:creationId xmlns:a16="http://schemas.microsoft.com/office/drawing/2014/main" id="{BB238A7D-7A2C-8746-B347-381E81B2FC80}"/>
                  </a:ext>
                </a:extLst>
              </p:cNvPr>
              <p:cNvSpPr txBox="1"/>
              <p:nvPr/>
            </p:nvSpPr>
            <p:spPr bwMode="auto">
              <a:xfrm>
                <a:off x="0" y="0"/>
                <a:ext cx="114300" cy="180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293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0"/>
                <a:ext cx="114300" cy="180975"/>
              </a:xfrm>
              <a:prstGeom prst="rect">
                <a:avLst/>
              </a:prstGeom>
              <a:blipFill>
                <a:blip r:embed="rId4"/>
                <a:stretch>
                  <a:fillRect r="-110526" b="-6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Object 13">
            <a:extLst>
              <a:ext uri="{FF2B5EF4-FFF2-40B4-BE49-F238E27FC236}">
                <a16:creationId xmlns:a16="http://schemas.microsoft.com/office/drawing/2014/main" id="{8FEEC9D8-4D35-7286-E3F8-237AB6EFFFE6}"/>
              </a:ext>
            </a:extLst>
          </p:cNvPr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2295" name="Rectangle 15">
            <a:extLst>
              <a:ext uri="{FF2B5EF4-FFF2-40B4-BE49-F238E27FC236}">
                <a16:creationId xmlns:a16="http://schemas.microsoft.com/office/drawing/2014/main" id="{1C7A2034-B6FB-C03D-8E5D-7E7E552D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2296" name="Slide Number Placeholder 18">
            <a:extLst>
              <a:ext uri="{FF2B5EF4-FFF2-40B4-BE49-F238E27FC236}">
                <a16:creationId xmlns:a16="http://schemas.microsoft.com/office/drawing/2014/main" id="{DAF4DAEC-8DD3-9585-15CE-6DE66BD6DDC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F88D8FA-C3B0-441D-84B6-D24F4FA9A2B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C715-9DE1-2439-0A20-0E9C8301AEAB}"/>
              </a:ext>
            </a:extLst>
          </p:cNvPr>
          <p:cNvSpPr txBox="1"/>
          <p:nvPr/>
        </p:nvSpPr>
        <p:spPr>
          <a:xfrm>
            <a:off x="152400" y="249512"/>
            <a:ext cx="883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Greenland S. (1988)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317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314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28600" y="0"/>
                <a:ext cx="8534400" cy="6324600"/>
              </a:xfrm>
            </p:spPr>
            <p:txBody>
              <a:bodyPr lIns="92075" tIns="46038" rIns="92075" bIns="46038"/>
              <a:lstStyle/>
              <a:p>
                <a:pPr mar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1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Table 4: </a:t>
                </a: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Optimal proportion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for validation </a:t>
                </a:r>
                <a:r>
                  <a:rPr lang="en-US" altLang="en-US" sz="1600" dirty="0" err="1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substudy</a:t>
                </a: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as a function of the </a:t>
                </a:r>
                <a:r>
                  <a:rPr lang="en-US" altLang="en-US" sz="1600" b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cost ratio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marL="0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lang="en-US" altLang="en-US" sz="1600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 (assuming parameter values equal values observed in the SIDS data)</a:t>
                </a:r>
              </a:p>
            </p:txBody>
          </p:sp>
        </mc:Choice>
        <mc:Fallback xmlns="">
          <p:sp>
            <p:nvSpPr>
              <p:cNvPr id="13314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28600" y="0"/>
                <a:ext cx="8534400" cy="6324600"/>
              </a:xfrm>
              <a:blipFill>
                <a:blip r:embed="rId3"/>
                <a:stretch>
                  <a:fillRect l="-429" t="-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15" name="AutoShape 3"/>
          <p:cNvCxnSpPr>
            <a:cxnSpLocks noChangeShapeType="1"/>
            <a:stCxn id="13314" idx="3"/>
            <a:endCxn id="13314" idx="3"/>
          </p:cNvCxnSpPr>
          <p:nvPr/>
        </p:nvCxnSpPr>
        <p:spPr bwMode="auto">
          <a:xfrm>
            <a:off x="8763000" y="31623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16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3317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318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3319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3320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E0E7570-00A5-491E-A103-A84831D508B2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21" name="TextBox 13"/>
              <p:cNvSpPr txBox="1">
                <a:spLocks noChangeArrowheads="1"/>
              </p:cNvSpPr>
              <p:nvPr/>
            </p:nvSpPr>
            <p:spPr bwMode="auto">
              <a:xfrm>
                <a:off x="303212" y="5814803"/>
                <a:ext cx="8229600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4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What is the relative cost of the measurement,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for your study? 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For NHS, it has been estimated at 500. </a:t>
                </a:r>
              </a:p>
            </p:txBody>
          </p:sp>
        </mc:Choice>
        <mc:Fallback xmlns="">
          <p:sp>
            <p:nvSpPr>
              <p:cNvPr id="13321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3212" y="5814803"/>
                <a:ext cx="8229600" cy="707886"/>
              </a:xfrm>
              <a:prstGeom prst="rect">
                <a:avLst/>
              </a:prstGeom>
              <a:blipFill>
                <a:blip r:embed="rId4"/>
                <a:stretch>
                  <a:fillRect l="-667" b="-129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482757"/>
                  </p:ext>
                </p:extLst>
              </p:nvPr>
            </p:nvGraphicFramePr>
            <p:xfrm>
              <a:off x="114300" y="850436"/>
              <a:ext cx="8748712" cy="4938900"/>
            </p:xfrm>
            <a:graphic>
              <a:graphicData uri="http://schemas.openxmlformats.org/drawingml/2006/table">
                <a:tbl>
                  <a:tblPr/>
                  <a:tblGrid>
                    <a:gridCol w="43436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357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822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706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4381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6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I.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Assuming differential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</a:t>
                          </a: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4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0.87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0.61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500">
                              <a:latin typeface="Times New Roman" pitchFamily="18" charset="0"/>
                              <a:cs typeface="Times New Roman" pitchFamily="18" charset="0"/>
                            </a:rPr>
                            <a:t>0.55</a:t>
                          </a:r>
                          <a:endParaRPr lang="en-US" sz="15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0.98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0.59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417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𝑜𝑝𝑡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=1.00</m:t>
                                </m:r>
                              </m:oMath>
                            </m:oMathPara>
                          </a14:m>
                          <a:endParaRPr lang="en-US" sz="1400" dirty="0"/>
                        </a:p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and ARE=1.00 for all</a:t>
                          </a:r>
                          <a:r>
                            <a:rPr lang="en-US" sz="1400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R </a:t>
                          </a: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&lt;=14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II.  Assuming </a:t>
                          </a:r>
                          <a:r>
                            <a:rPr lang="en-US" sz="1300" b="1" i="1" baseline="0" dirty="0" err="1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nondifferential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0.11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0.52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0.13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858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746693">
                    <a:tc gridSpan="7"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endParaRPr lang="en-US" sz="200" baseline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*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Asymptotic efficiency of design with </a:t>
                          </a:r>
                          <a:r>
                            <a:rPr lang="en-US" sz="1500" i="1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   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, relative to design with             .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</a:t>
                          </a:r>
                          <a:r>
                            <a:rPr lang="en-US" sz="15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Ratio of study size when               to study size when               (assuming</a:t>
                          </a: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the same expenditure for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measurement in both designs).</a:t>
                          </a:r>
                          <a:endParaRPr lang="en-US" sz="1500" kern="1200" dirty="0">
                            <a:solidFill>
                              <a:schemeClr val="tx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Table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482757"/>
                  </p:ext>
                </p:extLst>
              </p:nvPr>
            </p:nvGraphicFramePr>
            <p:xfrm>
              <a:off x="114300" y="850436"/>
              <a:ext cx="8748712" cy="4938900"/>
            </p:xfrm>
            <a:graphic>
              <a:graphicData uri="http://schemas.openxmlformats.org/drawingml/2006/table">
                <a:tbl>
                  <a:tblPr/>
                  <a:tblGrid>
                    <a:gridCol w="43436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6204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58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357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48224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87063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6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&lt;=3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I.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Assuming differential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</a:t>
                          </a: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endParaRPr lang="en-US" sz="1500" dirty="0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4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0.87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0.71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0.61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500">
                              <a:latin typeface="Times New Roman" pitchFamily="18" charset="0"/>
                              <a:cs typeface="Times New Roman" pitchFamily="18" charset="0"/>
                            </a:rPr>
                            <a:t>0.55</a:t>
                          </a:r>
                          <a:endParaRPr lang="en-US" sz="1500" dirty="0"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0.98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4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</a:t>
                          </a: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0.75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0.59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19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t="-319767" r="-101543" b="-5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II.  Assuming </a:t>
                          </a:r>
                          <a:r>
                            <a:rPr lang="en-US" sz="1300" b="1" i="1" baseline="0" dirty="0" err="1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nondifferential</a:t>
                          </a:r>
                          <a:r>
                            <a:rPr lang="en-US" sz="1300" b="1" i="1" baseline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misclassification</a:t>
                          </a:r>
                          <a:endParaRPr lang="en-US" sz="1300" b="1" i="1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A. Assuming primary measurement always necessary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0.11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0.72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0.52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0.22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0.19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0.15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0.13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B. Assuming primary measurement can be eliminated if</a:t>
                          </a: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50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endParaRPr lang="en-US" sz="13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dirty="0">
                              <a:latin typeface="Times New Roman" pitchFamily="18" charset="0"/>
                              <a:cs typeface="Times New Roman" pitchFamily="18" charset="0"/>
                            </a:rPr>
                            <a:t>0.07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500" b="0" dirty="0">
                              <a:latin typeface="Times New Roman" pitchFamily="18" charset="0"/>
                              <a:cs typeface="Times New Roman" pitchFamily="18" charset="0"/>
                            </a:rPr>
                            <a:t>0.06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0.04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ARE at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0.96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0.84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0.68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0.57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8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3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Relative 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1.00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0.27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b="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0.23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0.16</a:t>
                          </a: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</a:pPr>
                          <a:r>
                            <a:rPr lang="en-US" sz="150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0.14</a:t>
                          </a:r>
                          <a:endParaRPr lang="en-US" sz="1500" dirty="0"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</a:txBody>
                      <a:tcPr marL="38102" marR="38102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746693">
                    <a:tc gridSpan="7"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endParaRPr lang="en-US" sz="200" baseline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ea typeface="Times New Roman"/>
                            <a:cs typeface="Times New Roman" pitchFamily="18" charset="0"/>
                          </a:endParaRP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Arial" charset="0"/>
                            <a:buNone/>
                          </a:pPr>
                          <a:r>
                            <a:rPr lang="en-US" sz="14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*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Asymptotic efficiency of design with </a:t>
                          </a:r>
                          <a:r>
                            <a:rPr lang="en-US" sz="1500" i="1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               </a:t>
                          </a:r>
                          <a:r>
                            <a:rPr lang="en-US" sz="1500" baseline="0" dirty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, relative to design with             .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4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</a:t>
                          </a:r>
                          <a:r>
                            <a:rPr lang="en-US" sz="1500" kern="120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Ratio of study size when               to study size when               (assuming</a:t>
                          </a: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the same expenditure for </a:t>
                          </a:r>
                        </a:p>
                        <a:p>
                          <a:pPr algn="l">
                            <a:buFont typeface="Arial" charset="0"/>
                            <a:buNone/>
                          </a:pPr>
                          <a:r>
                            <a:rPr lang="en-US" sz="1500" kern="1200" baseline="0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measurement in both designs).</a:t>
                          </a:r>
                          <a:endParaRPr lang="en-US" sz="1500" kern="1200" dirty="0">
                            <a:solidFill>
                              <a:schemeClr val="tx1"/>
                            </a:solidFill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800"/>
                        </a:p>
                      </a:txBody>
                      <a:tcPr marL="0" marR="0" marT="0" marB="0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latin typeface="Times New Roman" pitchFamily="18" charset="0"/>
                              <a:ea typeface="Times New Roman"/>
                              <a:cs typeface="Times New Roman" pitchFamily="18" charset="0"/>
                            </a:rPr>
                            <a:t> </a:t>
                          </a:r>
                        </a:p>
                      </a:txBody>
                      <a:tcPr marL="0" marR="0" marT="0" marB="0" anchor="ctr">
                        <a:lnL>
                          <a:noFill/>
                        </a:lnL>
                        <a:lnR>
                          <a:noFill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0" name="Object 8"/>
              <p:cNvSpPr txBox="1"/>
              <p:nvPr/>
            </p:nvSpPr>
            <p:spPr bwMode="auto">
              <a:xfrm>
                <a:off x="6705600" y="628650"/>
                <a:ext cx="228600" cy="246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5600" y="628650"/>
                <a:ext cx="228600" cy="2460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/>
          <p:cNvCxnSpPr/>
          <p:nvPr/>
        </p:nvCxnSpPr>
        <p:spPr>
          <a:xfrm>
            <a:off x="4648200" y="914400"/>
            <a:ext cx="4114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52400" y="1143000"/>
            <a:ext cx="861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52400" y="609600"/>
            <a:ext cx="861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54" name="Object 9"/>
              <p:cNvSpPr txBox="1"/>
              <p:nvPr/>
            </p:nvSpPr>
            <p:spPr bwMode="auto">
              <a:xfrm>
                <a:off x="609600" y="1600200"/>
                <a:ext cx="319088" cy="30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1600200"/>
                <a:ext cx="319088" cy="304800"/>
              </a:xfrm>
              <a:prstGeom prst="rect">
                <a:avLst/>
              </a:prstGeom>
              <a:blipFill>
                <a:blip r:embed="rId8"/>
                <a:stretch>
                  <a:fillRect r="-1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5" name="Object 10"/>
              <p:cNvSpPr txBox="1"/>
              <p:nvPr/>
            </p:nvSpPr>
            <p:spPr bwMode="auto">
              <a:xfrm>
                <a:off x="5715000" y="5029200"/>
                <a:ext cx="708025" cy="338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5029200"/>
                <a:ext cx="708025" cy="3381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6" name="Object 11"/>
              <p:cNvSpPr txBox="1"/>
              <p:nvPr/>
            </p:nvSpPr>
            <p:spPr bwMode="auto">
              <a:xfrm>
                <a:off x="3203575" y="51054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3575" y="5105400"/>
                <a:ext cx="606425" cy="215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7" name="Object 12"/>
              <p:cNvSpPr txBox="1"/>
              <p:nvPr/>
            </p:nvSpPr>
            <p:spPr bwMode="auto">
              <a:xfrm>
                <a:off x="2214563" y="5334000"/>
                <a:ext cx="604837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5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4563" y="5334000"/>
                <a:ext cx="604837" cy="2159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8" name="Object 13"/>
              <p:cNvSpPr txBox="1"/>
              <p:nvPr/>
            </p:nvSpPr>
            <p:spPr bwMode="auto">
              <a:xfrm>
                <a:off x="4319587" y="5334000"/>
                <a:ext cx="633413" cy="3032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9587" y="5334000"/>
                <a:ext cx="633413" cy="30321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59" name="Object 14"/>
              <p:cNvSpPr txBox="1"/>
              <p:nvPr/>
            </p:nvSpPr>
            <p:spPr bwMode="auto">
              <a:xfrm>
                <a:off x="152400" y="5334000"/>
                <a:ext cx="115888" cy="195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3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59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334000"/>
                <a:ext cx="115888" cy="195263"/>
              </a:xfrm>
              <a:prstGeom prst="rect">
                <a:avLst/>
              </a:prstGeom>
              <a:blipFill>
                <a:blip r:embed="rId13"/>
                <a:stretch>
                  <a:fillRect r="-210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0" name="Object 15"/>
              <p:cNvSpPr txBox="1"/>
              <p:nvPr/>
            </p:nvSpPr>
            <p:spPr bwMode="auto">
              <a:xfrm>
                <a:off x="1222375" y="2057400"/>
                <a:ext cx="303213" cy="228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3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0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2375" y="2057400"/>
                <a:ext cx="303213" cy="2286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1" name="Object 16"/>
              <p:cNvSpPr txBox="1"/>
              <p:nvPr/>
            </p:nvSpPr>
            <p:spPr bwMode="auto">
              <a:xfrm>
                <a:off x="4114800" y="22860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1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2286000"/>
                <a:ext cx="606425" cy="2159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2" name="Object 17"/>
              <p:cNvSpPr txBox="1"/>
              <p:nvPr/>
            </p:nvSpPr>
            <p:spPr bwMode="auto">
              <a:xfrm>
                <a:off x="4114800" y="41148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4114800"/>
                <a:ext cx="606425" cy="2159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3" name="Object 18"/>
              <p:cNvSpPr txBox="1"/>
              <p:nvPr/>
            </p:nvSpPr>
            <p:spPr bwMode="auto">
              <a:xfrm>
                <a:off x="1162050" y="1828800"/>
                <a:ext cx="722313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63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62050" y="1828800"/>
                <a:ext cx="722313" cy="2159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5" name="Object 20"/>
              <p:cNvSpPr txBox="1"/>
              <p:nvPr/>
            </p:nvSpPr>
            <p:spPr bwMode="auto">
              <a:xfrm>
                <a:off x="609600" y="3352800"/>
                <a:ext cx="319088" cy="30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5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3352800"/>
                <a:ext cx="319088" cy="304800"/>
              </a:xfrm>
              <a:prstGeom prst="rect">
                <a:avLst/>
              </a:prstGeom>
              <a:blipFill>
                <a:blip r:embed="rId18"/>
                <a:stretch>
                  <a:fillRect r="-1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6" name="Object 21"/>
              <p:cNvSpPr txBox="1"/>
              <p:nvPr/>
            </p:nvSpPr>
            <p:spPr bwMode="auto">
              <a:xfrm>
                <a:off x="1200150" y="36576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6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0150" y="3657600"/>
                <a:ext cx="606425" cy="2159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7" name="Object 22"/>
              <p:cNvSpPr txBox="1"/>
              <p:nvPr/>
            </p:nvSpPr>
            <p:spPr bwMode="auto">
              <a:xfrm>
                <a:off x="1271588" y="3898900"/>
                <a:ext cx="196850" cy="201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7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1588" y="3898900"/>
                <a:ext cx="196850" cy="2016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8" name="Object 23"/>
              <p:cNvSpPr txBox="1"/>
              <p:nvPr/>
            </p:nvSpPr>
            <p:spPr bwMode="auto">
              <a:xfrm>
                <a:off x="1295400" y="4800600"/>
                <a:ext cx="196850" cy="201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8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400" y="4800600"/>
                <a:ext cx="196850" cy="20161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69" name="Object 24"/>
              <p:cNvSpPr txBox="1"/>
              <p:nvPr/>
            </p:nvSpPr>
            <p:spPr bwMode="auto">
              <a:xfrm>
                <a:off x="1143000" y="4572000"/>
                <a:ext cx="606425" cy="215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=1.0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69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3000" y="4572000"/>
                <a:ext cx="606425" cy="2159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70" name="Object 25"/>
              <p:cNvSpPr txBox="1"/>
              <p:nvPr/>
            </p:nvSpPr>
            <p:spPr bwMode="auto">
              <a:xfrm>
                <a:off x="609600" y="4267200"/>
                <a:ext cx="319088" cy="304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𝑜𝑝𝑡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470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" y="4267200"/>
                <a:ext cx="319088" cy="304800"/>
              </a:xfrm>
              <a:prstGeom prst="rect">
                <a:avLst/>
              </a:prstGeom>
              <a:blipFill>
                <a:blip r:embed="rId18"/>
                <a:stretch>
                  <a:fillRect r="-1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52400"/>
            <a:ext cx="8458200" cy="61722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1433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4341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342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434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434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3DCFA90-4AD0-4185-A9BB-EC3ADAFCE9F8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5" name="TextBox 13"/>
              <p:cNvSpPr txBox="1">
                <a:spLocks noChangeArrowheads="1"/>
              </p:cNvSpPr>
              <p:nvPr/>
            </p:nvSpPr>
            <p:spPr bwMode="auto">
              <a:xfrm>
                <a:off x="228600" y="5334000"/>
                <a:ext cx="8915400" cy="13478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Assumes case-control ratios,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, are 1;  all other parameters given by the SIDS data.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6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In case-control studies, with relatively low cost ratios (medical records vs. self-report), the fully validated design is often optimal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600" dirty="0">
                  <a:latin typeface="Times New Roman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700" dirty="0">
                    <a:latin typeface="Times New Roman" pitchFamily="18" charset="0"/>
                    <a:cs typeface="Times New Roman" pitchFamily="18" charset="0"/>
                  </a:rPr>
                  <a:t>Differential vs. non-differential misclassification assumption has a big impact on the design.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345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5334000"/>
                <a:ext cx="8915400" cy="1347869"/>
              </a:xfrm>
              <a:prstGeom prst="rect">
                <a:avLst/>
              </a:prstGeom>
              <a:blipFill>
                <a:blip r:embed="rId3"/>
                <a:stretch>
                  <a:fillRect l="-479" b="-54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4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0"/>
            <a:ext cx="674052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22" descr="C:\Documents and Settings\ABERKELE\Desktop\Picture2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876800"/>
            <a:ext cx="33655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7010400" y="4876800"/>
            <a:ext cx="3048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352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8768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0292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4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1447800"/>
            <a:ext cx="1603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5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200400"/>
            <a:ext cx="16033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4191000" y="3200400"/>
            <a:ext cx="152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4038600" y="1905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038600" y="4038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4038600" y="2286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038600" y="26670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038600" y="3657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038600" y="4419600"/>
            <a:ext cx="228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4363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905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4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286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5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581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6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6670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7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343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8" name="Picture 15" descr="C:\Documents and Settings\ABERKELE\Desktop\Picture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962400"/>
            <a:ext cx="15240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69" name="Picture 17" descr="C:\Documents and Settings\ABERKELE\Desktop\Picture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914400"/>
            <a:ext cx="23336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0" name="Picture 19" descr="C:\Documents and Settings\ABERKELE\Desktop\Picture5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914400"/>
            <a:ext cx="2730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1" name="Picture 20" descr="C:\Documents and Settings\ABERKELE\Desktop\Picture6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914400"/>
            <a:ext cx="233363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72" name="Picture 21" descr="C:\Documents and Settings\ABERKELE\Desktop\Picture7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914400"/>
            <a:ext cx="21748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/>
              <p:cNvSpPr txBox="1"/>
              <p:nvPr/>
            </p:nvSpPr>
            <p:spPr>
              <a:xfrm>
                <a:off x="3594100" y="3132138"/>
                <a:ext cx="127000" cy="215900"/>
              </a:xfrm>
              <a:prstGeom prst="rect">
                <a:avLst/>
              </a:prstGeom>
            </p:spPr>
            <p:txBody>
              <a:bodyPr>
                <a:normAutofit fontScale="4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100" y="3132138"/>
                <a:ext cx="127000" cy="215900"/>
              </a:xfrm>
              <a:prstGeom prst="rect">
                <a:avLst/>
              </a:prstGeom>
              <a:blipFill>
                <a:blip r:embed="rId12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ECC5E-555B-83BF-8248-94AEAEE5B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1A2398-B4A8-B5A8-2402-CF267078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023498B-C364-49A5-8E04-8DA8D24839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024756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8023498B-C364-49A5-8E04-8DA8D24839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7024756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6848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14300" y="152400"/>
            <a:ext cx="9029700" cy="6172200"/>
          </a:xfrm>
        </p:spPr>
        <p:txBody>
          <a:bodyPr lIns="92075" tIns="46038" rIns="92075" bIns="46038"/>
          <a:lstStyle/>
          <a:p>
            <a:pPr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  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Reilly M. (1996)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Unlike Greenland’s development, which bases optimal design choices on </a:t>
            </a: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matrix method estimator,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this software uses the MLE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assuming differential misclassification, and considers the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MS/IVS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design alone. 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In Stata,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meanscor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will direct you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sg156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, from where you can get this package. Click the installation file and click to install the ancillary files. When done, typing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help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meanscor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gives detailed help.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optimal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offers a list of packages, and you can scroll down to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sxd2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and click on the 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click here to install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" to get the commands.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criterion is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maximize precision for a fixed total budget or minimize the study cost given a desired precision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It is known that with the MS/IVS design under differential misclassification, the MLE is equivalent to the inverse matrix method (Lyles, 2002) and that the efficiency loss from using the matrix method can be considerable.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Reilly M. (1996) Optimal sampling strategies for two-stage studies.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American Journal of </a:t>
            </a:r>
          </a:p>
          <a:p>
            <a:pPr>
              <a:buFont typeface="Arial" charset="0"/>
              <a:buNone/>
              <a:defRPr/>
            </a:pP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Epidemiology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143:92-100.</a:t>
            </a: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Lyles R.H. (2002) A note on estimating crude odds ratios in case-control studies with differentially </a:t>
            </a:r>
          </a:p>
          <a:p>
            <a:pPr>
              <a:buFont typeface="Arial" charset="0"/>
              <a:buNone/>
              <a:defRPr/>
            </a:pP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misclassified exposure. </a:t>
            </a:r>
            <a:r>
              <a:rPr lang="en-US" sz="1200" i="1" dirty="0">
                <a:latin typeface="Times New Roman" pitchFamily="18" charset="0"/>
                <a:cs typeface="Times New Roman" pitchFamily="18" charset="0"/>
              </a:rPr>
              <a:t>Biometrics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58:1034-1036.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1536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44000" y="323850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6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5365" name="Object 10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5366" name="Object 13"/>
          <p:cNvSpPr txBox="1"/>
          <p:nvPr/>
        </p:nvSpPr>
        <p:spPr bwMode="auto">
          <a:xfrm>
            <a:off x="0" y="0"/>
            <a:ext cx="114300" cy="180975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1536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536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F997291-9A42-4093-A14B-3AE95DE6174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04800" y="152400"/>
                <a:ext cx="84582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More complex designs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have been developed in which the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validation study  proportions vary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and even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(Reilly, 1996;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Tosteson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and Ware, 1990) and others.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They have rarely if ever been used in practice.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Tosteson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T.D., Ware J.H. (1990) Designing a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logistic regression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study using surrogate measures for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exposure and outcome. </a:t>
                </a:r>
                <a:r>
                  <a:rPr lang="en-US" sz="1600" i="1" dirty="0" err="1">
                    <a:latin typeface="Times New Roman" pitchFamily="18" charset="0"/>
                    <a:cs typeface="Times New Roman" pitchFamily="18" charset="0"/>
                  </a:rPr>
                  <a:t>Biometrika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77:11-21.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04800" y="152400"/>
                <a:ext cx="8458200" cy="6172200"/>
              </a:xfrm>
              <a:blipFill>
                <a:blip r:embed="rId3"/>
                <a:stretch>
                  <a:fillRect l="-1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38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2385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638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638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639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BA1D87A-9DE0-4AB4-A535-36DE628311B6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21334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9213340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9970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33350" y="61912"/>
                <a:ext cx="8839200" cy="6477000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                                            </a:t>
                </a:r>
                <a:r>
                  <a:rPr lang="en-US" sz="2200" b="1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 (1990)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u="sng" dirty="0">
                    <a:latin typeface="Times New Roman" pitchFamily="18" charset="0"/>
                    <a:cs typeface="Times New Roman" pitchFamily="18" charset="0"/>
                  </a:rPr>
                  <a:t>Design for </a:t>
                </a:r>
                <a:r>
                  <a:rPr lang="en-US" sz="2200" b="1" u="sng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logistic regression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200" b="1" u="sng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1990) derived a </a:t>
                </a: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closed form expression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for the </a:t>
                </a:r>
              </a:p>
              <a:p>
                <a:pPr>
                  <a:buNone/>
                  <a:defRPr/>
                </a:pPr>
                <a:r>
                  <a:rPr lang="en-US" sz="2200" b="1" dirty="0">
                    <a:latin typeface="Times New Roman" pitchFamily="18" charset="0"/>
                    <a:cs typeface="Times New Roman" pitchFamily="18" charset="0"/>
                  </a:rPr>
                  <a:t>optimal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validation study proportion,          , in the </a:t>
                </a:r>
                <a:r>
                  <a:rPr lang="en-US" sz="2200" b="1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MS/IVS design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for a logistic regression model where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normally distributed with constant variances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Then,</a:t>
                </a:r>
              </a:p>
              <a:p>
                <a:pPr algn="ctr"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1,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𝐷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𝜌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𝐶𝑜𝑟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i="1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>
                  <a:buFont typeface="Arial" charset="0"/>
                  <a:buNone/>
                  <a:defRPr/>
                </a:pP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which is the optimal validation study proportion assuming that at least some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participants will be validated, where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the unit cost of measuring the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Outcome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It is based on the </a:t>
                </a:r>
                <a:r>
                  <a:rPr lang="en-US" sz="2200" b="1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MLE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The criterion is to </a:t>
                </a:r>
                <a:r>
                  <a:rPr lang="en-US" sz="2200" b="1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minimize the variance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of the log(OR) estimator </a:t>
                </a:r>
                <a:r>
                  <a:rPr lang="en-US" sz="2200" b="1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subject to cost considerations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J.P. (1990) Double sampling for exact values in the normal </a:t>
                </a:r>
                <a:r>
                  <a:rPr lang="en-US" sz="1600" dirty="0" err="1">
                    <a:latin typeface="Times New Roman" pitchFamily="18" charset="0"/>
                    <a:cs typeface="Times New Roman" pitchFamily="18" charset="0"/>
                  </a:rPr>
                  <a:t>discriminant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model with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application to binary regression.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Communications in Statistics-Theory and Methods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19:4569-4586.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33350" y="61912"/>
                <a:ext cx="8839200" cy="6477000"/>
              </a:xfrm>
              <a:blipFill>
                <a:blip r:embed="rId3"/>
                <a:stretch>
                  <a:fillRect l="-897" t="-659" r="-69" b="-3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11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72550" y="330041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7412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7413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7416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370152A-86E1-4C5F-B912-DEC0F1E695D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200" dirty="0">
              <a:solidFill>
                <a:srgbClr val="898989"/>
              </a:solidFill>
            </a:endParaRPr>
          </a:p>
        </p:txBody>
      </p:sp>
      <p:graphicFrame>
        <p:nvGraphicFramePr>
          <p:cNvPr id="1741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513071"/>
              </p:ext>
            </p:extLst>
          </p:nvPr>
        </p:nvGraphicFramePr>
        <p:xfrm>
          <a:off x="4419600" y="1600200"/>
          <a:ext cx="55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9279" imgH="266584" progId="Equation.DSMT4">
                  <p:embed/>
                </p:oleObj>
              </mc:Choice>
              <mc:Fallback>
                <p:oleObj name="Equation" r:id="rId7" imgW="279279" imgH="266584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00200"/>
                        <a:ext cx="558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C7BBE-B9A5-479E-D8AF-3B2CD48EB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1690A4-932A-ABF7-69EA-298241B4DB8A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05064" y="304800"/>
                <a:ext cx="8877300" cy="5472979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Note that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2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func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𝑂𝑅</m:t>
                            </m:r>
                            <m:r>
                              <a:rPr 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sSubSup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  <m:sup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=1)[1−</m:t>
                    </m:r>
                    <m:func>
                      <m:func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=1)]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if it is easier to supply values for these parameters which might often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be the case.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1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Now the variance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corrected for measurement error in the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 design given by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needs to be compared to the variance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acc>
                      <m:accPr>
                        <m:chr m:val="̂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𝑂𝑅</m:t>
                        </m:r>
                      </m:e>
                    </m:ac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from the fully validated design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.  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400" dirty="0" err="1">
                    <a:latin typeface="Times New Roman" pitchFamily="18" charset="0"/>
                    <a:cs typeface="Times New Roman" pitchFamily="18" charset="0"/>
                  </a:rPr>
                  <a:t>Buonacorrsi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gives </a:t>
                </a:r>
              </a:p>
              <a:p>
                <a:pPr>
                  <a:buFont typeface="Arial" charset="0"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</m:e>
                      </m:func>
                      <m:acc>
                        <m:accPr>
                          <m:chr m:val="̂"/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𝑂𝑅</m:t>
                          </m:r>
                        </m:e>
                      </m:acc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];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sSubSup>
                            <m:sSub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sub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=1)[1−</m:t>
                          </m:r>
                          <m:func>
                            <m:func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−1)]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𝐶𝑜𝑟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  <m:d>
                            <m:dPr>
                              <m:ctrlP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1+2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𝐶𝑜𝑟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en-US" sz="1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𝐶𝑜𝑟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𝐶𝑜𝑠𝑡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with Cost = a given $ amount.</a:t>
                </a: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0B1690A4-932A-ABF7-69EA-298241B4DB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05064" y="304800"/>
                <a:ext cx="8877300" cy="5472979"/>
              </a:xfrm>
              <a:blipFill>
                <a:blip r:embed="rId3"/>
                <a:stretch>
                  <a:fillRect l="-1030" t="-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435" name="AutoShape 3">
            <a:extLst>
              <a:ext uri="{FF2B5EF4-FFF2-40B4-BE49-F238E27FC236}">
                <a16:creationId xmlns:a16="http://schemas.microsoft.com/office/drawing/2014/main" id="{3FB018C9-46B8-97EE-585D-A751A6AC612E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82364" y="3041290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8436" name="Rectangle 11">
            <a:extLst>
              <a:ext uri="{FF2B5EF4-FFF2-40B4-BE49-F238E27FC236}">
                <a16:creationId xmlns:a16="http://schemas.microsoft.com/office/drawing/2014/main" id="{41B2A5F2-4B8D-EFCA-64E7-345BF19FC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8437" name="Object 10">
            <a:extLst>
              <a:ext uri="{FF2B5EF4-FFF2-40B4-BE49-F238E27FC236}">
                <a16:creationId xmlns:a16="http://schemas.microsoft.com/office/drawing/2014/main" id="{D443F175-DBD2-E6AB-C0CE-5D739E13FA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843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3">
            <a:extLst>
              <a:ext uri="{FF2B5EF4-FFF2-40B4-BE49-F238E27FC236}">
                <a16:creationId xmlns:a16="http://schemas.microsoft.com/office/drawing/2014/main" id="{A3974D3C-1A4B-CE1E-0708-6FC97CC40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843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15">
            <a:extLst>
              <a:ext uri="{FF2B5EF4-FFF2-40B4-BE49-F238E27FC236}">
                <a16:creationId xmlns:a16="http://schemas.microsoft.com/office/drawing/2014/main" id="{C3E9B190-F8A5-C136-8E89-8EF13E66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8440" name="Slide Number Placeholder 18">
            <a:extLst>
              <a:ext uri="{FF2B5EF4-FFF2-40B4-BE49-F238E27FC236}">
                <a16:creationId xmlns:a16="http://schemas.microsoft.com/office/drawing/2014/main" id="{B1D6661E-4AF4-BB05-1CEA-A3F328AC522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FBDEA9E3-4682-468D-BE91-6F853214F3FB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18450" name="Picture 17" descr="C:\Documents and Settings\ABERKELE\Desktop\Picture10.jpg">
            <a:extLst>
              <a:ext uri="{FF2B5EF4-FFF2-40B4-BE49-F238E27FC236}">
                <a16:creationId xmlns:a16="http://schemas.microsoft.com/office/drawing/2014/main" id="{9FE71E99-4A14-0996-7593-F10D00C95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3238500"/>
            <a:ext cx="8991600" cy="530225"/>
          </a:xfrm>
          <a:prstGeom prst="rect">
            <a:avLst/>
          </a:prstGeom>
          <a:noFill/>
          <a:ln>
            <a:solidFill>
              <a:schemeClr val="accent2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10887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5BE68-32EA-153D-A2F6-C1D0E3FB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68353173-1C63-3B20-27EC-280408463C3E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57150" y="61912"/>
                <a:ext cx="8839200" cy="64770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≠1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, the optimal MS/IVS needs to be compared to 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the fully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validated design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to find the final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   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6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   and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is 1 if                                     &lt;                                ,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Software is not available but perhaps we will write it for next year! 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68353173-1C63-3B20-27EC-280408463C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57150" y="61912"/>
                <a:ext cx="8839200" cy="6477000"/>
              </a:xfrm>
              <a:blipFill>
                <a:blip r:embed="rId3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459" name="AutoShape 3">
            <a:extLst>
              <a:ext uri="{FF2B5EF4-FFF2-40B4-BE49-F238E27FC236}">
                <a16:creationId xmlns:a16="http://schemas.microsoft.com/office/drawing/2014/main" id="{0FC54F0F-0F1B-8472-72BF-11D4001F8A56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96350" y="330041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9460" name="Rectangle 11">
            <a:extLst>
              <a:ext uri="{FF2B5EF4-FFF2-40B4-BE49-F238E27FC236}">
                <a16:creationId xmlns:a16="http://schemas.microsoft.com/office/drawing/2014/main" id="{F93260E3-E8DB-0896-0331-5FA10CB2F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19461" name="Object 10">
            <a:extLst>
              <a:ext uri="{FF2B5EF4-FFF2-40B4-BE49-F238E27FC236}">
                <a16:creationId xmlns:a16="http://schemas.microsoft.com/office/drawing/2014/main" id="{C67AA00F-F99E-2F95-F289-D084516DA7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1946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3">
            <a:extLst>
              <a:ext uri="{FF2B5EF4-FFF2-40B4-BE49-F238E27FC236}">
                <a16:creationId xmlns:a16="http://schemas.microsoft.com/office/drawing/2014/main" id="{C7B045D2-C41D-0C7E-C94F-488A2AA19E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1946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15">
            <a:extLst>
              <a:ext uri="{FF2B5EF4-FFF2-40B4-BE49-F238E27FC236}">
                <a16:creationId xmlns:a16="http://schemas.microsoft.com/office/drawing/2014/main" id="{8728C25B-B5D3-0B6E-A095-1A2DB3C3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19464" name="Slide Number Placeholder 18">
            <a:extLst>
              <a:ext uri="{FF2B5EF4-FFF2-40B4-BE49-F238E27FC236}">
                <a16:creationId xmlns:a16="http://schemas.microsoft.com/office/drawing/2014/main" id="{7BAFB851-4F70-2829-45A9-1486ED09139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F5AC23A-5E30-4DEE-89DD-E59C3CC7BE5A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19467" name="Object 6">
            <a:extLst>
              <a:ext uri="{FF2B5EF4-FFF2-40B4-BE49-F238E27FC236}">
                <a16:creationId xmlns:a16="http://schemas.microsoft.com/office/drawing/2014/main" id="{0B526406-DAFC-C01B-0433-9D89058830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171627"/>
              </p:ext>
            </p:extLst>
          </p:nvPr>
        </p:nvGraphicFramePr>
        <p:xfrm>
          <a:off x="871537" y="1645995"/>
          <a:ext cx="6748463" cy="12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76700" imgH="774700" progId="Equation.3">
                  <p:embed/>
                </p:oleObj>
              </mc:Choice>
              <mc:Fallback>
                <p:oleObj name="Equation" r:id="rId7" imgW="4076700" imgH="774700" progId="Equation.3">
                  <p:embed/>
                  <p:pic>
                    <p:nvPicPr>
                      <p:cNvPr id="1946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7" y="1645995"/>
                        <a:ext cx="6748463" cy="12811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/>
                        </a:solidFill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5">
            <a:extLst>
              <a:ext uri="{FF2B5EF4-FFF2-40B4-BE49-F238E27FC236}">
                <a16:creationId xmlns:a16="http://schemas.microsoft.com/office/drawing/2014/main" id="{A2F339BB-91DC-B9F1-D617-13B8EBBF8C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305461"/>
              </p:ext>
            </p:extLst>
          </p:nvPr>
        </p:nvGraphicFramePr>
        <p:xfrm>
          <a:off x="3048000" y="3090054"/>
          <a:ext cx="252095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7000" imgH="304800" progId="Equation.3">
                  <p:embed/>
                </p:oleObj>
              </mc:Choice>
              <mc:Fallback>
                <p:oleObj name="Equation" r:id="rId9" imgW="1397000" imgH="304800" progId="Equation.3">
                  <p:embed/>
                  <p:pic>
                    <p:nvPicPr>
                      <p:cNvPr id="1946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90054"/>
                        <a:ext cx="252095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6">
            <a:extLst>
              <a:ext uri="{FF2B5EF4-FFF2-40B4-BE49-F238E27FC236}">
                <a16:creationId xmlns:a16="http://schemas.microsoft.com/office/drawing/2014/main" id="{64FA0B4B-E8A1-374F-14DE-1D86E2452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92856"/>
              </p:ext>
            </p:extLst>
          </p:nvPr>
        </p:nvGraphicFramePr>
        <p:xfrm>
          <a:off x="6019800" y="3090054"/>
          <a:ext cx="2197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900" imgH="304800" progId="Equation.3">
                  <p:embed/>
                </p:oleObj>
              </mc:Choice>
              <mc:Fallback>
                <p:oleObj name="Equation" r:id="rId11" imgW="1231900" imgH="304800" progId="Equation.3">
                  <p:embed/>
                  <p:pic>
                    <p:nvPicPr>
                      <p:cNvPr id="1947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090054"/>
                        <a:ext cx="2197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20736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/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304800" y="0"/>
                <a:ext cx="8572500" cy="5076825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200" dirty="0" err="1">
                    <a:latin typeface="Times New Roman" pitchFamily="18" charset="0"/>
                    <a:cs typeface="Times New Roman" pitchFamily="18" charset="0"/>
                  </a:rPr>
                  <a:t>Buonaccorsi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observed the following: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8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 optimal proportion in the validation study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ad>
                      <m:radPr>
                        <m:degHide m:val="on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</m:e>
                                </m:func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𝑂𝑅</m:t>
                                </m:r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func>
                          <m:func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=1)[1−</m:t>
                        </m:r>
                        <m:func>
                          <m:func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=1)</m:t>
                        </m:r>
                      </m:e>
                    </m:rad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. This can happen as the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and 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=1)→0.5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from either direction.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1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in the validation study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decreases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    and for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, the optimal design is often the fully validated design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in the validation study is </a:t>
                </a:r>
                <a:r>
                  <a:rPr lang="en-US" sz="22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not as sensitive 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to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changes 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as it is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𝐶𝑜𝑟𝑟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304800" y="0"/>
                <a:ext cx="8572500" cy="5076825"/>
              </a:xfrm>
              <a:blipFill>
                <a:blip r:embed="rId3"/>
                <a:stretch>
                  <a:fillRect l="-925" r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83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77300" y="2538413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0484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0485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048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3777799-B484-40A1-BB72-AFFD2FD2DCE3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3B7B-C941-787D-5DA5-DD09CEA4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71BBEA-AAB8-57A3-D5A1-EE61006A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B29EB4-1C0C-8511-70AD-0199C947D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301909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1B29EB4-1C0C-8511-70AD-0199C947DF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6301909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Classical additive </a:t>
                          </a:r>
                          <a:r>
                            <a:rPr lang="en-US" dirty="0">
                              <a:latin typeface="+mn-lt"/>
                            </a:rPr>
                            <a:t>measurement error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88023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152400"/>
            <a:ext cx="8458200" cy="67056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Spiegelman and Gray (1991)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(Spiegelman and Gray, 1991) considered optimal design when   </a:t>
            </a: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Z|X  is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normal and </a:t>
            </a:r>
            <a:r>
              <a:rPr lang="en-US" sz="2200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homoscedastic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in contrast to the setting considered by </a:t>
            </a:r>
          </a:p>
          <a:p>
            <a:pPr>
              <a:buFont typeface="Arial" charset="0"/>
              <a:buNone/>
              <a:defRPr/>
            </a:pPr>
            <a:endParaRPr lang="en-US" sz="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Buonaccorsi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Buonaccorsi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1990), which assumes                   are jointly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normal and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homoscedastic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 The latter distributional assumptions make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more sense for a case-control study, while the former make more sense </a:t>
            </a:r>
          </a:p>
          <a:p>
            <a:pPr>
              <a:buFont typeface="Arial" charset="0"/>
              <a:buNone/>
              <a:defRPr/>
            </a:pPr>
            <a:r>
              <a:rPr lang="en-US" sz="2200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for a cohort study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Arial" charset="0"/>
              <a:buNone/>
              <a:defRPr/>
            </a:pPr>
            <a:endParaRPr lang="en-US" sz="11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1600" dirty="0"/>
              <a:t>Spiegelman D., Gray R. (1991) Cost-efficient study designs for binary response data with Gaussian </a:t>
            </a:r>
          </a:p>
          <a:p>
            <a:pPr>
              <a:buFont typeface="Arial" charset="0"/>
              <a:buNone/>
              <a:defRPr/>
            </a:pPr>
            <a:r>
              <a:rPr lang="en-US" sz="1600" dirty="0"/>
              <a:t>covariate measurement error. </a:t>
            </a:r>
            <a:r>
              <a:rPr lang="en-US" sz="1600" i="1" dirty="0"/>
              <a:t>Biometrics</a:t>
            </a:r>
            <a:r>
              <a:rPr lang="en-US" sz="1600" dirty="0"/>
              <a:t> 47:851-869.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2150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763000" y="3505200"/>
            <a:ext cx="1588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150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150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02" imgH="177492" progId="Equation.DSMT4">
                  <p:embed/>
                </p:oleObj>
              </mc:Choice>
              <mc:Fallback>
                <p:oleObj name="Equation" r:id="rId5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151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B9A1845-F88D-425C-AC50-156954724035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graphicFrame>
        <p:nvGraphicFramePr>
          <p:cNvPr id="21514" name="Object 5"/>
          <p:cNvGraphicFramePr>
            <a:graphicFrameLocks noChangeAspect="1"/>
          </p:cNvGraphicFramePr>
          <p:nvPr/>
        </p:nvGraphicFramePr>
        <p:xfrm>
          <a:off x="6096000" y="4267200"/>
          <a:ext cx="1066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336" imgH="215806" progId="Equation.DSMT4">
                  <p:embed/>
                </p:oleObj>
              </mc:Choice>
              <mc:Fallback>
                <p:oleObj name="Equation" r:id="rId6" imgW="609336" imgH="21580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1066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15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471" y="152400"/>
            <a:ext cx="3962400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0D532-C65F-6B42-C182-9AC825D9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ED0790-17D8-D08F-7C84-47975FF8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Spiegelman and Gray (1991)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8DEE9DA-703A-4E2D-61B2-D336C7BA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66018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Considered </a:t>
                </a:r>
                <a:r>
                  <a:rPr lang="en-US" dirty="0">
                    <a:solidFill>
                      <a:srgbClr val="0000FF"/>
                    </a:solidFill>
                  </a:rPr>
                  <a:t>MS/IVS, MS/EVS and fully validated studies</a:t>
                </a:r>
                <a:r>
                  <a:rPr lang="en-US" dirty="0"/>
                  <a:t>, based on </a:t>
                </a:r>
                <a:r>
                  <a:rPr lang="en-US" dirty="0">
                    <a:solidFill>
                      <a:srgbClr val="FF0000"/>
                    </a:solidFill>
                  </a:rPr>
                  <a:t>MLE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Criterion is to </a:t>
                </a:r>
                <a:r>
                  <a:rPr lang="en-US" dirty="0">
                    <a:solidFill>
                      <a:srgbClr val="FF0000"/>
                    </a:solidFill>
                  </a:rPr>
                  <a:t>minimize cost, subject to a specified discriminatory power</a:t>
                </a:r>
                <a:r>
                  <a:rPr lang="en-US" dirty="0"/>
                  <a:t>. That is, the optimal design satisfies the power requirements of two hypothesis testing setups: First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plays the role of the null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plays the role of the alternative;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null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alternative.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8DEE9DA-703A-4E2D-61B2-D336C7BA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66018"/>
                <a:ext cx="8229600" cy="4525963"/>
              </a:xfrm>
              <a:blipFill>
                <a:blip r:embed="rId2"/>
                <a:stretch>
                  <a:fillRect l="-1704" t="-1750" b="-16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FDAA6-1671-188C-D972-CD7EFFA7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5062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0336-621E-0523-6DE6-B881E034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1E7A0C50-6C09-6841-0B0D-709B94A120BC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114300" y="273773"/>
                <a:ext cx="8839200" cy="6172200"/>
              </a:xfrm>
            </p:spPr>
            <p:txBody>
              <a:bodyPr lIns="92075" tIns="46038" rIns="92075" bIns="46038"/>
              <a:lstStyle/>
              <a:p>
                <a:pPr>
                  <a:buNone/>
                  <a:defRPr/>
                </a:pPr>
                <a:r>
                  <a:rPr lang="en-US" sz="2400" b="1" dirty="0">
                    <a:latin typeface="Times New Roman" pitchFamily="18" charset="0"/>
                    <a:cs typeface="Times New Roman" pitchFamily="18" charset="0"/>
                  </a:rPr>
                  <a:t>                      Spiegelman and Gray (1991)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No closed-form solutions. Results for classical measurement error model: </a:t>
                </a: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allocated to the validation study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increased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(presumably to 0.5)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(unit cost of measuring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decreased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increased</a:t>
                </a:r>
              </a:p>
              <a:p>
                <a:pPr lvl="2">
                  <a:buFont typeface="Courier New" pitchFamily="49" charset="0"/>
                  <a:buChar char="o"/>
                  <a:defRPr/>
                </a:pPr>
                <a:endParaRPr lang="en-US" sz="1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optimal proportion allocated to the validation study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depended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in a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non-linear</a:t>
                </a: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manner</a:t>
                </a: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Efficiency gains are substantial when the validation study is </a:t>
                </a:r>
                <a:r>
                  <a:rPr lang="en-US" sz="22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internal</a:t>
                </a:r>
              </a:p>
              <a:p>
                <a:pPr>
                  <a:defRPr/>
                </a:pPr>
                <a:endParaRPr lang="en-US" sz="12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The fully validated design is not optimal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very small </a:t>
                </a:r>
              </a:p>
              <a:p>
                <a:pPr>
                  <a:buNone/>
                  <a:defRPr/>
                </a:pPr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    and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 is very large.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1E7A0C50-6C09-6841-0B0D-709B94A12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114300" y="273773"/>
                <a:ext cx="8839200" cy="6172200"/>
              </a:xfrm>
              <a:blipFill>
                <a:blip r:embed="rId3"/>
                <a:stretch>
                  <a:fillRect l="-828" t="-791" r="-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531" name="AutoShape 3">
            <a:extLst>
              <a:ext uri="{FF2B5EF4-FFF2-40B4-BE49-F238E27FC236}">
                <a16:creationId xmlns:a16="http://schemas.microsoft.com/office/drawing/2014/main" id="{236E9F04-A741-16B6-6D30-0D43E31C25B8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953500" y="3359873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532" name="Rectangle 11">
            <a:extLst>
              <a:ext uri="{FF2B5EF4-FFF2-40B4-BE49-F238E27FC236}">
                <a16:creationId xmlns:a16="http://schemas.microsoft.com/office/drawing/2014/main" id="{88DD28AE-450A-152A-347D-3DAC94CE1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2533" name="Object 10">
            <a:extLst>
              <a:ext uri="{FF2B5EF4-FFF2-40B4-BE49-F238E27FC236}">
                <a16:creationId xmlns:a16="http://schemas.microsoft.com/office/drawing/2014/main" id="{03BA2466-3B57-C365-E607-B1D87D5894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253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3">
            <a:extLst>
              <a:ext uri="{FF2B5EF4-FFF2-40B4-BE49-F238E27FC236}">
                <a16:creationId xmlns:a16="http://schemas.microsoft.com/office/drawing/2014/main" id="{E4420B6C-309B-FFDB-DBC8-1586E3854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2253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Rectangle 15">
            <a:extLst>
              <a:ext uri="{FF2B5EF4-FFF2-40B4-BE49-F238E27FC236}">
                <a16:creationId xmlns:a16="http://schemas.microsoft.com/office/drawing/2014/main" id="{63193B73-AF66-E52F-8D39-6E0AF8533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2536" name="Slide Number Placeholder 18">
            <a:extLst>
              <a:ext uri="{FF2B5EF4-FFF2-40B4-BE49-F238E27FC236}">
                <a16:creationId xmlns:a16="http://schemas.microsoft.com/office/drawing/2014/main" id="{CF2EAF9E-CDCF-FC8A-D08D-0245ADD30F4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AA2A7A2-9462-4825-A572-59092588AACF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050067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9C39-5C8E-15A8-D059-D4AF631D5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554" name="Rectangle 2">
                <a:extLst>
                  <a:ext uri="{FF2B5EF4-FFF2-40B4-BE49-F238E27FC236}">
                    <a16:creationId xmlns:a16="http://schemas.microsoft.com/office/drawing/2014/main" id="{03C19254-18E5-D2D1-A0E2-742E48DA3AA7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603250" y="5706098"/>
                <a:ext cx="7937500" cy="1078253"/>
              </a:xfrm>
            </p:spPr>
            <p:txBody>
              <a:bodyPr lIns="92075" tIns="46038" rIns="92075" bIns="46038"/>
              <a:lstStyle/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</a:pPr>
                <a:r>
                  <a:rPr lang="en-US" altLang="ja-JP" sz="1300" dirty="0">
                    <a:latin typeface="Courier New" pitchFamily="49" charset="0"/>
                  </a:rPr>
                  <a:t> </a:t>
                </a: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</a:pPr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In this figure,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=1)=0.005</m:t>
                    </m:r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under classical measurement error model for MS/EVS design.</a:t>
                </a:r>
                <a:endParaRPr lang="en-US" altLang="zh-CN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554" name="Rectangle 2">
                <a:extLst>
                  <a:ext uri="{FF2B5EF4-FFF2-40B4-BE49-F238E27FC236}">
                    <a16:creationId xmlns:a16="http://schemas.microsoft.com/office/drawing/2014/main" id="{03C19254-18E5-D2D1-A0E2-742E48DA3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603250" y="5706098"/>
                <a:ext cx="7937500" cy="1078253"/>
              </a:xfrm>
              <a:blipFill>
                <a:blip r:embed="rId3"/>
                <a:stretch>
                  <a:fillRect l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555" name="AutoShape 3">
            <a:extLst>
              <a:ext uri="{FF2B5EF4-FFF2-40B4-BE49-F238E27FC236}">
                <a16:creationId xmlns:a16="http://schemas.microsoft.com/office/drawing/2014/main" id="{67530966-9D36-6EB6-B7DC-D733D8D30730}"/>
              </a:ext>
            </a:extLst>
          </p:cNvPr>
          <p:cNvCxnSpPr>
            <a:cxnSpLocks noChangeShapeType="1"/>
            <a:stCxn id="23554" idx="3"/>
            <a:endCxn id="23554" idx="3"/>
          </p:cNvCxnSpPr>
          <p:nvPr/>
        </p:nvCxnSpPr>
        <p:spPr bwMode="auto">
          <a:xfrm>
            <a:off x="8540750" y="62452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556" name="Rectangle 11">
            <a:extLst>
              <a:ext uri="{FF2B5EF4-FFF2-40B4-BE49-F238E27FC236}">
                <a16:creationId xmlns:a16="http://schemas.microsoft.com/office/drawing/2014/main" id="{B4AFB83A-873A-C98B-E7CE-69D200A69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3557" name="Object 10">
            <a:extLst>
              <a:ext uri="{FF2B5EF4-FFF2-40B4-BE49-F238E27FC236}">
                <a16:creationId xmlns:a16="http://schemas.microsoft.com/office/drawing/2014/main" id="{0EA45AC3-B477-5971-2F1A-30BE566C7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355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3">
            <a:extLst>
              <a:ext uri="{FF2B5EF4-FFF2-40B4-BE49-F238E27FC236}">
                <a16:creationId xmlns:a16="http://schemas.microsoft.com/office/drawing/2014/main" id="{E1C7200B-3AC1-5F54-1564-8812169730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355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15">
            <a:extLst>
              <a:ext uri="{FF2B5EF4-FFF2-40B4-BE49-F238E27FC236}">
                <a16:creationId xmlns:a16="http://schemas.microsoft.com/office/drawing/2014/main" id="{DDBF4A47-FC4D-0B50-8EB2-FA301A8E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3560" name="Slide Number Placeholder 18">
            <a:extLst>
              <a:ext uri="{FF2B5EF4-FFF2-40B4-BE49-F238E27FC236}">
                <a16:creationId xmlns:a16="http://schemas.microsoft.com/office/drawing/2014/main" id="{DB81956D-BEF7-7E0C-35A6-16ADA6FB835F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C31B9A3-202D-42FA-9AD9-31F02676CD29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200">
              <a:solidFill>
                <a:srgbClr val="898989"/>
              </a:solidFill>
            </a:endParaRPr>
          </a:p>
        </p:txBody>
      </p:sp>
      <p:pic>
        <p:nvPicPr>
          <p:cNvPr id="23561" name="Picture 6">
            <a:extLst>
              <a:ext uri="{FF2B5EF4-FFF2-40B4-BE49-F238E27FC236}">
                <a16:creationId xmlns:a16="http://schemas.microsoft.com/office/drawing/2014/main" id="{2AC25728-500B-2BC1-3011-1B0CFF648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514" y="0"/>
            <a:ext cx="4114800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4" name="Picture 15" descr="C:\Documents and Settings\ABERKELE\Desktop\Picture1.jpg">
            <a:extLst>
              <a:ext uri="{FF2B5EF4-FFF2-40B4-BE49-F238E27FC236}">
                <a16:creationId xmlns:a16="http://schemas.microsoft.com/office/drawing/2014/main" id="{7E2D933C-B907-9D07-6C4F-34A3CD6E4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437" y="0"/>
            <a:ext cx="1198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5" name="Picture 15" descr="C:\Documents and Settings\ABERKELE\Desktop\Picture1.jpg">
            <a:extLst>
              <a:ext uri="{FF2B5EF4-FFF2-40B4-BE49-F238E27FC236}">
                <a16:creationId xmlns:a16="http://schemas.microsoft.com/office/drawing/2014/main" id="{F9262A5E-5C70-6DEC-8B73-707F52659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19400"/>
            <a:ext cx="11985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B493D7-6440-7694-4A21-1E9103FDF65A}"/>
              </a:ext>
            </a:extLst>
          </p:cNvPr>
          <p:cNvSpPr/>
          <p:nvPr/>
        </p:nvSpPr>
        <p:spPr>
          <a:xfrm>
            <a:off x="3124200" y="341313"/>
            <a:ext cx="1295400" cy="231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29B260-687B-D8CF-6B50-A59ED0BF8180}"/>
              </a:ext>
            </a:extLst>
          </p:cNvPr>
          <p:cNvSpPr/>
          <p:nvPr/>
        </p:nvSpPr>
        <p:spPr>
          <a:xfrm>
            <a:off x="3179763" y="3200400"/>
            <a:ext cx="1295400" cy="1603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23568" name="Object 2">
            <a:extLst>
              <a:ext uri="{FF2B5EF4-FFF2-40B4-BE49-F238E27FC236}">
                <a16:creationId xmlns:a16="http://schemas.microsoft.com/office/drawing/2014/main" id="{7C48F727-0EA1-85FF-A5DD-9AC4FFEB2A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0388" y="1143000"/>
          <a:ext cx="5254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66584" progId="Equation.DSMT4">
                  <p:embed/>
                </p:oleObj>
              </mc:Choice>
              <mc:Fallback>
                <p:oleObj name="Equation" r:id="rId8" imgW="279279" imgH="266584" progId="Equation.DSMT4">
                  <p:embed/>
                  <p:pic>
                    <p:nvPicPr>
                      <p:cNvPr id="2356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0388" y="1143000"/>
                        <a:ext cx="5254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3">
            <a:extLst>
              <a:ext uri="{FF2B5EF4-FFF2-40B4-BE49-F238E27FC236}">
                <a16:creationId xmlns:a16="http://schemas.microsoft.com/office/drawing/2014/main" id="{5539FB4F-FB58-1B7B-A521-A555AE971B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738" y="3810000"/>
          <a:ext cx="5254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266584" progId="Equation.DSMT4">
                  <p:embed/>
                </p:oleObj>
              </mc:Choice>
              <mc:Fallback>
                <p:oleObj name="Equation" r:id="rId8" imgW="279279" imgH="266584" progId="Equation.DSMT4">
                  <p:embed/>
                  <p:pic>
                    <p:nvPicPr>
                      <p:cNvPr id="2356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3810000"/>
                        <a:ext cx="5254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AD72C340-D5ED-F1D9-ADD9-34F861B490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09192"/>
              </p:ext>
            </p:extLst>
          </p:nvPr>
        </p:nvGraphicFramePr>
        <p:xfrm>
          <a:off x="4456113" y="2231345"/>
          <a:ext cx="368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41200" progId="Equation.DSMT4">
                  <p:embed/>
                </p:oleObj>
              </mc:Choice>
              <mc:Fallback>
                <p:oleObj name="Equation" r:id="rId10" imgW="203040" imgH="241200" progId="Equation.DSMT4">
                  <p:embed/>
                  <p:pic>
                    <p:nvPicPr>
                      <p:cNvPr id="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2231345"/>
                        <a:ext cx="368300" cy="438150"/>
                      </a:xfrm>
                      <a:prstGeom prst="rect">
                        <a:avLst/>
                      </a:prstGeom>
                      <a:solidFill>
                        <a:schemeClr val="bg1">
                          <a:alpha val="94000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9256BEE1-14EF-01CD-14FE-5C1AD3115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874974"/>
              </p:ext>
            </p:extLst>
          </p:nvPr>
        </p:nvGraphicFramePr>
        <p:xfrm>
          <a:off x="4419600" y="4960598"/>
          <a:ext cx="368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41200" progId="Equation.DSMT4">
                  <p:embed/>
                </p:oleObj>
              </mc:Choice>
              <mc:Fallback>
                <p:oleObj name="Equation" r:id="rId10" imgW="203040" imgH="241200" progId="Equation.DSMT4">
                  <p:embed/>
                  <p:pic>
                    <p:nvPicPr>
                      <p:cNvPr id="3" name="Object 15">
                        <a:extLst>
                          <a:ext uri="{FF2B5EF4-FFF2-40B4-BE49-F238E27FC236}">
                            <a16:creationId xmlns:a16="http://schemas.microsoft.com/office/drawing/2014/main" id="{AD72C340-D5ED-F1D9-ADD9-34F861B49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960598"/>
                        <a:ext cx="368300" cy="4381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078773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1D7A0-D31D-6DB6-B465-0F2E5AA8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1ED002-FC14-0F81-54CE-C1426009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C2F25A-7C19-4DC2-ACB6-9E5283462E2A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56B3D4-E065-98BF-F02A-B937ADCE8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36781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07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charset="0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jointly </a:t>
                          </a:r>
                        </a:p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sz="180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normal and homoscedastic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64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latin typeface="+mn-lt"/>
                            </a:rPr>
                            <a:t> continuous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baseline="0" dirty="0">
                              <a:latin typeface="+mn-lt"/>
                            </a:rPr>
                            <a:t> 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Binary outcome,</a:t>
                          </a:r>
                          <a:r>
                            <a:rPr lang="en-US" baseline="0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 continuous exposure,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endParaRPr lang="en-US" dirty="0">
                            <a:solidFill>
                              <a:srgbClr val="FF0000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F56B3D4-E065-98BF-F02A-B937ADCE8F0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836781"/>
                  </p:ext>
                </p:extLst>
              </p:nvPr>
            </p:nvGraphicFramePr>
            <p:xfrm>
              <a:off x="76200" y="136525"/>
              <a:ext cx="8991600" cy="641824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983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78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43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MS Data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Method  for dealing with 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Measurement</a:t>
                          </a:r>
                          <a:r>
                            <a:rPr lang="en-US" baseline="0" dirty="0"/>
                            <a:t> error  assumption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Criteria of optimal design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88393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Greenland (1988)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Matrix method</a:t>
                          </a:r>
                          <a:endParaRPr lang="en-US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Minimum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Reilly (1996)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2X2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 table (and categorical exposure)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latin typeface="+mn-lt"/>
                            </a:rPr>
                            <a:t>Maximum likelihood estimator (MLE)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Differential and non-differential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Maximize precision for a fixed total budget or minimize the study cost given a desired precision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2038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err="1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Buonaccorsi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(1990)</a:t>
                          </a:r>
                        </a:p>
                        <a:p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39735" r="-38765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MLE (Logistic regression)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0494" t="-339735" r="-172624" b="-2688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  <a:latin typeface="+mn-lt"/>
                              <a:cs typeface="Times New Roman" pitchFamily="18" charset="0"/>
                            </a:rPr>
                            <a:t>Minimize the variance subject to cost considerations</a:t>
                          </a:r>
                          <a:endParaRPr lang="en-US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>
                              <a:latin typeface="Times New Roman" pitchFamily="18" charset="0"/>
                              <a:cs typeface="Times New Roman" pitchFamily="18" charset="0"/>
                            </a:rPr>
                            <a:t>Spiegelman and Gray (1991)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340513" r="-387654" b="-108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MLE (Logistic regression)</a:t>
                          </a:r>
                        </a:p>
                        <a:p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Font typeface="Arial" charset="0"/>
                            <a:buNone/>
                            <a:defRPr/>
                          </a:pPr>
                          <a:r>
                            <a:rPr lang="en-US" dirty="0"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latin typeface="+mn-lt"/>
                            </a:rPr>
                            <a:t>Minimize cost, subject to a specified discriminatory power</a:t>
                          </a:r>
                          <a:endParaRPr lang="en-US" dirty="0"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217626">
                    <a:tc>
                      <a:txBody>
                        <a:bodyPr/>
                        <a:lstStyle/>
                        <a:p>
                          <a:r>
                            <a:rPr lang="en-US" sz="1800" b="1" dirty="0" err="1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Rosner</a:t>
                          </a:r>
                          <a: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 et al. (1992)</a:t>
                          </a:r>
                          <a:endParaRPr 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1811" t="-429500" r="-387654" b="-5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Logistic regression, Regression Calibration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rgbClr val="FF0000"/>
                              </a:solidFill>
                              <a:latin typeface="+mn-lt"/>
                            </a:rPr>
                            <a:t>Classical additive measurement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>
                              <a:solidFill>
                                <a:srgbClr val="FF0000"/>
                              </a:solidFill>
                            </a:rPr>
                            <a:t>Study the impact of reliability study size and number of replicates on variance of log odds ratios.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6531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Rosner, Spiegelman and Willett (1992) </a:t>
            </a:r>
            <a:br>
              <a:rPr lang="en-US" sz="2800" b="1" dirty="0">
                <a:latin typeface="Times New Roman" pitchFamily="18" charset="0"/>
                <a:cs typeface="Times New Roman" pitchFamily="18" charset="0"/>
              </a:rPr>
            </a:br>
            <a:endParaRPr lang="en-US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676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15809" y="915987"/>
                <a:ext cx="8953500" cy="5440363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Rosner, Spiegelman and Willett (1992) considered exposure data following the classical additive measurement error model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+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𝜀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Times New Roman" pitchFamily="18" charset="0"/>
                                <a:cs typeface="Times New Roman" pitchFamily="18" charset="0"/>
                              </a:rPr>
                              <m:t> 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i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…,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where  in a Main study/External reliability study (MS/ERS), the main study consists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, the external reliability study consists of </a:t>
                </a:r>
              </a:p>
              <a:p>
                <a:pPr algn="ctr"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b="0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𝐼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=Corr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sz="2400" b="0" dirty="0">
                    <a:latin typeface="Times New Roman" pitchFamily="18" charset="0"/>
                    <a:cs typeface="Times New Roman" pitchFamily="18" charset="0"/>
                  </a:rPr>
                  <a:t>) characterizes the extent of measurement error in the data. In a MS/Internal  RS reliability study (MS/IRS), the internal reliability study consist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=1,…,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endParaRPr lang="en-US" sz="2400" b="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ctr"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1200" dirty="0">
                    <a:latin typeface="Times New Roman" pitchFamily="18" charset="0"/>
                    <a:cs typeface="Times New Roman" pitchFamily="18" charset="0"/>
                  </a:rPr>
                  <a:t>Rosner B., Spiegelman D., Willett W.C. (1992) Correction of logistic regression relative risk estimates and confidence intervals for random within-person measurement error. </a:t>
                </a:r>
                <a:r>
                  <a:rPr lang="en-US" sz="1200" i="1" dirty="0">
                    <a:latin typeface="Times New Roman" pitchFamily="18" charset="0"/>
                    <a:cs typeface="Times New Roman" pitchFamily="18" charset="0"/>
                  </a:rPr>
                  <a:t>Am J Epidemiol</a:t>
                </a:r>
                <a:r>
                  <a:rPr lang="en-US" sz="1200" dirty="0">
                    <a:latin typeface="Times New Roman" pitchFamily="18" charset="0"/>
                    <a:cs typeface="Times New Roman" pitchFamily="18" charset="0"/>
                  </a:rPr>
                  <a:t>  136:1400-13.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   </a:t>
                </a: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867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809" y="915987"/>
                <a:ext cx="8953500" cy="5440363"/>
              </a:xfrm>
              <a:blipFill>
                <a:blip r:embed="rId3"/>
                <a:stretch>
                  <a:fillRect l="-1021" t="-896" r="-1838" b="-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579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069309" y="3636169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4580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4581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4584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FE166D5-50B8-48E2-AD62-02DE6515550F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9E78-682B-9E96-741F-1B90FE3B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Framingham Heart Study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F428-6432-33DC-C103-34EBA1DF06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They investigated the role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size of reliability study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(</a:t>
                </a:r>
                <a:r>
                  <a:rPr lang="en-US" sz="2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number of replicates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per participant in the reliability study)  on the efficiency of the regression calibration estimates for the effects of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systolic blood pressure (SBP),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serum cholesterol (CHOL),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serum glucose (GLUC) and </a:t>
                </a:r>
              </a:p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BMI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on the 10-year cumulative  incidence of CHD, based on the Framingham Heart Study.  There were 1,731 men in the main study cohort.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DAF428-6432-33DC-C103-34EBA1DF06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 b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28A95-430F-01E4-62A0-C42D2F4B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98F7EC-1B42-4AC7-B340-E18A20251A83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6252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139" y="444499"/>
            <a:ext cx="5562600" cy="577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6200" y="230188"/>
            <a:ext cx="8991600" cy="6629400"/>
          </a:xfrm>
        </p:spPr>
        <p:txBody>
          <a:bodyPr lIns="92075" tIns="46038" rIns="92075" bIns="46038"/>
          <a:lstStyle/>
          <a:p>
            <a:pPr marL="533400" indent="-533400">
              <a:lnSpc>
                <a:spcPct val="80000"/>
              </a:lnSpc>
              <a:buFont typeface="Arial" charset="0"/>
              <a:buNone/>
            </a:pPr>
            <a:r>
              <a:rPr lang="en-US" altLang="ja-JP" sz="1300" dirty="0">
                <a:latin typeface="Courier New" pitchFamily="49" charset="0"/>
              </a:rPr>
              <a:t> </a:t>
            </a: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1300" dirty="0">
              <a:latin typeface="Courier New" pitchFamily="49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0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en-US" sz="2400" dirty="0"/>
          </a:p>
          <a:p>
            <a:pPr marL="533400" indent="-533400">
              <a:lnSpc>
                <a:spcPct val="80000"/>
              </a:lnSpc>
              <a:buFont typeface="Arial" charset="0"/>
              <a:buNone/>
            </a:pPr>
            <a:endParaRPr lang="en-US" altLang="zh-CN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603" name="AutoShape 3"/>
          <p:cNvCxnSpPr>
            <a:cxnSpLocks noChangeShapeType="1"/>
          </p:cNvCxnSpPr>
          <p:nvPr/>
        </p:nvCxnSpPr>
        <p:spPr bwMode="auto">
          <a:xfrm>
            <a:off x="8744139" y="333680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5605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5608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DED91CB-0690-4B36-B396-0D304E53C0A5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200">
              <a:solidFill>
                <a:srgbClr val="898989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10" name="TextBox 12"/>
              <p:cNvSpPr txBox="1">
                <a:spLocks noChangeArrowheads="1"/>
              </p:cNvSpPr>
              <p:nvPr/>
            </p:nvSpPr>
            <p:spPr bwMode="auto">
              <a:xfrm>
                <a:off x="152400" y="533400"/>
                <a:ext cx="3581400" cy="31868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Font typeface="Arial" charset="0"/>
                  <a:buChar char="•"/>
                  <a:defRPr sz="3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Font typeface="Arial" charset="0"/>
                  <a:buChar char="–"/>
                  <a:defRPr sz="28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Font typeface="Arial" charset="0"/>
                  <a:buChar char="–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It is apparent that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altLang="en-US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variances 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of the measurement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error corrected log relative risks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using regression calibration  </a:t>
                </a:r>
                <a:r>
                  <a:rPr lang="en-US" altLang="en-US" sz="18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converge to an asymptote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At small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larger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improve the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precision, but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greater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than 100 or so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there  is very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little 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advantage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over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25610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533400"/>
                <a:ext cx="3581400" cy="3186898"/>
              </a:xfrm>
              <a:prstGeom prst="rect">
                <a:avLst/>
              </a:prstGeom>
              <a:blipFill>
                <a:blip r:embed="rId7"/>
                <a:stretch>
                  <a:fillRect l="-1361" t="-1149" b="-13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019131" y="5535458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131" y="5535458"/>
                <a:ext cx="533400" cy="2260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760617" y="5535458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0617" y="5535458"/>
                <a:ext cx="533400" cy="2260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551924" y="5511932"/>
                <a:ext cx="533400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924" y="5511932"/>
                <a:ext cx="533400" cy="2260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7343231" y="5511932"/>
                <a:ext cx="668215" cy="22602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kern="1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800" b="0" i="1" kern="100" smtClean="0">
                              <a:latin typeface="Cambria Math"/>
                            </a:rPr>
                            <m:t>𝑛</m:t>
                          </m:r>
                        </m:e>
                        <m:sub>
                          <m:sSub>
                            <m:sSubPr>
                              <m:ctrlPr>
                                <a:rPr lang="en-US" sz="800" i="1" kern="10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kern="100" smtClean="0">
                                  <a:latin typeface="Cambria Math"/>
                                </a:rPr>
                                <m:t>𝐼</m:t>
                              </m:r>
                            </m:sub>
                          </m:sSub>
                        </m:sub>
                      </m:sSub>
                      <m:r>
                        <a:rPr lang="en-US" sz="800" b="0" i="1" kern="100" smtClean="0">
                          <a:latin typeface="Cambria Math"/>
                        </a:rPr>
                        <m:t>=10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231" y="5511932"/>
                <a:ext cx="668215" cy="22602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E87FE5-F207-B001-DD6A-9E7AD3CFBD59}"/>
                  </a:ext>
                </a:extLst>
              </p:cNvPr>
              <p:cNvSpPr txBox="1"/>
              <p:nvPr/>
            </p:nvSpPr>
            <p:spPr>
              <a:xfrm>
                <a:off x="4095939" y="477714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E87FE5-F207-B001-DD6A-9E7AD3CFB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939" y="477714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A825FA-F91F-B768-0B98-2759B70D8268}"/>
                  </a:ext>
                </a:extLst>
              </p:cNvPr>
              <p:cNvSpPr txBox="1"/>
              <p:nvPr/>
            </p:nvSpPr>
            <p:spPr>
              <a:xfrm>
                <a:off x="6292063" y="475006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A825FA-F91F-B768-0B98-2759B70D8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63" y="475006"/>
                <a:ext cx="457200" cy="221984"/>
              </a:xfrm>
              <a:prstGeom prst="rect">
                <a:avLst/>
              </a:prstGeom>
              <a:blipFill>
                <a:blip r:embed="rId13"/>
                <a:stretch>
                  <a:fillRect r="-8000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7DD65-CFB5-1206-F9F8-C067C0629FB7}"/>
                  </a:ext>
                </a:extLst>
              </p:cNvPr>
              <p:cNvSpPr txBox="1"/>
              <p:nvPr/>
            </p:nvSpPr>
            <p:spPr>
              <a:xfrm>
                <a:off x="4095939" y="2995022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647DD65-CFB5-1206-F9F8-C067C0629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939" y="2995022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1AC636-BA92-E9CF-BC1B-7F6E666F74E7}"/>
                  </a:ext>
                </a:extLst>
              </p:cNvPr>
              <p:cNvSpPr txBox="1"/>
              <p:nvPr/>
            </p:nvSpPr>
            <p:spPr>
              <a:xfrm>
                <a:off x="6266663" y="2981706"/>
                <a:ext cx="457200" cy="221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𝑆𝐸</m:t>
                          </m:r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p>
                          <m:r>
                            <a:rPr lang="en-US" sz="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" kern="1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1AC636-BA92-E9CF-BC1B-7F6E666F7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663" y="2981706"/>
                <a:ext cx="457200" cy="221984"/>
              </a:xfrm>
              <a:prstGeom prst="rect">
                <a:avLst/>
              </a:prstGeom>
              <a:blipFill>
                <a:blip r:embed="rId12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42900" y="21492"/>
            <a:ext cx="8458200" cy="6172200"/>
          </a:xfrm>
        </p:spPr>
        <p:txBody>
          <a:bodyPr lIns="92075" tIns="46038" rIns="92075" bIns="46038"/>
          <a:lstStyle/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Concept review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Fully validated design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MS/IVS, MS/EVS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MS/IRS, MS/ERS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Sensitivity and Specificity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Random/Non-differential, and non-random/differential misclassification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Reliability coefficient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Optimal design 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Unit cost</a:t>
            </a:r>
          </a:p>
          <a:p>
            <a:pPr>
              <a:buFont typeface="Arial" charset="0"/>
              <a:buNone/>
              <a:defRPr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buFont typeface="Arial" charset="0"/>
              <a:buNone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  </a:t>
            </a:r>
          </a:p>
          <a:p>
            <a:pPr>
              <a:buFont typeface="Arial" charset="0"/>
              <a:buNone/>
              <a:defRPr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3400" indent="-533400">
              <a:lnSpc>
                <a:spcPct val="80000"/>
              </a:lnSpc>
              <a:buFont typeface="Arial" charset="0"/>
              <a:buNone/>
              <a:defRPr/>
            </a:pPr>
            <a:endParaRPr lang="en-US" altLang="zh-CN" sz="2400" dirty="0">
              <a:latin typeface="Times New Roman" pitchFamily="18" charset="0"/>
            </a:endParaRPr>
          </a:p>
        </p:txBody>
      </p:sp>
      <p:cxnSp>
        <p:nvCxnSpPr>
          <p:cNvPr id="26627" name="AutoShape 3"/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8801100" y="310759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6628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/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102" imgH="177492" progId="Equation.DSMT4">
                  <p:embed/>
                </p:oleObj>
              </mc:Choice>
              <mc:Fallback>
                <p:oleObj name="Equation" r:id="rId3" imgW="114102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/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/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F3651-D1C7-F6C6-B3A9-5C440E3B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7F387B1-6DE3-7586-DFC3-6ECB86401985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21879" y="136525"/>
                <a:ext cx="9144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Summary of recommendations</a:t>
                </a:r>
              </a:p>
              <a:p>
                <a:pPr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Fully validated design (FVD)</a:t>
                </a:r>
              </a:p>
              <a:p>
                <a:pPr lvl="1">
                  <a:defRPr/>
                </a:pP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Advantages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Easy to analyze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, no questions about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validity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in terms of transportability or  form of the measurement error/misclassification model</a:t>
                </a:r>
              </a:p>
              <a:p>
                <a:pPr lvl="1">
                  <a:defRPr/>
                </a:pP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Disadvantages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: May be unethical or unfeasible; even when not,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cost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may be prohibitive</a:t>
                </a: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MS/IVS, MS/EVS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MS/IVS is guaranteed to be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transportable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, more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efficient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than main study / external validation study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MS/EVS is often the only available option </a:t>
                </a:r>
              </a:p>
              <a:p>
                <a:pPr>
                  <a:defRPr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MS/IVS with binary misclassification</a:t>
                </a:r>
              </a:p>
              <a:p>
                <a:pPr lvl="1">
                  <a:defRPr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itchFamily="18" charset="0"/>
                  </a:rPr>
                  <a:t>As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increases, it is more likely that the FVD will be optimal and when misclassification is differential, it will often be the case </a:t>
                </a:r>
                <a:endParaRPr lang="en-US" sz="1600" dirty="0"/>
              </a:p>
              <a:p>
                <a:pPr lvl="1">
                  <a:defRPr/>
                </a:pP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When misclassification is non-differential,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quickly decreases towards 0 and with large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𝑅</m:t>
                    </m:r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can be very small</a:t>
                </a:r>
              </a:p>
              <a:p>
                <a:pPr marL="400050">
                  <a:defRPr/>
                </a:pP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More efficient MS/IVS designs can be obtained through double sampling approaches, rarely used due to their specificity</a:t>
                </a:r>
              </a:p>
              <a:p>
                <a:pPr lvl="1">
                  <a:defRPr/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37F387B1-6DE3-7586-DFC3-6ECB864019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21879" y="136525"/>
                <a:ext cx="9144000" cy="6172200"/>
              </a:xfrm>
              <a:blipFill>
                <a:blip r:embed="rId3"/>
                <a:stretch>
                  <a:fillRect l="-1067" t="-790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C15DBF20-379B-ACFF-066A-6EA29299012D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65879" y="3222625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6628" name="Rectangle 11">
            <a:extLst>
              <a:ext uri="{FF2B5EF4-FFF2-40B4-BE49-F238E27FC236}">
                <a16:creationId xmlns:a16="http://schemas.microsoft.com/office/drawing/2014/main" id="{B3BE73BA-5AF4-3B7C-CFB6-F7F26579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>
            <a:extLst>
              <a:ext uri="{FF2B5EF4-FFF2-40B4-BE49-F238E27FC236}">
                <a16:creationId xmlns:a16="http://schemas.microsoft.com/office/drawing/2014/main" id="{D8E18237-8F13-5806-211D-19F47201E8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2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>
            <a:extLst>
              <a:ext uri="{FF2B5EF4-FFF2-40B4-BE49-F238E27FC236}">
                <a16:creationId xmlns:a16="http://schemas.microsoft.com/office/drawing/2014/main" id="{6614C3FE-432E-0839-198D-5DFEE673BA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3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>
            <a:extLst>
              <a:ext uri="{FF2B5EF4-FFF2-40B4-BE49-F238E27FC236}">
                <a16:creationId xmlns:a16="http://schemas.microsoft.com/office/drawing/2014/main" id="{768DFE55-D4E1-4CB7-C7AD-654EE1B14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>
            <a:extLst>
              <a:ext uri="{FF2B5EF4-FFF2-40B4-BE49-F238E27FC236}">
                <a16:creationId xmlns:a16="http://schemas.microsoft.com/office/drawing/2014/main" id="{474DEC82-7372-660A-DA42-54879B8681B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62204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A175-6249-22F3-D0AD-0EE997CEF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1D5CE38-9AFD-68DF-A088-872BFECF9DAD}"/>
                  </a:ext>
                </a:extLst>
              </p:cNvPr>
              <p:cNvSpPr>
                <a:spLocks noGrp="1" noChangeArrowheads="1"/>
              </p:cNvSpPr>
              <p:nvPr>
                <p:ph type="body" sz="half" idx="4294967295"/>
              </p:nvPr>
            </p:nvSpPr>
            <p:spPr>
              <a:xfrm>
                <a:off x="0" y="21492"/>
                <a:ext cx="9144000" cy="6172200"/>
              </a:xfrm>
            </p:spPr>
            <p:txBody>
              <a:bodyPr lIns="92075" tIns="46038" rIns="92075" bIns="46038"/>
              <a:lstStyle/>
              <a:p>
                <a:pPr>
                  <a:buFont typeface="Arial" charset="0"/>
                  <a:buNone/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Summary of recommendations</a:t>
                </a:r>
              </a:p>
              <a:p>
                <a:pPr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MS/IVS design for a logistic regression model with continuous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∙,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b="0" dirty="0">
                  <a:latin typeface="Times New Roman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The  optimal proportion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𝑜𝑝𝑡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in the validation study </a:t>
                </a:r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                                                                                    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. This can happen as the</a:t>
                </a:r>
                <a14:m>
                  <m:oMath xmlns:m="http://schemas.openxmlformats.org/officeDocument/2006/math"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]|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and as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=1)→0.5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from either direction.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decreases,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and for small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the optimal design is often the fully validated design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sz="14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not as sensitive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to changes in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as it is to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decreases a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decreases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towards 0,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(unit cost of measuring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/>
                        <a:cs typeface="Times New Roman" pitchFamily="18" charset="0"/>
                      </a:rPr>
                      <m:t>𝑋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)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, and as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𝑂𝑅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)|</m:t>
                    </m:r>
                  </m:oMath>
                </a14:m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 decreases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depends on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𝐶𝑜𝑟𝑟</m:t>
                    </m:r>
                    <m:d>
                      <m:d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in a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non-linear</a:t>
                </a: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manner</a:t>
                </a: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Efficiency gains for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are substantial when the validation study is </a:t>
                </a:r>
                <a:r>
                  <a:rPr 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internal</a:t>
                </a:r>
              </a:p>
              <a:p>
                <a:pPr lvl="1">
                  <a:defRPr/>
                </a:pPr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The fully validated design is not optimal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func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 is very small and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Times New Roman" pitchFamily="18" charset="0"/>
                    <a:cs typeface="Times New Roman" pitchFamily="18" charset="0"/>
                  </a:rPr>
                  <a:t>is very large.</a:t>
                </a:r>
              </a:p>
              <a:p>
                <a:pPr>
                  <a:defRPr/>
                </a:pP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For MS/ERS designs under classical measurement error</a:t>
                </a:r>
              </a:p>
              <a:p>
                <a:pPr lvl="1" eaLnBrk="1" hangingPunct="1">
                  <a:spcBef>
                    <a:spcPct val="0"/>
                  </a:spcBef>
                </a:pP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A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1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increases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, the </a:t>
                </a:r>
                <a:r>
                  <a:rPr lang="en-US" alt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variances 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of the measurement error corrected log relative risks using regression calibration  </a:t>
                </a:r>
                <a:r>
                  <a:rPr lang="en-US" altLang="en-US" sz="1400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converge to an asymptote</a:t>
                </a: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lvl="1" eaLnBrk="1" hangingPunct="1">
                  <a:spcBef>
                    <a:spcPct val="0"/>
                  </a:spcBef>
                </a:pPr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At small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, larger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 improve the precision, but </a:t>
                </a:r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once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altLang="en-US" sz="1400" dirty="0">
                    <a:latin typeface="Times New Roman" pitchFamily="18" charset="0"/>
                    <a:cs typeface="Times New Roman" pitchFamily="18" charset="0"/>
                  </a:rPr>
                  <a:t>is </a:t>
                </a:r>
                <a:r>
                  <a:rPr lang="en-US" altLang="en-US" sz="14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greater </a:t>
                </a:r>
                <a:r>
                  <a:rPr lang="en-US" altLang="en-US" sz="1800" dirty="0">
                    <a:solidFill>
                      <a:srgbClr val="0000FF"/>
                    </a:solidFill>
                    <a:latin typeface="Times New Roman" pitchFamily="18" charset="0"/>
                    <a:cs typeface="Times New Roman" pitchFamily="18" charset="0"/>
                  </a:rPr>
                  <a:t>than 100 or so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, there  is very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little advantage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altLang="en-US" sz="1800" dirty="0">
                    <a:solidFill>
                      <a:srgbClr val="FF3300"/>
                    </a:solidFill>
                    <a:latin typeface="Times New Roman" pitchFamily="18" charset="0"/>
                    <a:cs typeface="Times New Roman" pitchFamily="18" charset="0"/>
                  </a:rPr>
                  <a:t>over</a:t>
                </a:r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en-US" sz="1800" dirty="0">
                    <a:latin typeface="Times New Roman" pitchFamily="18" charset="0"/>
                    <a:cs typeface="Times New Roman" pitchFamily="18" charset="0"/>
                  </a:rPr>
                  <a:t>. </a:t>
                </a: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Bottom line – use the available methods to determine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altLang="en-US" sz="2200" dirty="0">
                    <a:latin typeface="Times New Roman" pitchFamily="18" charset="0"/>
                    <a:cs typeface="Times New Roman" pitchFamily="18" charset="0"/>
                  </a:rPr>
                  <a:t> for your setting, as it depends in a complex, non-linear manner on multiple input design parameters</a:t>
                </a:r>
              </a:p>
              <a:p>
                <a:pPr lvl="1">
                  <a:defRPr/>
                </a:pP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Font typeface="Arial" charset="0"/>
                  <a:buNone/>
                  <a:defRPr/>
                </a:pP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33400" indent="-533400">
                  <a:lnSpc>
                    <a:spcPct val="80000"/>
                  </a:lnSpc>
                  <a:buFont typeface="Arial" charset="0"/>
                  <a:buNone/>
                  <a:defRPr/>
                </a:pPr>
                <a:endParaRPr lang="en-US" altLang="zh-CN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8676" name="Rectangle 2">
                <a:extLst>
                  <a:ext uri="{FF2B5EF4-FFF2-40B4-BE49-F238E27FC236}">
                    <a16:creationId xmlns:a16="http://schemas.microsoft.com/office/drawing/2014/main" id="{71D5CE38-9AFD-68DF-A088-872BFECF9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4294967295"/>
              </p:nvPr>
            </p:nvSpPr>
            <p:spPr>
              <a:xfrm>
                <a:off x="0" y="21492"/>
                <a:ext cx="9144000" cy="6172200"/>
              </a:xfrm>
              <a:blipFill>
                <a:blip r:embed="rId3"/>
                <a:stretch>
                  <a:fillRect l="-1000" t="-791" r="-1067" b="-11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627" name="AutoShape 3">
            <a:extLst>
              <a:ext uri="{FF2B5EF4-FFF2-40B4-BE49-F238E27FC236}">
                <a16:creationId xmlns:a16="http://schemas.microsoft.com/office/drawing/2014/main" id="{9F76D8A0-8AE1-2B2B-9AFE-E69FA4BE5AE7}"/>
              </a:ext>
            </a:extLst>
          </p:cNvPr>
          <p:cNvCxnSpPr>
            <a:cxnSpLocks noChangeShapeType="1"/>
            <a:stCxn id="28676" idx="3"/>
            <a:endCxn id="28676" idx="3"/>
          </p:cNvCxnSpPr>
          <p:nvPr/>
        </p:nvCxnSpPr>
        <p:spPr bwMode="auto">
          <a:xfrm>
            <a:off x="9144000" y="3107592"/>
            <a:ext cx="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6628" name="Rectangle 11">
            <a:extLst>
              <a:ext uri="{FF2B5EF4-FFF2-40B4-BE49-F238E27FC236}">
                <a16:creationId xmlns:a16="http://schemas.microsoft.com/office/drawing/2014/main" id="{00F8FFFB-6749-E2A6-F1E2-80DE13475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graphicFrame>
        <p:nvGraphicFramePr>
          <p:cNvPr id="26629" name="Object 10">
            <a:extLst>
              <a:ext uri="{FF2B5EF4-FFF2-40B4-BE49-F238E27FC236}">
                <a16:creationId xmlns:a16="http://schemas.microsoft.com/office/drawing/2014/main" id="{33EC2134-96E3-3018-CA4A-EBF138A42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29" name="Object 10">
                        <a:extLst>
                          <a:ext uri="{FF2B5EF4-FFF2-40B4-BE49-F238E27FC236}">
                            <a16:creationId xmlns:a16="http://schemas.microsoft.com/office/drawing/2014/main" id="{D8E18237-8F13-5806-211D-19F47201E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3">
            <a:extLst>
              <a:ext uri="{FF2B5EF4-FFF2-40B4-BE49-F238E27FC236}">
                <a16:creationId xmlns:a16="http://schemas.microsoft.com/office/drawing/2014/main" id="{7CBD51E7-DE2D-5A7D-4FED-923C78935E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43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02" imgH="177492" progId="Equation.DSMT4">
                  <p:embed/>
                </p:oleObj>
              </mc:Choice>
              <mc:Fallback>
                <p:oleObj name="Equation" r:id="rId4" imgW="114102" imgH="177492" progId="Equation.DSMT4">
                  <p:embed/>
                  <p:pic>
                    <p:nvPicPr>
                      <p:cNvPr id="26630" name="Object 13">
                        <a:extLst>
                          <a:ext uri="{FF2B5EF4-FFF2-40B4-BE49-F238E27FC236}">
                            <a16:creationId xmlns:a16="http://schemas.microsoft.com/office/drawing/2014/main" id="{6614C3FE-432E-0839-198D-5DFEE673B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4300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15">
            <a:extLst>
              <a:ext uri="{FF2B5EF4-FFF2-40B4-BE49-F238E27FC236}">
                <a16:creationId xmlns:a16="http://schemas.microsoft.com/office/drawing/2014/main" id="{0088338F-1D20-A452-748B-912BFAE8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charset="0"/>
            </a:endParaRPr>
          </a:p>
        </p:txBody>
      </p:sp>
      <p:sp>
        <p:nvSpPr>
          <p:cNvPr id="26632" name="Slide Number Placeholder 18">
            <a:extLst>
              <a:ext uri="{FF2B5EF4-FFF2-40B4-BE49-F238E27FC236}">
                <a16:creationId xmlns:a16="http://schemas.microsoft.com/office/drawing/2014/main" id="{58E8055D-F370-DF9C-BD2C-93AC52B3DA1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2A97EAE-9DD8-4659-9619-6C1EE460D74E}" type="slidenum">
              <a:rPr lang="zh-CN" altLang="en-US" sz="1200">
                <a:solidFill>
                  <a:srgbClr val="898989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910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18356</TotalTime>
  <Words>4180</Words>
  <Application>Microsoft Office PowerPoint</Application>
  <PresentationFormat>On-screen Show (4:3)</PresentationFormat>
  <Paragraphs>672</Paragraphs>
  <Slides>33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宋体</vt:lpstr>
      <vt:lpstr>Arial</vt:lpstr>
      <vt:lpstr>Calibri</vt:lpstr>
      <vt:lpstr>Cambria Math</vt:lpstr>
      <vt:lpstr>Courier New</vt:lpstr>
      <vt:lpstr>Times New Roman</vt:lpstr>
      <vt:lpstr>Verdana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Spiegelman and Gray (1991) </vt:lpstr>
      <vt:lpstr>PowerPoint Presentation</vt:lpstr>
      <vt:lpstr>PowerPoint Presentation</vt:lpstr>
      <vt:lpstr>PowerPoint Presentation</vt:lpstr>
      <vt:lpstr>Rosner, Spiegelman and Willett (1992)  </vt:lpstr>
      <vt:lpstr>Framingham Heart Study</vt:lpstr>
      <vt:lpstr>PowerPoint Presentation</vt:lpstr>
      <vt:lpstr>PowerPoint Presentation</vt:lpstr>
      <vt:lpstr>PowerPoint Presentation</vt:lpstr>
      <vt:lpstr>PowerPoint Presentation</vt:lpstr>
    </vt:vector>
  </TitlesOfParts>
  <Company>Harvard School of Public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HSPH IT</dc:creator>
  <cp:lastModifiedBy>Spiegelman, Donna</cp:lastModifiedBy>
  <cp:revision>1070</cp:revision>
  <cp:lastPrinted>2026-03-03T16:06:20Z</cp:lastPrinted>
  <dcterms:created xsi:type="dcterms:W3CDTF">2010-11-19T21:18:53Z</dcterms:created>
  <dcterms:modified xsi:type="dcterms:W3CDTF">2026-03-15T16:03:22Z</dcterms:modified>
</cp:coreProperties>
</file>